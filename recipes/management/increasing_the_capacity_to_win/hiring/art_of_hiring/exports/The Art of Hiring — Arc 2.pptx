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Philosophy, content and process borrowed heavily from TellApart, Twitter, Wade Chambers, and "Who: The A Method for Hiring". Three arcs, about 30 minutes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talk on one slide. Arc 1: how we evaluate candidates, on two axes: Strength and Fit. Arc 2: how we train interviewers, through five levels from Competence to Landing. Arc 3: how we build the process, in three stages: getting to the interview, the interview, the close. Philosophy, content and process borrowed heavily from TellApart, Twitter, Wade Chambers, and "Who: The A Method for Hiring".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job as an Engineering Manager is to BUILD the hiring process, which requires training your interviewers. Arc 1 was who to hire. Arc 2 is how each interviewer gets great at finding and landing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levels: Competence, Potential, Fit, Magnet, Landing. Each one is more complex to master (skill and process) and more valuable to the company. Most interviewers live at L1. The goal is an interviewer who works all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Higher levels build on lower levels. Mastery of a lower level is not required to start working on higher levels. Difficulty in mastery increases with level. Each level is taught independently. And the levels overlay the interview process: every stage uses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L1, Competence. Question: do they meet our technical bar? Two things: applied intelligence and technical competence. Good: able to find valuable strength(s) using standard questions/problems. Better: able to change styles based on the candidate (standard questions vs. interactive problem solving vs. interviewing using their past). Best: make it look easy. It gets much harder to evaluate at higher levels of seniority.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determine senior level? It is not "do they know what I know": knowledge is based on experience, so it is not directly comparable. You need to understand what they SHOULD know based on their résumé and experience. Look for judgment, good questions, improvisation. [Clip from The Matrix: TBD.]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L2, Potential. Good: able to find repeated examples of high-potential behaviors (motivation, curiosity, insight, engagement, determination). Better: able to determine limitations in those behaviors: what are their blind spots? Best: able to correctly determine whether the things necessary to unlock their potential exist here. That last one is the bridge to L3.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high-potential traits. Motivation: a fierce commitment to excel in the pursuit of unselfish goals. Curiosity: seeks new experiences, knowledge, and candid feedback, with a focus on growing. Insight: the ability to gather and make sense of information that suggests new possibilities. Engagement: a knack for using emotion and logic to communicate a persuasive vision and connect with people. Determination: the wherewithal to fight for difficult goals despite challenges, and to bounce back from adversity. (These five come from Claudio Fernández-Aráoz, "21st-Century Talent Spotting", HBR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question to the room: how do you test for potential inside a technical interview? Capture answers live, on the slide or a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L3, Fit. What unlocks their potential HERE? It's a mix of alignment, role requirements and cultural fit. Good: understand their goals and believe they can achieve them here; understand the environment needed to unlock their potential and believe it exists here; understand cultural fit issues here. Better: able to create a plan (projects and timing) that would unlock their potential here. Best: able to show how a similar candidate's execution against that plan resulted in the desired performance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your problem is their opportunity. Fires forge people: a team in trouble can be the best place to grow. Show them the fire with eyes open; the wrong people run away, the right ones get excited. Believe in them: maybe no one ever did. Explain why the job will be hard, and why THEY will succeed. Be concrete: training starts during the interview. Give feedback, show our onboarding process, and discuss how they would solve our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L4, Magnet. How do you attract talent? Pro tip: you don't sell them. Good: able to demonstrate agility and depth in areas the candidate values (strength attracts strength). Better: able to impress the candidate: clearly better, in a non-threatening way, in key areas where the candidate wants to grow. Best: able to demonstrate how you personally can grow the candidate in a way the candidate values ("we can grow you"). No humble brags: be comfortable in your strengths and honest in your weaknesses.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 attracts strength. Leaders want to work for leaders stronger than themselves. You know you have B players when they feel uncomfortable with A players. You know you have C players when they can't tell the difference between A and C players. Your interviewers ARE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L5, Landing. How do you land 10x talent? If it's about the compensation, you've already lost. Good: able to deeply connect with the candidate in a way that is meaningful to them. Better: able to pitch the value of the role/team/org/company in a way that has emotional impact. Best: able to show them why they would win here vs. other options, and have it resonate. We only live once, and work is a LOT of hours: show them your AWESOME 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start hearing "I joined this company to work with you", you are at L5. People ultimately make decisions for emotional reasons, and come up with the rational ones to back them up. That's not a bad thing: emotion is very high-order computation. So tap into it. Show them you understand what pulls on their heartstrings, and why, by joining us, this won't be a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together, the five levels make an A-player interviewer. Next: three rules that make every level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#1: be interested. Take responsibility for being interested: create connection, leave distractions outside the room (turn off Slack and Claude!), lower barriers to effective communication, make the candidate want to expand on details. Look for: what motivates them, what demotivates them, excitement and interest points, fear and pain points, their level of technical, personal and social skill, what they are proud of, why they took a role, why they left it. Employ active listening and curiosity: "what?", "how?", "tell me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#2: be an advocate. Fit needs to be jointly established. Good for them and good for us: great employee. Good for us, bad for them: they leave when they figure it out, or stay for the wrong reason. Good for them, bad for us: they get fired when we figure it out. For them: is this a good place for the next stage of their career? What are they looking for? How will they prioritize? Do they have clarity on what they want and need? Within reason, help them figure out fit ("this could mean this or that, which did you mean?", "here is what I learned about you"). Don't set them up for failure. Don't go native: remember you represent the company. We always want candidates to leave as company evangelists. For us: is this an A player?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#3: be someone they want to work with. Park your ego. Be genuine. Be aware. Be a gracious host. Be excited. Be interested. Be wicked smart. Ask insightful questions. Ask hard questions. Be helpful.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five levels, and how to do each. L1 Competence: Adapt to the candidate: standard questions, live problems, or their past work. L2 Potential: Find repeated high-potential behavior, then probe for the blind spots. L3 Fit: Lay out the plan, projects and timing, that unlocks them here. L4 Magnet: Interview on the real work, and show how you’ll grow them. L5 Landing: Find what moves them, and show them the path ahead. Next, Arc 3: building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6060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1409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4F5F7"/>
                </a:solidFill>
                <a:latin typeface="Host Grotesk" pitchFamily="34" charset="0"/>
                <a:ea typeface="Host Grotesk" pitchFamily="34" charset="-122"/>
                <a:cs typeface="Host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21780"/>
            <a:ext cx="10566400" cy="4023420"/>
          </a:xfrm>
          <a:prstGeom prst="rect">
            <a:avLst/>
          </a:prstGeom>
          <a:noFill/>
          <a:ln/>
        </p:spPr>
        <p:txBody>
          <a:bodyPr wrap="square" lIns="0" tIns="0" rIns="0" bIns="0" rtlCol="0" anchor="t"/>
          <a:lstStyle>
            <a:lvl1pPr algn="l" indent="0" marL="0">
              <a:lnSpc>
                <a:spcPct val="140000"/>
              </a:lnSpc>
              <a:buNone/>
              <a:defRPr lang="en-US" sz="1600" dirty="0">
                <a:solidFill>
                  <a:srgbClr val="F4F5F7"/>
                </a:solidFill>
                <a:latin typeface="DM Mono" pitchFamily="34" charset="0"/>
                <a:ea typeface="DM Mono" pitchFamily="34" charset="-122"/>
                <a:cs typeface="DM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060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1409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4F5F7"/>
                </a:solidFill>
                <a:latin typeface="Host Grotesk" pitchFamily="34" charset="0"/>
                <a:ea typeface="Host Grotesk" pitchFamily="34" charset="-122"/>
                <a:cs typeface="Host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21780"/>
            <a:ext cx="10566400" cy="4023420"/>
          </a:xfrm>
          <a:prstGeom prst="rect">
            <a:avLst/>
          </a:prstGeom>
          <a:noFill/>
          <a:ln/>
        </p:spPr>
        <p:txBody>
          <a:bodyPr wrap="square" lIns="0" tIns="0" rIns="0" bIns="0" rtlCol="0" anchor="t"/>
          <a:lstStyle>
            <a:lvl1pPr algn="l" indent="0" marL="0">
              <a:lnSpc>
                <a:spcPct val="140000"/>
              </a:lnSpc>
              <a:buNone/>
              <a:defRPr lang="en-US" sz="1600" dirty="0">
                <a:solidFill>
                  <a:srgbClr val="F4F5F7"/>
                </a:solidFill>
                <a:latin typeface="DM Mono" pitchFamily="34" charset="0"/>
                <a:ea typeface="DM Mono" pitchFamily="34" charset="-122"/>
                <a:cs typeface="DM Mon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13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F2130"/>
              </a:gs>
              <a:gs pos="55000">
                <a:srgbClr val="272A37"/>
              </a:gs>
              <a:gs pos="100000">
                <a:srgbClr val="3B3F4D"/>
              </a:gs>
            </a:gsLst>
            <a:lin ang="1500000" scaled="0"/>
          </a:gradFill>
          <a:ln/>
        </p:spPr>
      </p:sp>
      <p:sp>
        <p:nvSpPr>
          <p:cNvPr id="3" name="Shape 1"/>
          <p:cNvSpPr/>
          <p:nvPr/>
        </p:nvSpPr>
        <p:spPr>
          <a:xfrm>
            <a:off x="6350000" y="0"/>
            <a:ext cx="3302000" cy="6858000"/>
          </a:xfrm>
          <a:prstGeom prst="rect">
            <a:avLst/>
          </a:prstGeom>
          <a:gradFill rotWithShape="1">
            <a:gsLst>
              <a:gs pos="0">
                <a:srgbClr val="FFFFFF">
                  <a:alpha val="0"/>
                </a:srgbClr>
              </a:gs>
              <a:gs pos="50000">
                <a:srgbClr val="FFFFFF">
                  <a:alpha val="7000"/>
                </a:srgbClr>
              </a:gs>
              <a:gs pos="100000">
                <a:srgbClr val="FFFFFF">
                  <a:alpha val="0"/>
                </a:srgbClr>
              </a:gs>
            </a:gsLst>
            <a:lin ang="1500000" scaled="0"/>
          </a:gradFill>
          <a:ln/>
        </p:spPr>
      </p:sp>
      <p:sp>
        <p:nvSpPr>
          <p:cNvPr id="4" name="Text 2"/>
          <p:cNvSpPr/>
          <p:nvPr/>
        </p:nvSpPr>
        <p:spPr>
          <a:xfrm>
            <a:off x="812800" y="1285230"/>
            <a:ext cx="5624830"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63E14F"/>
                </a:solidFill>
                <a:latin typeface="DM Mono" pitchFamily="49" charset="0"/>
                <a:ea typeface="DM Mono" pitchFamily="49" charset="-122"/>
                <a:cs typeface="DM Mono" pitchFamily="49" charset="-120"/>
              </a:rPr>
              <a:t>EVALUATE · TRAIN · BUILD</a:t>
            </a:r>
            <a:endParaRPr lang="en-US" sz="1400" dirty="0"/>
          </a:p>
        </p:txBody>
      </p:sp>
      <p:sp>
        <p:nvSpPr>
          <p:cNvPr id="5" name="Text 3"/>
          <p:cNvSpPr/>
          <p:nvPr/>
        </p:nvSpPr>
        <p:spPr>
          <a:xfrm>
            <a:off x="812800" y="1686520"/>
            <a:ext cx="5624830" cy="2514600"/>
          </a:xfrm>
          <a:prstGeom prst="rect">
            <a:avLst/>
          </a:prstGeom>
          <a:noFill/>
          <a:ln/>
        </p:spPr>
        <p:txBody>
          <a:bodyPr wrap="square" lIns="0" tIns="0" rIns="0" bIns="0" rtlCol="0" anchor="t">
            <a:normAutofit/>
          </a:bodyPr>
          <a:lstStyle/>
          <a:p>
            <a:pPr algn="l" indent="0" marL="0">
              <a:lnSpc>
                <a:spcPts val="9800"/>
              </a:lnSpc>
              <a:buNone/>
            </a:pPr>
            <a:r>
              <a:rPr lang="en-US" sz="10000" dirty="0">
                <a:solidFill>
                  <a:srgbClr val="F4F5F7"/>
                </a:solidFill>
                <a:latin typeface="Host Grotesk" pitchFamily="34" charset="0"/>
                <a:ea typeface="Host Grotesk" pitchFamily="34" charset="-122"/>
                <a:cs typeface="Host Grotesk" pitchFamily="34" charset="-120"/>
              </a:rPr>
              <a:t>The </a:t>
            </a:r>
            <a:r>
              <a:rPr lang="en-US" sz="10000" b="1" dirty="0">
                <a:solidFill>
                  <a:srgbClr val="F4F5F7"/>
                </a:solidFill>
                <a:latin typeface="Host Grotesk" pitchFamily="34" charset="0"/>
                <a:ea typeface="Host Grotesk" pitchFamily="34" charset="-122"/>
                <a:cs typeface="Host Grotesk" pitchFamily="34" charset="-120"/>
              </a:rPr>
              <a:t>Art</a:t>
            </a:r>
            <a:r>
              <a:rPr lang="en-US" sz="10000" dirty="0">
                <a:solidFill>
                  <a:srgbClr val="F4F5F7"/>
                </a:solidFill>
                <a:latin typeface="Host Grotesk" pitchFamily="34" charset="0"/>
                <a:ea typeface="Host Grotesk" pitchFamily="34" charset="-122"/>
                <a:cs typeface="Host Grotesk" pitchFamily="34" charset="-120"/>
              </a:rPr>
              <a:t> of</a:t>
            </a:r>
            <a:endParaRPr lang="en-US" sz="10000" dirty="0"/>
          </a:p>
        </p:txBody>
      </p:sp>
      <p:sp>
        <p:nvSpPr>
          <p:cNvPr id="6" name="Text 4"/>
          <p:cNvSpPr/>
          <p:nvPr/>
        </p:nvSpPr>
        <p:spPr>
          <a:xfrm>
            <a:off x="812800" y="4328120"/>
            <a:ext cx="5624830" cy="1270000"/>
          </a:xfrm>
          <a:prstGeom prst="rect">
            <a:avLst/>
          </a:prstGeom>
          <a:noFill/>
          <a:ln/>
        </p:spPr>
        <p:txBody>
          <a:bodyPr wrap="square" lIns="0" tIns="0" rIns="0" bIns="0" rtlCol="0" anchor="t">
            <a:normAutofit/>
          </a:bodyPr>
          <a:lstStyle/>
          <a:p>
            <a:pPr algn="l" indent="0" marL="0">
              <a:lnSpc>
                <a:spcPts val="9800"/>
              </a:lnSpc>
              <a:buNone/>
            </a:pPr>
            <a:r>
              <a:rPr lang="en-US" sz="10000" dirty="0">
                <a:solidFill>
                  <a:srgbClr val="F4F5F7"/>
                </a:solidFill>
                <a:latin typeface="Host Grotesk" pitchFamily="34" charset="0"/>
                <a:ea typeface="Host Grotesk" pitchFamily="34" charset="-122"/>
                <a:cs typeface="Host Grotesk" pitchFamily="34" charset="-120"/>
              </a:rPr>
              <a:t>Hiring</a:t>
            </a:r>
            <a:endParaRPr lang="en-US" sz="10000" dirty="0"/>
          </a:p>
        </p:txBody>
      </p:sp>
      <p:sp>
        <p:nvSpPr>
          <p:cNvPr id="7" name="Shape 5"/>
          <p:cNvSpPr/>
          <p:nvPr/>
        </p:nvSpPr>
        <p:spPr>
          <a:xfrm>
            <a:off x="7448550" y="2195860"/>
            <a:ext cx="3924300" cy="703560"/>
          </a:xfrm>
          <a:prstGeom prst="roundRect">
            <a:avLst>
              <a:gd name="adj" fmla="val 17149"/>
            </a:avLst>
          </a:prstGeom>
          <a:solidFill>
            <a:srgbClr val="14151B">
              <a:alpha val="75000"/>
            </a:srgbClr>
          </a:solidFill>
          <a:ln w="12700">
            <a:solidFill>
              <a:srgbClr val="34363F"/>
            </a:solidFill>
            <a:prstDash val="solid"/>
          </a:ln>
        </p:spPr>
      </p:sp>
      <p:sp>
        <p:nvSpPr>
          <p:cNvPr id="8" name="Text 6"/>
          <p:cNvSpPr/>
          <p:nvPr/>
        </p:nvSpPr>
        <p:spPr>
          <a:xfrm>
            <a:off x="7683500" y="2405410"/>
            <a:ext cx="230073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ECEF"/>
                </a:solidFill>
                <a:latin typeface="Raleway" pitchFamily="34" charset="0"/>
                <a:ea typeface="Raleway" pitchFamily="34" charset="-122"/>
                <a:cs typeface="Raleway" pitchFamily="34" charset="-120"/>
              </a:rPr>
              <a:t>Evaluating candidates</a:t>
            </a:r>
            <a:endParaRPr lang="en-US" sz="1600" dirty="0"/>
          </a:p>
        </p:txBody>
      </p:sp>
      <p:sp>
        <p:nvSpPr>
          <p:cNvPr id="9" name="Text 7"/>
          <p:cNvSpPr/>
          <p:nvPr/>
        </p:nvSpPr>
        <p:spPr>
          <a:xfrm>
            <a:off x="10040620" y="2440980"/>
            <a:ext cx="1097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3E14F"/>
                </a:solidFill>
                <a:latin typeface="DM Mono" pitchFamily="49" charset="0"/>
                <a:ea typeface="DM Mono" pitchFamily="49" charset="-122"/>
                <a:cs typeface="DM Mono" pitchFamily="49" charset="-120"/>
              </a:rPr>
              <a:t>[ 30 MIN ]</a:t>
            </a:r>
            <a:endParaRPr lang="en-US" sz="1200" dirty="0"/>
          </a:p>
        </p:txBody>
      </p:sp>
      <p:sp>
        <p:nvSpPr>
          <p:cNvPr id="10" name="Shape 8"/>
          <p:cNvSpPr/>
          <p:nvPr/>
        </p:nvSpPr>
        <p:spPr>
          <a:xfrm>
            <a:off x="7454900" y="3070870"/>
            <a:ext cx="3911600" cy="716260"/>
          </a:xfrm>
          <a:prstGeom prst="roundRect">
            <a:avLst>
              <a:gd name="adj" fmla="val 15958"/>
            </a:avLst>
          </a:prstGeom>
          <a:solidFill>
            <a:srgbClr val="14151B">
              <a:alpha val="75000"/>
            </a:srgbClr>
          </a:solidFill>
          <a:ln w="25400">
            <a:solidFill>
              <a:srgbClr val="FF832A"/>
            </a:solidFill>
            <a:prstDash val="solid"/>
          </a:ln>
          <a:effectLst>
            <a:outerShdw sx="100000" sy="100000" kx="0" ky="0" algn="bl" rotWithShape="0" blurRad="203200" dist="0" dir="60000">
              <a:srgbClr val="FF832A">
                <a:alpha val="45000"/>
              </a:srgbClr>
            </a:outerShdw>
          </a:effectLst>
        </p:spPr>
      </p:sp>
      <p:sp>
        <p:nvSpPr>
          <p:cNvPr id="11" name="Text 9"/>
          <p:cNvSpPr/>
          <p:nvPr/>
        </p:nvSpPr>
        <p:spPr>
          <a:xfrm>
            <a:off x="7696200" y="3286770"/>
            <a:ext cx="198565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ECEF"/>
                </a:solidFill>
                <a:latin typeface="Raleway" pitchFamily="34" charset="0"/>
                <a:ea typeface="Raleway" pitchFamily="34" charset="-122"/>
                <a:cs typeface="Raleway" pitchFamily="34" charset="-120"/>
              </a:rPr>
              <a:t>Training interviewers</a:t>
            </a:r>
            <a:endParaRPr lang="en-US" sz="1600" dirty="0"/>
          </a:p>
        </p:txBody>
      </p:sp>
      <p:sp>
        <p:nvSpPr>
          <p:cNvPr id="12" name="Text 10"/>
          <p:cNvSpPr/>
          <p:nvPr/>
        </p:nvSpPr>
        <p:spPr>
          <a:xfrm>
            <a:off x="10027920" y="3322340"/>
            <a:ext cx="1097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3E14F"/>
                </a:solidFill>
                <a:latin typeface="DM Mono" pitchFamily="49" charset="0"/>
                <a:ea typeface="DM Mono" pitchFamily="49" charset="-122"/>
                <a:cs typeface="DM Mono" pitchFamily="49" charset="-120"/>
              </a:rPr>
              <a:t>[ 30 MIN ]</a:t>
            </a:r>
            <a:endParaRPr lang="en-US" sz="1200" dirty="0"/>
          </a:p>
        </p:txBody>
      </p:sp>
      <p:sp>
        <p:nvSpPr>
          <p:cNvPr id="13" name="Shape 11"/>
          <p:cNvSpPr/>
          <p:nvPr/>
        </p:nvSpPr>
        <p:spPr>
          <a:xfrm>
            <a:off x="7448550" y="3958580"/>
            <a:ext cx="3924300" cy="703560"/>
          </a:xfrm>
          <a:prstGeom prst="roundRect">
            <a:avLst>
              <a:gd name="adj" fmla="val 17149"/>
            </a:avLst>
          </a:prstGeom>
          <a:solidFill>
            <a:srgbClr val="14151B">
              <a:alpha val="75000"/>
            </a:srgbClr>
          </a:solidFill>
          <a:ln w="12700">
            <a:solidFill>
              <a:srgbClr val="34363F"/>
            </a:solidFill>
            <a:prstDash val="solid"/>
          </a:ln>
        </p:spPr>
      </p:sp>
      <p:sp>
        <p:nvSpPr>
          <p:cNvPr id="14" name="Text 12"/>
          <p:cNvSpPr/>
          <p:nvPr/>
        </p:nvSpPr>
        <p:spPr>
          <a:xfrm>
            <a:off x="7683500" y="4168130"/>
            <a:ext cx="197758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ECEF"/>
                </a:solidFill>
                <a:latin typeface="Raleway" pitchFamily="34" charset="0"/>
                <a:ea typeface="Raleway" pitchFamily="34" charset="-122"/>
                <a:cs typeface="Raleway" pitchFamily="34" charset="-120"/>
              </a:rPr>
              <a:t>Building the process</a:t>
            </a:r>
            <a:endParaRPr lang="en-US" sz="1600" dirty="0"/>
          </a:p>
        </p:txBody>
      </p:sp>
      <p:sp>
        <p:nvSpPr>
          <p:cNvPr id="15" name="Text 13"/>
          <p:cNvSpPr/>
          <p:nvPr/>
        </p:nvSpPr>
        <p:spPr>
          <a:xfrm>
            <a:off x="10040620" y="4203700"/>
            <a:ext cx="1097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3E14F"/>
                </a:solidFill>
                <a:latin typeface="DM Mono" pitchFamily="49" charset="0"/>
                <a:ea typeface="DM Mono" pitchFamily="49" charset="-122"/>
                <a:cs typeface="DM Mono" pitchFamily="49" charset="-120"/>
              </a:rPr>
              <a:t>[ 30 MIN ]</a:t>
            </a:r>
            <a:endParaRPr lang="en-US" sz="1200" dirty="0"/>
          </a:p>
        </p:txBody>
      </p:sp>
      <p:pic>
        <p:nvPicPr>
          <p:cNvPr id="16" name="Image 0" descr="Mashgin">    </p:cNvPr>
          <p:cNvPicPr>
            <a:picLocks noChangeAspect="1"/>
          </p:cNvPicPr>
          <p:nvPr/>
        </p:nvPicPr>
        <p:blipFill>
          <a:blip r:embed="rId1"/>
          <a:srcRect l="-408" r="-408" t="0" b="0"/>
          <a:stretch/>
        </p:blipFill>
        <p:spPr>
          <a:xfrm>
            <a:off x="9931400" y="457200"/>
            <a:ext cx="1651000" cy="336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THE WHOLE TALK ]</a:t>
            </a:r>
            <a:endParaRPr lang="en-US" sz="1400" dirty="0"/>
          </a:p>
        </p:txBody>
      </p:sp>
      <p:sp>
        <p:nvSpPr>
          <p:cNvPr id="4" name="Text 2"/>
          <p:cNvSpPr/>
          <p:nvPr>
            <p:ph type="title"/>
          </p:nvPr>
        </p:nvSpPr>
        <p:spPr>
          <a:xfrm>
            <a:off x="812800" y="121409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Every company interviews.</a:t>
            </a:r>
            <a:endParaRPr lang="en-US" sz="3600" dirty="0"/>
          </a:p>
          <a:p>
            <a:pPr algn="l" indent="0" marL="0">
              <a:lnSpc>
                <a:spcPts val="3960"/>
              </a:lnSpc>
              <a:buNone/>
            </a:pPr>
            <a:r>
              <a:rPr lang="en-US" sz="3600" b="1" i="0" dirty="0">
                <a:solidFill>
                  <a:srgbClr val="63E14F"/>
                </a:solidFill>
                <a:latin typeface="Host Grotesk" pitchFamily="34" charset="0"/>
                <a:ea typeface="Host Grotesk" pitchFamily="34" charset="-122"/>
                <a:cs typeface="Host Grotesk" pitchFamily="34" charset="-120"/>
              </a:rPr>
              <a:t>Few train their interviewers.</a:t>
            </a:r>
            <a:endParaRPr lang="en-US" sz="3600" dirty="0"/>
          </a:p>
        </p:txBody>
      </p:sp>
      <p:sp>
        <p:nvSpPr>
          <p:cNvPr id="5" name="Shape 3"/>
          <p:cNvSpPr/>
          <p:nvPr/>
        </p:nvSpPr>
        <p:spPr>
          <a:xfrm>
            <a:off x="819150" y="2480221"/>
            <a:ext cx="3373934" cy="3282900"/>
          </a:xfrm>
          <a:prstGeom prst="roundRect">
            <a:avLst>
              <a:gd name="adj" fmla="val 2901"/>
            </a:avLst>
          </a:prstGeom>
          <a:solidFill>
            <a:srgbClr val="1A1A1A"/>
          </a:solidFill>
          <a:ln w="12700">
            <a:solidFill>
              <a:srgbClr val="2B2B2B"/>
            </a:solidFill>
            <a:prstDash val="solid"/>
          </a:ln>
        </p:spPr>
      </p:sp>
      <p:sp>
        <p:nvSpPr>
          <p:cNvPr id="6" name="Text 4"/>
          <p:cNvSpPr/>
          <p:nvPr/>
        </p:nvSpPr>
        <p:spPr>
          <a:xfrm>
            <a:off x="1079500" y="2740571"/>
            <a:ext cx="2938831"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01 · EVALUATE</a:t>
            </a:r>
            <a:endParaRPr lang="en-US" sz="1300" dirty="0"/>
          </a:p>
        </p:txBody>
      </p:sp>
      <p:sp>
        <p:nvSpPr>
          <p:cNvPr id="7" name="Text 5"/>
          <p:cNvSpPr/>
          <p:nvPr/>
        </p:nvSpPr>
        <p:spPr>
          <a:xfrm>
            <a:off x="1079500" y="3047901"/>
            <a:ext cx="2938831"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E9ECEF"/>
                </a:solidFill>
                <a:latin typeface="Host Grotesk" pitchFamily="34" charset="0"/>
                <a:ea typeface="Host Grotesk" pitchFamily="34" charset="-122"/>
                <a:cs typeface="Host Grotesk" pitchFamily="34" charset="-120"/>
              </a:rPr>
              <a:t>Strength × Fit</a:t>
            </a:r>
            <a:endParaRPr lang="en-US" sz="2400" dirty="0"/>
          </a:p>
        </p:txBody>
      </p:sp>
      <p:pic>
        <p:nvPicPr>
          <p:cNvPr id="8" name="Image 0" descr="preencoded.png">    </p:cNvPr>
          <p:cNvPicPr>
            <a:picLocks noChangeAspect="1"/>
          </p:cNvPicPr>
          <p:nvPr/>
        </p:nvPicPr>
        <p:blipFill>
          <a:blip r:embed="rId1"/>
          <a:srcRect l="0" r="0" t="0" b="0"/>
          <a:stretch/>
        </p:blipFill>
        <p:spPr>
          <a:xfrm>
            <a:off x="1079500" y="3489821"/>
            <a:ext cx="1905000" cy="1397000"/>
          </a:xfrm>
          <a:prstGeom prst="rect">
            <a:avLst/>
          </a:prstGeom>
        </p:spPr>
      </p:pic>
      <p:sp>
        <p:nvSpPr>
          <p:cNvPr id="9" name="Text 6"/>
          <p:cNvSpPr/>
          <p:nvPr/>
        </p:nvSpPr>
        <p:spPr>
          <a:xfrm>
            <a:off x="1079500" y="4963021"/>
            <a:ext cx="293883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Who should we hire?</a:t>
            </a:r>
            <a:endParaRPr lang="en-US" sz="1500" dirty="0"/>
          </a:p>
        </p:txBody>
      </p:sp>
      <p:sp>
        <p:nvSpPr>
          <p:cNvPr id="10" name="Shape 7"/>
          <p:cNvSpPr/>
          <p:nvPr/>
        </p:nvSpPr>
        <p:spPr>
          <a:xfrm>
            <a:off x="4415334" y="2486571"/>
            <a:ext cx="3361283" cy="3270200"/>
          </a:xfrm>
          <a:prstGeom prst="roundRect">
            <a:avLst>
              <a:gd name="adj" fmla="val 2718"/>
            </a:avLst>
          </a:prstGeom>
          <a:solidFill>
            <a:srgbClr val="1A1A1A"/>
          </a:solidFill>
          <a:ln w="25400">
            <a:solidFill>
              <a:srgbClr val="FF832A"/>
            </a:solidFill>
            <a:prstDash val="solid"/>
          </a:ln>
          <a:effectLst>
            <a:outerShdw sx="100000" sy="100000" kx="0" ky="0" algn="bl" rotWithShape="0" blurRad="203200" dist="0" dir="60000">
              <a:srgbClr val="FF832A">
                <a:alpha val="45000"/>
              </a:srgbClr>
            </a:outerShdw>
          </a:effectLst>
        </p:spPr>
      </p:sp>
      <p:sp>
        <p:nvSpPr>
          <p:cNvPr id="11" name="Text 8"/>
          <p:cNvSpPr/>
          <p:nvPr/>
        </p:nvSpPr>
        <p:spPr>
          <a:xfrm>
            <a:off x="4682034" y="2753271"/>
            <a:ext cx="291272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02 · TRAIN</a:t>
            </a:r>
            <a:endParaRPr lang="en-US" sz="1300" dirty="0"/>
          </a:p>
        </p:txBody>
      </p:sp>
      <p:sp>
        <p:nvSpPr>
          <p:cNvPr id="12" name="Text 9"/>
          <p:cNvSpPr/>
          <p:nvPr/>
        </p:nvSpPr>
        <p:spPr>
          <a:xfrm>
            <a:off x="4682034" y="3060601"/>
            <a:ext cx="2912720"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E9ECEF"/>
                </a:solidFill>
                <a:latin typeface="Host Grotesk" pitchFamily="34" charset="0"/>
                <a:ea typeface="Host Grotesk" pitchFamily="34" charset="-122"/>
                <a:cs typeface="Host Grotesk" pitchFamily="34" charset="-120"/>
              </a:rPr>
              <a:t>Five levels</a:t>
            </a:r>
            <a:endParaRPr lang="en-US" sz="2400" dirty="0"/>
          </a:p>
        </p:txBody>
      </p:sp>
      <p:pic>
        <p:nvPicPr>
          <p:cNvPr id="13" name="Image 1" descr="preencoded.png">    </p:cNvPr>
          <p:cNvPicPr>
            <a:picLocks noChangeAspect="1"/>
          </p:cNvPicPr>
          <p:nvPr/>
        </p:nvPicPr>
        <p:blipFill>
          <a:blip r:embed="rId2"/>
          <a:srcRect l="0" r="0" t="0" b="0"/>
          <a:stretch/>
        </p:blipFill>
        <p:spPr>
          <a:xfrm>
            <a:off x="4682034" y="3502521"/>
            <a:ext cx="1905000" cy="1397000"/>
          </a:xfrm>
          <a:prstGeom prst="rect">
            <a:avLst/>
          </a:prstGeom>
        </p:spPr>
      </p:pic>
      <p:sp>
        <p:nvSpPr>
          <p:cNvPr id="14" name="Text 10"/>
          <p:cNvSpPr/>
          <p:nvPr/>
        </p:nvSpPr>
        <p:spPr>
          <a:xfrm>
            <a:off x="4682034" y="4975721"/>
            <a:ext cx="291272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What makes an interviewer great?</a:t>
            </a:r>
            <a:endParaRPr lang="en-US" sz="1500" dirty="0"/>
          </a:p>
        </p:txBody>
      </p:sp>
      <p:sp>
        <p:nvSpPr>
          <p:cNvPr id="15" name="Shape 11"/>
          <p:cNvSpPr/>
          <p:nvPr/>
        </p:nvSpPr>
        <p:spPr>
          <a:xfrm>
            <a:off x="7998867" y="2480221"/>
            <a:ext cx="3373983" cy="3282900"/>
          </a:xfrm>
          <a:prstGeom prst="roundRect">
            <a:avLst>
              <a:gd name="adj" fmla="val 2901"/>
            </a:avLst>
          </a:prstGeom>
          <a:solidFill>
            <a:srgbClr val="1A1A1A"/>
          </a:solidFill>
          <a:ln w="12700">
            <a:solidFill>
              <a:srgbClr val="2B2B2B"/>
            </a:solidFill>
            <a:prstDash val="solid"/>
          </a:ln>
        </p:spPr>
      </p:sp>
      <p:sp>
        <p:nvSpPr>
          <p:cNvPr id="16" name="Text 12"/>
          <p:cNvSpPr/>
          <p:nvPr/>
        </p:nvSpPr>
        <p:spPr>
          <a:xfrm>
            <a:off x="8259217" y="2740571"/>
            <a:ext cx="2938882"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03 · BUILD</a:t>
            </a:r>
            <a:endParaRPr lang="en-US" sz="1300" dirty="0"/>
          </a:p>
        </p:txBody>
      </p:sp>
      <p:sp>
        <p:nvSpPr>
          <p:cNvPr id="17" name="Text 13"/>
          <p:cNvSpPr/>
          <p:nvPr/>
        </p:nvSpPr>
        <p:spPr>
          <a:xfrm>
            <a:off x="8259217" y="3047901"/>
            <a:ext cx="2938882" cy="39112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E9ECEF"/>
                </a:solidFill>
                <a:latin typeface="Host Grotesk" pitchFamily="34" charset="0"/>
                <a:ea typeface="Host Grotesk" pitchFamily="34" charset="-122"/>
                <a:cs typeface="Host Grotesk" pitchFamily="34" charset="-120"/>
              </a:rPr>
              <a:t>3-stage process</a:t>
            </a:r>
            <a:endParaRPr lang="en-US" sz="2400" dirty="0"/>
          </a:p>
        </p:txBody>
      </p:sp>
      <p:pic>
        <p:nvPicPr>
          <p:cNvPr id="18" name="Image 2" descr="preencoded.png">    </p:cNvPr>
          <p:cNvPicPr>
            <a:picLocks noChangeAspect="1"/>
          </p:cNvPicPr>
          <p:nvPr/>
        </p:nvPicPr>
        <p:blipFill>
          <a:blip r:embed="rId3"/>
          <a:srcRect l="0" r="0" t="0" b="0"/>
          <a:stretch/>
        </p:blipFill>
        <p:spPr>
          <a:xfrm>
            <a:off x="8259217" y="3489821"/>
            <a:ext cx="1905000" cy="1397000"/>
          </a:xfrm>
          <a:prstGeom prst="rect">
            <a:avLst/>
          </a:prstGeom>
        </p:spPr>
      </p:pic>
      <p:sp>
        <p:nvSpPr>
          <p:cNvPr id="19" name="Text 14"/>
          <p:cNvSpPr/>
          <p:nvPr/>
        </p:nvSpPr>
        <p:spPr>
          <a:xfrm>
            <a:off x="8259217" y="4963021"/>
            <a:ext cx="293888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How do we run it?</a:t>
            </a:r>
            <a:endParaRPr lang="en-US" sz="1500" dirty="0"/>
          </a:p>
        </p:txBody>
      </p:sp>
      <p:pic>
        <p:nvPicPr>
          <p:cNvPr id="20" name="Image 3" descr="Mashgin">    </p:cNvPr>
          <p:cNvPicPr>
            <a:picLocks noChangeAspect="1"/>
          </p:cNvPicPr>
          <p:nvPr/>
        </p:nvPicPr>
        <p:blipFill>
          <a:blip r:embed="rId4"/>
          <a:srcRect l="-284" r="-284" t="0" b="0"/>
          <a:stretch/>
        </p:blipFill>
        <p:spPr>
          <a:xfrm>
            <a:off x="10121900" y="406400"/>
            <a:ext cx="1460500" cy="298450"/>
          </a:xfrm>
          <a:prstGeom prst="rect">
            <a:avLst/>
          </a:prstGeom>
        </p:spPr>
      </p:pic>
      <p:sp>
        <p:nvSpPr>
          <p:cNvPr id="21" name="Text 15"/>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2" name="Text 16"/>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[ 2 ]</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168657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spc="150" kern="0" dirty="0">
                <a:solidFill>
                  <a:srgbClr val="63E14F"/>
                </a:solidFill>
                <a:latin typeface="DM Mono" pitchFamily="49" charset="0"/>
                <a:ea typeface="DM Mono" pitchFamily="49" charset="-122"/>
                <a:cs typeface="DM Mono" pitchFamily="49" charset="-120"/>
              </a:rPr>
              <a:t>[ ARC 2 · TRAINING INTERVIEWERS ]</a:t>
            </a:r>
            <a:endParaRPr lang="en-US" sz="1600" dirty="0"/>
          </a:p>
        </p:txBody>
      </p:sp>
      <p:sp>
        <p:nvSpPr>
          <p:cNvPr id="4" name="Text 2"/>
          <p:cNvSpPr/>
          <p:nvPr/>
        </p:nvSpPr>
        <p:spPr>
          <a:xfrm>
            <a:off x="812800" y="2275830"/>
            <a:ext cx="10883392" cy="1968500"/>
          </a:xfrm>
          <a:prstGeom prst="rect">
            <a:avLst/>
          </a:prstGeom>
          <a:noFill/>
          <a:ln/>
        </p:spPr>
        <p:txBody>
          <a:bodyPr wrap="square" lIns="0" tIns="0" rIns="0" bIns="0" rtlCol="0" anchor="t">
            <a:normAutofit/>
          </a:bodyPr>
          <a:lstStyle/>
          <a:p>
            <a:pPr algn="l" indent="0" marL="0">
              <a:lnSpc>
                <a:spcPts val="7650"/>
              </a:lnSpc>
              <a:buNone/>
            </a:pPr>
            <a:r>
              <a:rPr lang="en-US" sz="7500" b="1" dirty="0">
                <a:solidFill>
                  <a:srgbClr val="F4F5F7"/>
                </a:solidFill>
                <a:latin typeface="Host Grotesk" pitchFamily="34" charset="0"/>
                <a:ea typeface="Host Grotesk" pitchFamily="34" charset="-122"/>
                <a:cs typeface="Host Grotesk" pitchFamily="34" charset="-120"/>
              </a:rPr>
              <a:t>Your job: build</a:t>
            </a:r>
            <a:endParaRPr lang="en-US" sz="7500" dirty="0"/>
          </a:p>
          <a:p>
            <a:pPr algn="l" indent="0" marL="0">
              <a:lnSpc>
                <a:spcPts val="7650"/>
              </a:lnSpc>
              <a:buNone/>
            </a:pPr>
            <a:r>
              <a:rPr lang="en-US" sz="7500" b="1" dirty="0">
                <a:solidFill>
                  <a:srgbClr val="63E14F"/>
                </a:solidFill>
                <a:latin typeface="Host Grotesk" pitchFamily="34" charset="0"/>
                <a:ea typeface="Host Grotesk" pitchFamily="34" charset="-122"/>
                <a:cs typeface="Host Grotesk" pitchFamily="34" charset="-120"/>
              </a:rPr>
              <a:t>the hiring machine.</a:t>
            </a:r>
            <a:endParaRPr lang="en-US" sz="7500" dirty="0"/>
          </a:p>
        </p:txBody>
      </p:sp>
      <p:sp>
        <p:nvSpPr>
          <p:cNvPr id="5" name="Text 3"/>
          <p:cNvSpPr/>
          <p:nvPr/>
        </p:nvSpPr>
        <p:spPr>
          <a:xfrm>
            <a:off x="812800" y="452373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A3A8B0"/>
                </a:solidFill>
                <a:latin typeface="Raleway" pitchFamily="34" charset="0"/>
                <a:ea typeface="Raleway" pitchFamily="34" charset="-122"/>
                <a:cs typeface="Raleway" pitchFamily="34" charset="-120"/>
              </a:rPr>
              <a:t>As an EM, that means training your interviewers.</a:t>
            </a:r>
            <a:endParaRPr lang="en-US" sz="2000" dirty="0"/>
          </a:p>
        </p:txBody>
      </p:sp>
      <p:pic>
        <p:nvPicPr>
          <p:cNvPr id="6"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7" name="Text 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8" name="Text 5"/>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[ 3 ]</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TRAINING INTERVIEWERS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Five levels of an </a:t>
            </a:r>
            <a:r>
              <a:rPr lang="en-US" sz="3600" b="1" i="0" dirty="0">
                <a:solidFill>
                  <a:srgbClr val="63E14F"/>
                </a:solidFill>
                <a:latin typeface="Host Grotesk" pitchFamily="34" charset="0"/>
                <a:ea typeface="Host Grotesk" pitchFamily="34" charset="-122"/>
                <a:cs typeface="Host Grotesk" pitchFamily="34" charset="-120"/>
              </a:rPr>
              <a:t>A-player interviewer.</a:t>
            </a:r>
            <a:endParaRPr lang="en-US" sz="3600" dirty="0"/>
          </a:p>
        </p:txBody>
      </p:sp>
      <p:pic>
        <p:nvPicPr>
          <p:cNvPr id="5" name="Image 0" descr="Vertical axis: value to company">    </p:cNvPr>
          <p:cNvPicPr>
            <a:picLocks noChangeAspect="1"/>
          </p:cNvPicPr>
          <p:nvPr/>
        </p:nvPicPr>
        <p:blipFill>
          <a:blip r:embed="rId1"/>
          <a:srcRect l="0" r="0" t="0" b="0"/>
          <a:stretch/>
        </p:blipFill>
        <p:spPr>
          <a:xfrm>
            <a:off x="812800" y="2387600"/>
            <a:ext cx="457200" cy="3048000"/>
          </a:xfrm>
          <a:prstGeom prst="rect">
            <a:avLst/>
          </a:prstGeom>
        </p:spPr>
      </p:pic>
      <p:sp>
        <p:nvSpPr>
          <p:cNvPr id="6" name="Shape 3"/>
          <p:cNvSpPr/>
          <p:nvPr/>
        </p:nvSpPr>
        <p:spPr>
          <a:xfrm>
            <a:off x="1428750" y="4171950"/>
            <a:ext cx="1856730" cy="1257300"/>
          </a:xfrm>
          <a:prstGeom prst="roundRect">
            <a:avLst>
              <a:gd name="adj" fmla="val 7576"/>
            </a:avLst>
          </a:prstGeom>
          <a:solidFill>
            <a:srgbClr val="1A1A1A"/>
          </a:solidFill>
          <a:ln w="12700">
            <a:solidFill>
              <a:srgbClr val="2B2B2B"/>
            </a:solidFill>
            <a:prstDash val="solid"/>
          </a:ln>
        </p:spPr>
      </p:sp>
      <p:sp>
        <p:nvSpPr>
          <p:cNvPr id="7" name="Text 4"/>
          <p:cNvSpPr/>
          <p:nvPr/>
        </p:nvSpPr>
        <p:spPr>
          <a:xfrm>
            <a:off x="1612900" y="4356100"/>
            <a:ext cx="1539230" cy="153541"/>
          </a:xfrm>
          <a:prstGeom prst="rect">
            <a:avLst/>
          </a:prstGeom>
          <a:noFill/>
          <a:ln/>
        </p:spPr>
        <p:txBody>
          <a:bodyPr wrap="square" lIns="0" tIns="0" rIns="0" bIns="0" rtlCol="0" anchor="t">
            <a:normAutofit/>
          </a:bodyPr>
          <a:lstStyle/>
          <a:p>
            <a:pPr algn="l" indent="0" marL="0">
              <a:lnSpc>
                <a:spcPts val="1024"/>
              </a:lnSpc>
              <a:buNone/>
            </a:pPr>
            <a:r>
              <a:rPr lang="en-US" sz="731" spc="100" kern="0" dirty="0">
                <a:solidFill>
                  <a:srgbClr val="63E14F"/>
                </a:solidFill>
                <a:latin typeface="DM Mono" pitchFamily="49" charset="0"/>
                <a:ea typeface="DM Mono" pitchFamily="49" charset="-122"/>
                <a:cs typeface="DM Mono" pitchFamily="49" charset="-120"/>
              </a:rPr>
              <a:t>L1</a:t>
            </a:r>
            <a:endParaRPr lang="en-US" sz="731" dirty="0"/>
          </a:p>
        </p:txBody>
      </p:sp>
      <p:sp>
        <p:nvSpPr>
          <p:cNvPr id="8" name="Text 5"/>
          <p:cNvSpPr/>
          <p:nvPr/>
        </p:nvSpPr>
        <p:spPr>
          <a:xfrm>
            <a:off x="1612900" y="4547741"/>
            <a:ext cx="1666230" cy="391567"/>
          </a:xfrm>
          <a:prstGeom prst="rect">
            <a:avLst/>
          </a:prstGeom>
          <a:noFill/>
          <a:ln/>
        </p:spPr>
        <p:txBody>
          <a:bodyPr wrap="square" lIns="0" tIns="0" rIns="0" bIns="0" rtlCol="0" anchor="t">
            <a:normAutofit/>
          </a:bodyPr>
          <a:lstStyle/>
          <a:p>
            <a:pPr algn="l" indent="0" marL="0">
              <a:lnSpc>
                <a:spcPts val="2385"/>
              </a:lnSpc>
              <a:buNone/>
            </a:pPr>
            <a:r>
              <a:rPr lang="en-US" sz="1988" b="1" dirty="0">
                <a:solidFill>
                  <a:srgbClr val="E9ECEF"/>
                </a:solidFill>
                <a:latin typeface="Host Grotesk" pitchFamily="34" charset="0"/>
                <a:ea typeface="Host Grotesk" pitchFamily="34" charset="-122"/>
                <a:cs typeface="Host Grotesk" pitchFamily="34" charset="-120"/>
              </a:rPr>
              <a:t>Competence</a:t>
            </a:r>
            <a:endParaRPr lang="en-US" sz="1988" dirty="0"/>
          </a:p>
        </p:txBody>
      </p:sp>
      <p:sp>
        <p:nvSpPr>
          <p:cNvPr id="9" name="Text 6"/>
          <p:cNvSpPr/>
          <p:nvPr/>
        </p:nvSpPr>
        <p:spPr>
          <a:xfrm>
            <a:off x="1612900" y="4977408"/>
            <a:ext cx="1666230" cy="293092"/>
          </a:xfrm>
          <a:prstGeom prst="rect">
            <a:avLst/>
          </a:prstGeom>
          <a:noFill/>
          <a:ln/>
        </p:spPr>
        <p:txBody>
          <a:bodyPr wrap="square" lIns="0" tIns="0" rIns="0" bIns="0" rtlCol="0" anchor="t">
            <a:normAutofit/>
          </a:bodyPr>
          <a:lstStyle/>
          <a:p>
            <a:pPr algn="l" indent="0" marL="0">
              <a:lnSpc>
                <a:spcPts val="1541"/>
              </a:lnSpc>
              <a:buNone/>
            </a:pPr>
            <a:r>
              <a:rPr lang="en-US" sz="1142" dirty="0">
                <a:solidFill>
                  <a:srgbClr val="A3A8B0"/>
                </a:solidFill>
                <a:latin typeface="Raleway" pitchFamily="34" charset="0"/>
                <a:ea typeface="Raleway" pitchFamily="34" charset="-122"/>
                <a:cs typeface="Raleway" pitchFamily="34" charset="-120"/>
              </a:rPr>
              <a:t>Do they meet our bar?</a:t>
            </a:r>
            <a:endParaRPr lang="en-US" sz="1142" dirty="0"/>
          </a:p>
        </p:txBody>
      </p:sp>
      <p:sp>
        <p:nvSpPr>
          <p:cNvPr id="10" name="Shape 7"/>
          <p:cNvSpPr/>
          <p:nvPr/>
        </p:nvSpPr>
        <p:spPr>
          <a:xfrm>
            <a:off x="3450580" y="3727450"/>
            <a:ext cx="1856780" cy="1701800"/>
          </a:xfrm>
          <a:prstGeom prst="roundRect">
            <a:avLst>
              <a:gd name="adj" fmla="val 5597"/>
            </a:avLst>
          </a:prstGeom>
          <a:solidFill>
            <a:srgbClr val="1A1A1A"/>
          </a:solidFill>
          <a:ln w="12700">
            <a:solidFill>
              <a:srgbClr val="2B2B2B"/>
            </a:solidFill>
            <a:prstDash val="solid"/>
          </a:ln>
        </p:spPr>
      </p:sp>
      <p:sp>
        <p:nvSpPr>
          <p:cNvPr id="11" name="Text 8"/>
          <p:cNvSpPr/>
          <p:nvPr/>
        </p:nvSpPr>
        <p:spPr>
          <a:xfrm>
            <a:off x="3634730" y="3911600"/>
            <a:ext cx="15392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L2</a:t>
            </a:r>
            <a:endParaRPr lang="en-US" sz="1200" dirty="0"/>
          </a:p>
        </p:txBody>
      </p:sp>
      <p:sp>
        <p:nvSpPr>
          <p:cNvPr id="12" name="Text 9"/>
          <p:cNvSpPr/>
          <p:nvPr/>
        </p:nvSpPr>
        <p:spPr>
          <a:xfrm>
            <a:off x="3634730" y="4188420"/>
            <a:ext cx="153928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ECEF"/>
                </a:solidFill>
                <a:latin typeface="Host Grotesk" pitchFamily="34" charset="0"/>
                <a:ea typeface="Host Grotesk" pitchFamily="34" charset="-122"/>
                <a:cs typeface="Host Grotesk" pitchFamily="34" charset="-120"/>
              </a:rPr>
              <a:t>Potential</a:t>
            </a:r>
            <a:endParaRPr lang="en-US" sz="2000" dirty="0"/>
          </a:p>
        </p:txBody>
      </p:sp>
      <p:sp>
        <p:nvSpPr>
          <p:cNvPr id="13" name="Text 10"/>
          <p:cNvSpPr/>
          <p:nvPr/>
        </p:nvSpPr>
        <p:spPr>
          <a:xfrm>
            <a:off x="3634730" y="4556720"/>
            <a:ext cx="153928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A3A8B0"/>
                </a:solidFill>
                <a:latin typeface="Raleway" pitchFamily="34" charset="0"/>
                <a:ea typeface="Raleway" pitchFamily="34" charset="-122"/>
                <a:cs typeface="Raleway" pitchFamily="34" charset="-120"/>
              </a:rPr>
              <a:t>How far can they grow?</a:t>
            </a:r>
            <a:endParaRPr lang="en-US" sz="1300" dirty="0"/>
          </a:p>
        </p:txBody>
      </p:sp>
      <p:sp>
        <p:nvSpPr>
          <p:cNvPr id="14" name="Shape 11"/>
          <p:cNvSpPr/>
          <p:nvPr/>
        </p:nvSpPr>
        <p:spPr>
          <a:xfrm>
            <a:off x="5472460" y="3282950"/>
            <a:ext cx="1856730" cy="2146300"/>
          </a:xfrm>
          <a:prstGeom prst="roundRect">
            <a:avLst>
              <a:gd name="adj" fmla="val 5130"/>
            </a:avLst>
          </a:prstGeom>
          <a:solidFill>
            <a:srgbClr val="1A1A1A"/>
          </a:solidFill>
          <a:ln w="12700">
            <a:solidFill>
              <a:srgbClr val="2B2B2B"/>
            </a:solidFill>
            <a:prstDash val="solid"/>
          </a:ln>
        </p:spPr>
      </p:sp>
      <p:sp>
        <p:nvSpPr>
          <p:cNvPr id="15" name="Text 12"/>
          <p:cNvSpPr/>
          <p:nvPr/>
        </p:nvSpPr>
        <p:spPr>
          <a:xfrm>
            <a:off x="5656610" y="3467100"/>
            <a:ext cx="153923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L3</a:t>
            </a:r>
            <a:endParaRPr lang="en-US" sz="1200" dirty="0"/>
          </a:p>
        </p:txBody>
      </p:sp>
      <p:sp>
        <p:nvSpPr>
          <p:cNvPr id="16" name="Text 13"/>
          <p:cNvSpPr/>
          <p:nvPr/>
        </p:nvSpPr>
        <p:spPr>
          <a:xfrm>
            <a:off x="5656610" y="3743920"/>
            <a:ext cx="15392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ECEF"/>
                </a:solidFill>
                <a:latin typeface="Host Grotesk" pitchFamily="34" charset="0"/>
                <a:ea typeface="Host Grotesk" pitchFamily="34" charset="-122"/>
                <a:cs typeface="Host Grotesk" pitchFamily="34" charset="-120"/>
              </a:rPr>
              <a:t>Fit</a:t>
            </a:r>
            <a:endParaRPr lang="en-US" sz="2000" dirty="0"/>
          </a:p>
        </p:txBody>
      </p:sp>
      <p:sp>
        <p:nvSpPr>
          <p:cNvPr id="17" name="Text 14"/>
          <p:cNvSpPr/>
          <p:nvPr/>
        </p:nvSpPr>
        <p:spPr>
          <a:xfrm>
            <a:off x="5656610" y="4112220"/>
            <a:ext cx="153923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A3A8B0"/>
                </a:solidFill>
                <a:latin typeface="Raleway" pitchFamily="34" charset="0"/>
                <a:ea typeface="Raleway" pitchFamily="34" charset="-122"/>
                <a:cs typeface="Raleway" pitchFamily="34" charset="-120"/>
              </a:rPr>
              <a:t>What unlocks them here?</a:t>
            </a:r>
            <a:endParaRPr lang="en-US" sz="1300" dirty="0"/>
          </a:p>
        </p:txBody>
      </p:sp>
      <p:sp>
        <p:nvSpPr>
          <p:cNvPr id="18" name="Shape 15"/>
          <p:cNvSpPr/>
          <p:nvPr/>
        </p:nvSpPr>
        <p:spPr>
          <a:xfrm>
            <a:off x="7494290" y="2838450"/>
            <a:ext cx="1856730" cy="2590800"/>
          </a:xfrm>
          <a:prstGeom prst="roundRect">
            <a:avLst>
              <a:gd name="adj" fmla="val 5130"/>
            </a:avLst>
          </a:prstGeom>
          <a:solidFill>
            <a:srgbClr val="1A1A1A"/>
          </a:solidFill>
          <a:ln w="12700">
            <a:solidFill>
              <a:srgbClr val="2B2B2B"/>
            </a:solidFill>
            <a:prstDash val="solid"/>
          </a:ln>
        </p:spPr>
      </p:sp>
      <p:sp>
        <p:nvSpPr>
          <p:cNvPr id="19" name="Text 16"/>
          <p:cNvSpPr/>
          <p:nvPr/>
        </p:nvSpPr>
        <p:spPr>
          <a:xfrm>
            <a:off x="7678440" y="3022600"/>
            <a:ext cx="153923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L4</a:t>
            </a:r>
            <a:endParaRPr lang="en-US" sz="1200" dirty="0"/>
          </a:p>
        </p:txBody>
      </p:sp>
      <p:sp>
        <p:nvSpPr>
          <p:cNvPr id="20" name="Text 17"/>
          <p:cNvSpPr/>
          <p:nvPr/>
        </p:nvSpPr>
        <p:spPr>
          <a:xfrm>
            <a:off x="7678440" y="3299420"/>
            <a:ext cx="15392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ECEF"/>
                </a:solidFill>
                <a:latin typeface="Host Grotesk" pitchFamily="34" charset="0"/>
                <a:ea typeface="Host Grotesk" pitchFamily="34" charset="-122"/>
                <a:cs typeface="Host Grotesk" pitchFamily="34" charset="-120"/>
              </a:rPr>
              <a:t>Magnet</a:t>
            </a:r>
            <a:endParaRPr lang="en-US" sz="2000" dirty="0"/>
          </a:p>
        </p:txBody>
      </p:sp>
      <p:sp>
        <p:nvSpPr>
          <p:cNvPr id="21" name="Text 18"/>
          <p:cNvSpPr/>
          <p:nvPr/>
        </p:nvSpPr>
        <p:spPr>
          <a:xfrm>
            <a:off x="7678440" y="3667720"/>
            <a:ext cx="153923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A3A8B0"/>
                </a:solidFill>
                <a:latin typeface="Raleway" pitchFamily="34" charset="0"/>
                <a:ea typeface="Raleway" pitchFamily="34" charset="-122"/>
                <a:cs typeface="Raleway" pitchFamily="34" charset="-120"/>
              </a:rPr>
              <a:t>Strength attracts strength.</a:t>
            </a:r>
            <a:endParaRPr lang="en-US" sz="1300" dirty="0"/>
          </a:p>
        </p:txBody>
      </p:sp>
      <p:sp>
        <p:nvSpPr>
          <p:cNvPr id="22" name="Shape 19"/>
          <p:cNvSpPr/>
          <p:nvPr/>
        </p:nvSpPr>
        <p:spPr>
          <a:xfrm>
            <a:off x="9516120" y="2393950"/>
            <a:ext cx="1856730" cy="3035300"/>
          </a:xfrm>
          <a:prstGeom prst="roundRect">
            <a:avLst>
              <a:gd name="adj" fmla="val 5130"/>
            </a:avLst>
          </a:prstGeom>
          <a:solidFill>
            <a:srgbClr val="1A1A1A"/>
          </a:solidFill>
          <a:ln w="12700">
            <a:solidFill>
              <a:srgbClr val="63E14F"/>
            </a:solidFill>
            <a:prstDash val="solid"/>
          </a:ln>
        </p:spPr>
      </p:sp>
      <p:sp>
        <p:nvSpPr>
          <p:cNvPr id="23" name="Text 20"/>
          <p:cNvSpPr/>
          <p:nvPr/>
        </p:nvSpPr>
        <p:spPr>
          <a:xfrm>
            <a:off x="9700270" y="2578100"/>
            <a:ext cx="153923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L5</a:t>
            </a:r>
            <a:endParaRPr lang="en-US" sz="1200" dirty="0"/>
          </a:p>
        </p:txBody>
      </p:sp>
      <p:sp>
        <p:nvSpPr>
          <p:cNvPr id="24" name="Text 21"/>
          <p:cNvSpPr/>
          <p:nvPr/>
        </p:nvSpPr>
        <p:spPr>
          <a:xfrm>
            <a:off x="9700270" y="2854920"/>
            <a:ext cx="15392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ECEF"/>
                </a:solidFill>
                <a:latin typeface="Host Grotesk" pitchFamily="34" charset="0"/>
                <a:ea typeface="Host Grotesk" pitchFamily="34" charset="-122"/>
                <a:cs typeface="Host Grotesk" pitchFamily="34" charset="-120"/>
              </a:rPr>
              <a:t>Landing</a:t>
            </a:r>
            <a:endParaRPr lang="en-US" sz="2000" dirty="0"/>
          </a:p>
        </p:txBody>
      </p:sp>
      <p:sp>
        <p:nvSpPr>
          <p:cNvPr id="25" name="Text 22"/>
          <p:cNvSpPr/>
          <p:nvPr/>
        </p:nvSpPr>
        <p:spPr>
          <a:xfrm>
            <a:off x="9700270" y="3223220"/>
            <a:ext cx="153923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A3A8B0"/>
                </a:solidFill>
                <a:latin typeface="Raleway" pitchFamily="34" charset="0"/>
                <a:ea typeface="Raleway" pitchFamily="34" charset="-122"/>
                <a:cs typeface="Raleway" pitchFamily="34" charset="-120"/>
              </a:rPr>
              <a:t>“I joined to work with you.”</a:t>
            </a:r>
            <a:endParaRPr lang="en-US" sz="1300" dirty="0"/>
          </a:p>
        </p:txBody>
      </p:sp>
      <p:pic>
        <p:nvPicPr>
          <p:cNvPr id="26" name="Image 1" descr="Horizontal axis: complexity">    </p:cNvPr>
          <p:cNvPicPr>
            <a:picLocks noChangeAspect="1"/>
          </p:cNvPicPr>
          <p:nvPr/>
        </p:nvPicPr>
        <p:blipFill>
          <a:blip r:embed="rId2"/>
          <a:srcRect l="-147" r="-147" t="0" b="0"/>
          <a:stretch/>
        </p:blipFill>
        <p:spPr>
          <a:xfrm>
            <a:off x="812800" y="5435600"/>
            <a:ext cx="10566400" cy="406400"/>
          </a:xfrm>
          <a:prstGeom prst="rect">
            <a:avLst/>
          </a:prstGeom>
        </p:spPr>
      </p:pic>
      <p:pic>
        <p:nvPicPr>
          <p:cNvPr id="27" name="Image 2" descr="Mashgin">    </p:cNvPr>
          <p:cNvPicPr>
            <a:picLocks noChangeAspect="1"/>
          </p:cNvPicPr>
          <p:nvPr/>
        </p:nvPicPr>
        <p:blipFill>
          <a:blip r:embed="rId3"/>
          <a:srcRect l="-284" r="-284" t="0" b="0"/>
          <a:stretch/>
        </p:blipFill>
        <p:spPr>
          <a:xfrm>
            <a:off x="10121900" y="406400"/>
            <a:ext cx="1460500" cy="298450"/>
          </a:xfrm>
          <a:prstGeom prst="rect">
            <a:avLst/>
          </a:prstGeom>
        </p:spPr>
      </p:pic>
      <p:sp>
        <p:nvSpPr>
          <p:cNvPr id="28" name="Text 2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9" name="Text 24"/>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[ 4 ]</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TRAINING INTERVIEWERS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How the levels </a:t>
            </a:r>
            <a:r>
              <a:rPr lang="en-US" sz="3600" b="1" i="0" dirty="0">
                <a:solidFill>
                  <a:srgbClr val="63E14F"/>
                </a:solidFill>
                <a:latin typeface="Host Grotesk" pitchFamily="34" charset="0"/>
                <a:ea typeface="Host Grotesk" pitchFamily="34" charset="-122"/>
                <a:cs typeface="Host Grotesk" pitchFamily="34" charset="-120"/>
              </a:rPr>
              <a:t>work.</a:t>
            </a:r>
            <a:endParaRPr lang="en-US" sz="3600" dirty="0"/>
          </a:p>
        </p:txBody>
      </p:sp>
      <p:sp>
        <p:nvSpPr>
          <p:cNvPr id="5" name="Shape 3"/>
          <p:cNvSpPr/>
          <p:nvPr/>
        </p:nvSpPr>
        <p:spPr>
          <a:xfrm>
            <a:off x="819150" y="1977330"/>
            <a:ext cx="1978620" cy="2288431"/>
          </a:xfrm>
          <a:prstGeom prst="roundRect">
            <a:avLst>
              <a:gd name="adj" fmla="val 4814"/>
            </a:avLst>
          </a:prstGeom>
          <a:solidFill>
            <a:srgbClr val="1A1A1A"/>
          </a:solidFill>
          <a:ln w="12700">
            <a:solidFill>
              <a:srgbClr val="2B2B2B"/>
            </a:solidFill>
            <a:prstDash val="solid"/>
          </a:ln>
        </p:spPr>
      </p:sp>
      <p:sp>
        <p:nvSpPr>
          <p:cNvPr id="6" name="Text 4"/>
          <p:cNvSpPr/>
          <p:nvPr/>
        </p:nvSpPr>
        <p:spPr>
          <a:xfrm>
            <a:off x="1028700" y="2186880"/>
            <a:ext cx="161032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01</a:t>
            </a:r>
            <a:endParaRPr lang="en-US" sz="1300" dirty="0"/>
          </a:p>
        </p:txBody>
      </p:sp>
      <p:sp>
        <p:nvSpPr>
          <p:cNvPr id="7" name="Text 5"/>
          <p:cNvSpPr/>
          <p:nvPr/>
        </p:nvSpPr>
        <p:spPr>
          <a:xfrm>
            <a:off x="1028700" y="2494211"/>
            <a:ext cx="1610320"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E9ECEF"/>
                </a:solidFill>
                <a:latin typeface="Host Grotesk" pitchFamily="34" charset="0"/>
                <a:ea typeface="Host Grotesk" pitchFamily="34" charset="-122"/>
                <a:cs typeface="Host Grotesk" pitchFamily="34" charset="-120"/>
              </a:rPr>
              <a:t>Builds on the last</a:t>
            </a:r>
            <a:endParaRPr lang="en-US" sz="1800" dirty="0"/>
          </a:p>
        </p:txBody>
      </p:sp>
      <p:sp>
        <p:nvSpPr>
          <p:cNvPr id="8" name="Text 6"/>
          <p:cNvSpPr/>
          <p:nvPr/>
        </p:nvSpPr>
        <p:spPr>
          <a:xfrm>
            <a:off x="1028700" y="3096171"/>
            <a:ext cx="161032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8B0"/>
                </a:solidFill>
                <a:latin typeface="Raleway" pitchFamily="34" charset="0"/>
                <a:ea typeface="Raleway" pitchFamily="34" charset="-122"/>
                <a:cs typeface="Raleway" pitchFamily="34" charset="-120"/>
              </a:rPr>
              <a:t>Higher levels build on lower ones.</a:t>
            </a:r>
            <a:endParaRPr lang="en-US" sz="1400" dirty="0"/>
          </a:p>
        </p:txBody>
      </p:sp>
      <p:sp>
        <p:nvSpPr>
          <p:cNvPr id="9" name="Shape 7"/>
          <p:cNvSpPr/>
          <p:nvPr/>
        </p:nvSpPr>
        <p:spPr>
          <a:xfrm>
            <a:off x="2962870" y="1977330"/>
            <a:ext cx="1978670" cy="2288431"/>
          </a:xfrm>
          <a:prstGeom prst="roundRect">
            <a:avLst>
              <a:gd name="adj" fmla="val 4814"/>
            </a:avLst>
          </a:prstGeom>
          <a:solidFill>
            <a:srgbClr val="1A1A1A"/>
          </a:solidFill>
          <a:ln w="12700">
            <a:solidFill>
              <a:srgbClr val="2B2B2B"/>
            </a:solidFill>
            <a:prstDash val="solid"/>
          </a:ln>
        </p:spPr>
      </p:sp>
      <p:sp>
        <p:nvSpPr>
          <p:cNvPr id="10" name="Text 8"/>
          <p:cNvSpPr/>
          <p:nvPr/>
        </p:nvSpPr>
        <p:spPr>
          <a:xfrm>
            <a:off x="3172420" y="2186880"/>
            <a:ext cx="161037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02</a:t>
            </a:r>
            <a:endParaRPr lang="en-US" sz="1300" dirty="0"/>
          </a:p>
        </p:txBody>
      </p:sp>
      <p:sp>
        <p:nvSpPr>
          <p:cNvPr id="11" name="Text 9"/>
          <p:cNvSpPr/>
          <p:nvPr/>
        </p:nvSpPr>
        <p:spPr>
          <a:xfrm>
            <a:off x="3172420" y="2494211"/>
            <a:ext cx="1610370"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E9ECEF"/>
                </a:solidFill>
                <a:latin typeface="Host Grotesk" pitchFamily="34" charset="0"/>
                <a:ea typeface="Host Grotesk" pitchFamily="34" charset="-122"/>
                <a:cs typeface="Host Grotesk" pitchFamily="34" charset="-120"/>
              </a:rPr>
              <a:t>Start anywhere</a:t>
            </a:r>
            <a:endParaRPr lang="en-US" sz="1800" dirty="0"/>
          </a:p>
        </p:txBody>
      </p:sp>
      <p:sp>
        <p:nvSpPr>
          <p:cNvPr id="12" name="Text 10"/>
          <p:cNvSpPr/>
          <p:nvPr/>
        </p:nvSpPr>
        <p:spPr>
          <a:xfrm>
            <a:off x="3172420" y="3096171"/>
            <a:ext cx="1610370"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8B0"/>
                </a:solidFill>
                <a:latin typeface="Raleway" pitchFamily="34" charset="0"/>
                <a:ea typeface="Raleway" pitchFamily="34" charset="-122"/>
                <a:cs typeface="Raleway" pitchFamily="34" charset="-120"/>
              </a:rPr>
              <a:t>You don't need to master a level before working on the next.</a:t>
            </a:r>
            <a:endParaRPr lang="en-US" sz="1400" dirty="0"/>
          </a:p>
        </p:txBody>
      </p:sp>
      <p:sp>
        <p:nvSpPr>
          <p:cNvPr id="13" name="Shape 11"/>
          <p:cNvSpPr/>
          <p:nvPr/>
        </p:nvSpPr>
        <p:spPr>
          <a:xfrm>
            <a:off x="5106640" y="1977330"/>
            <a:ext cx="1978670" cy="2288431"/>
          </a:xfrm>
          <a:prstGeom prst="roundRect">
            <a:avLst>
              <a:gd name="adj" fmla="val 4814"/>
            </a:avLst>
          </a:prstGeom>
          <a:solidFill>
            <a:srgbClr val="1A1A1A"/>
          </a:solidFill>
          <a:ln w="12700">
            <a:solidFill>
              <a:srgbClr val="2B2B2B"/>
            </a:solidFill>
            <a:prstDash val="solid"/>
          </a:ln>
        </p:spPr>
      </p:sp>
      <p:sp>
        <p:nvSpPr>
          <p:cNvPr id="14" name="Text 12"/>
          <p:cNvSpPr/>
          <p:nvPr/>
        </p:nvSpPr>
        <p:spPr>
          <a:xfrm>
            <a:off x="5316190" y="2186880"/>
            <a:ext cx="161037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03</a:t>
            </a:r>
            <a:endParaRPr lang="en-US" sz="1300" dirty="0"/>
          </a:p>
        </p:txBody>
      </p:sp>
      <p:sp>
        <p:nvSpPr>
          <p:cNvPr id="15" name="Text 13"/>
          <p:cNvSpPr/>
          <p:nvPr/>
        </p:nvSpPr>
        <p:spPr>
          <a:xfrm>
            <a:off x="5316190" y="2494211"/>
            <a:ext cx="1610370"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E9ECEF"/>
                </a:solidFill>
                <a:latin typeface="Host Grotesk" pitchFamily="34" charset="0"/>
                <a:ea typeface="Host Grotesk" pitchFamily="34" charset="-122"/>
                <a:cs typeface="Host Grotesk" pitchFamily="34" charset="-120"/>
              </a:rPr>
              <a:t>Harder each step</a:t>
            </a:r>
            <a:endParaRPr lang="en-US" sz="1800" dirty="0"/>
          </a:p>
        </p:txBody>
      </p:sp>
      <p:sp>
        <p:nvSpPr>
          <p:cNvPr id="16" name="Text 14"/>
          <p:cNvSpPr/>
          <p:nvPr/>
        </p:nvSpPr>
        <p:spPr>
          <a:xfrm>
            <a:off x="5316190" y="3096171"/>
            <a:ext cx="161037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8B0"/>
                </a:solidFill>
                <a:latin typeface="Raleway" pitchFamily="34" charset="0"/>
                <a:ea typeface="Raleway" pitchFamily="34" charset="-122"/>
                <a:cs typeface="Raleway" pitchFamily="34" charset="-120"/>
              </a:rPr>
              <a:t>Difficulty of mastery rises with each level.</a:t>
            </a:r>
            <a:endParaRPr lang="en-US" sz="1400" dirty="0"/>
          </a:p>
        </p:txBody>
      </p:sp>
      <p:sp>
        <p:nvSpPr>
          <p:cNvPr id="17" name="Shape 15"/>
          <p:cNvSpPr/>
          <p:nvPr/>
        </p:nvSpPr>
        <p:spPr>
          <a:xfrm>
            <a:off x="7250410" y="1977330"/>
            <a:ext cx="1978670" cy="2288431"/>
          </a:xfrm>
          <a:prstGeom prst="roundRect">
            <a:avLst>
              <a:gd name="adj" fmla="val 4814"/>
            </a:avLst>
          </a:prstGeom>
          <a:solidFill>
            <a:srgbClr val="1A1A1A"/>
          </a:solidFill>
          <a:ln w="12700">
            <a:solidFill>
              <a:srgbClr val="2B2B2B"/>
            </a:solidFill>
            <a:prstDash val="solid"/>
          </a:ln>
        </p:spPr>
      </p:sp>
      <p:sp>
        <p:nvSpPr>
          <p:cNvPr id="18" name="Text 16"/>
          <p:cNvSpPr/>
          <p:nvPr/>
        </p:nvSpPr>
        <p:spPr>
          <a:xfrm>
            <a:off x="7459960" y="2186880"/>
            <a:ext cx="161037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04</a:t>
            </a:r>
            <a:endParaRPr lang="en-US" sz="1300" dirty="0"/>
          </a:p>
        </p:txBody>
      </p:sp>
      <p:sp>
        <p:nvSpPr>
          <p:cNvPr id="19" name="Text 17"/>
          <p:cNvSpPr/>
          <p:nvPr/>
        </p:nvSpPr>
        <p:spPr>
          <a:xfrm>
            <a:off x="7459960" y="2494211"/>
            <a:ext cx="1610370"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E9ECEF"/>
                </a:solidFill>
                <a:latin typeface="Host Grotesk" pitchFamily="34" charset="0"/>
                <a:ea typeface="Host Grotesk" pitchFamily="34" charset="-122"/>
                <a:cs typeface="Host Grotesk" pitchFamily="34" charset="-120"/>
              </a:rPr>
              <a:t>Taught on its own</a:t>
            </a:r>
            <a:endParaRPr lang="en-US" sz="1800" dirty="0"/>
          </a:p>
        </p:txBody>
      </p:sp>
      <p:sp>
        <p:nvSpPr>
          <p:cNvPr id="20" name="Text 18"/>
          <p:cNvSpPr/>
          <p:nvPr/>
        </p:nvSpPr>
        <p:spPr>
          <a:xfrm>
            <a:off x="7459960" y="3096171"/>
            <a:ext cx="161037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8B0"/>
                </a:solidFill>
                <a:latin typeface="Raleway" pitchFamily="34" charset="0"/>
                <a:ea typeface="Raleway" pitchFamily="34" charset="-122"/>
                <a:cs typeface="Raleway" pitchFamily="34" charset="-120"/>
              </a:rPr>
              <a:t>Each level is trained independently.</a:t>
            </a:r>
            <a:endParaRPr lang="en-US" sz="1400" dirty="0"/>
          </a:p>
        </p:txBody>
      </p:sp>
      <p:sp>
        <p:nvSpPr>
          <p:cNvPr id="21" name="Shape 19"/>
          <p:cNvSpPr/>
          <p:nvPr/>
        </p:nvSpPr>
        <p:spPr>
          <a:xfrm>
            <a:off x="9394180" y="1977330"/>
            <a:ext cx="1978670" cy="2288431"/>
          </a:xfrm>
          <a:prstGeom prst="roundRect">
            <a:avLst>
              <a:gd name="adj" fmla="val 4814"/>
            </a:avLst>
          </a:prstGeom>
          <a:solidFill>
            <a:srgbClr val="1A1A1A"/>
          </a:solidFill>
          <a:ln w="12700">
            <a:solidFill>
              <a:srgbClr val="2B2B2B"/>
            </a:solidFill>
            <a:prstDash val="solid"/>
          </a:ln>
        </p:spPr>
      </p:sp>
      <p:sp>
        <p:nvSpPr>
          <p:cNvPr id="22" name="Text 20"/>
          <p:cNvSpPr/>
          <p:nvPr/>
        </p:nvSpPr>
        <p:spPr>
          <a:xfrm>
            <a:off x="9603730" y="2186880"/>
            <a:ext cx="161037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05</a:t>
            </a:r>
            <a:endParaRPr lang="en-US" sz="1300" dirty="0"/>
          </a:p>
        </p:txBody>
      </p:sp>
      <p:sp>
        <p:nvSpPr>
          <p:cNvPr id="23" name="Text 21"/>
          <p:cNvSpPr/>
          <p:nvPr/>
        </p:nvSpPr>
        <p:spPr>
          <a:xfrm>
            <a:off x="9603730" y="2494211"/>
            <a:ext cx="1610370"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E9ECEF"/>
                </a:solidFill>
                <a:latin typeface="Host Grotesk" pitchFamily="34" charset="0"/>
                <a:ea typeface="Host Grotesk" pitchFamily="34" charset="-122"/>
                <a:cs typeface="Host Grotesk" pitchFamily="34" charset="-120"/>
              </a:rPr>
              <a:t>Overlays the loop</a:t>
            </a:r>
            <a:endParaRPr lang="en-US" sz="1800" dirty="0"/>
          </a:p>
        </p:txBody>
      </p:sp>
      <p:sp>
        <p:nvSpPr>
          <p:cNvPr id="24" name="Text 22"/>
          <p:cNvSpPr/>
          <p:nvPr/>
        </p:nvSpPr>
        <p:spPr>
          <a:xfrm>
            <a:off x="9603730" y="3096171"/>
            <a:ext cx="161037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8B0"/>
                </a:solidFill>
                <a:latin typeface="Raleway" pitchFamily="34" charset="0"/>
                <a:ea typeface="Raleway" pitchFamily="34" charset="-122"/>
                <a:cs typeface="Raleway" pitchFamily="34" charset="-120"/>
              </a:rPr>
              <a:t>Every stage of the interview process uses them.</a:t>
            </a:r>
            <a:endParaRPr lang="en-US" sz="1400" dirty="0"/>
          </a:p>
        </p:txBody>
      </p:sp>
      <p:pic>
        <p:nvPicPr>
          <p:cNvPr id="25"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26" name="Text 2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7" name="Text 24"/>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[ 5 ]</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L1 · COMPETENCE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Do they meet our </a:t>
            </a:r>
            <a:r>
              <a:rPr lang="en-US" sz="3600" b="1" i="0" dirty="0">
                <a:solidFill>
                  <a:srgbClr val="63E14F"/>
                </a:solidFill>
                <a:latin typeface="Host Grotesk" pitchFamily="34" charset="0"/>
                <a:ea typeface="Host Grotesk" pitchFamily="34" charset="-122"/>
                <a:cs typeface="Host Grotesk" pitchFamily="34" charset="-120"/>
              </a:rPr>
              <a:t>technical bar?</a:t>
            </a:r>
            <a:endParaRPr lang="en-US" sz="3600" dirty="0"/>
          </a:p>
        </p:txBody>
      </p:sp>
      <p:pic>
        <p:nvPicPr>
          <p:cNvPr id="5" name="Image 0" descr="Five-level staircase">    </p:cNvPr>
          <p:cNvPicPr>
            <a:picLocks noChangeAspect="1"/>
          </p:cNvPicPr>
          <p:nvPr/>
        </p:nvPicPr>
        <p:blipFill>
          <a:blip r:embed="rId1"/>
          <a:srcRect l="0" r="0" t="0" b="0"/>
          <a:stretch/>
        </p:blipFill>
        <p:spPr>
          <a:xfrm>
            <a:off x="812800" y="2054423"/>
            <a:ext cx="2540000" cy="2730500"/>
          </a:xfrm>
          <a:prstGeom prst="rect">
            <a:avLst/>
          </a:prstGeom>
        </p:spPr>
      </p:pic>
      <p:sp>
        <p:nvSpPr>
          <p:cNvPr id="6" name="Text 3"/>
          <p:cNvSpPr/>
          <p:nvPr/>
        </p:nvSpPr>
        <p:spPr>
          <a:xfrm>
            <a:off x="787400" y="4861123"/>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3E14F"/>
                </a:solidFill>
                <a:latin typeface="DM Mono" pitchFamily="49" charset="0"/>
                <a:ea typeface="DM Mono" pitchFamily="49" charset="-122"/>
                <a:cs typeface="DM Mono" pitchFamily="49" charset="-120"/>
              </a:rPr>
              <a:t>L1</a:t>
            </a:r>
            <a:endParaRPr lang="en-US" sz="1200" dirty="0"/>
          </a:p>
        </p:txBody>
      </p:sp>
      <p:sp>
        <p:nvSpPr>
          <p:cNvPr id="7" name="Text 4"/>
          <p:cNvSpPr/>
          <p:nvPr/>
        </p:nvSpPr>
        <p:spPr>
          <a:xfrm>
            <a:off x="1320800" y="4861123"/>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L2</a:t>
            </a:r>
            <a:endParaRPr lang="en-US" sz="1200" dirty="0"/>
          </a:p>
        </p:txBody>
      </p:sp>
      <p:sp>
        <p:nvSpPr>
          <p:cNvPr id="8" name="Text 5"/>
          <p:cNvSpPr/>
          <p:nvPr/>
        </p:nvSpPr>
        <p:spPr>
          <a:xfrm>
            <a:off x="1854200" y="4861123"/>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L3</a:t>
            </a:r>
            <a:endParaRPr lang="en-US" sz="1200" dirty="0"/>
          </a:p>
        </p:txBody>
      </p:sp>
      <p:sp>
        <p:nvSpPr>
          <p:cNvPr id="9" name="Text 6"/>
          <p:cNvSpPr/>
          <p:nvPr/>
        </p:nvSpPr>
        <p:spPr>
          <a:xfrm>
            <a:off x="2387600" y="4861123"/>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L4</a:t>
            </a:r>
            <a:endParaRPr lang="en-US" sz="1200" dirty="0"/>
          </a:p>
        </p:txBody>
      </p:sp>
      <p:sp>
        <p:nvSpPr>
          <p:cNvPr id="10" name="Text 7"/>
          <p:cNvSpPr/>
          <p:nvPr/>
        </p:nvSpPr>
        <p:spPr>
          <a:xfrm>
            <a:off x="2921000" y="4861123"/>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L5</a:t>
            </a:r>
            <a:endParaRPr lang="en-US" sz="1200" dirty="0"/>
          </a:p>
        </p:txBody>
      </p:sp>
      <p:sp>
        <p:nvSpPr>
          <p:cNvPr id="11" name="Text 8"/>
          <p:cNvSpPr/>
          <p:nvPr/>
        </p:nvSpPr>
        <p:spPr>
          <a:xfrm>
            <a:off x="3860800" y="1970980"/>
            <a:ext cx="774395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A3A8B0"/>
                </a:solidFill>
                <a:latin typeface="Raleway" pitchFamily="34" charset="0"/>
                <a:ea typeface="Raleway" pitchFamily="34" charset="-122"/>
                <a:cs typeface="Raleway" pitchFamily="34" charset="-120"/>
              </a:rPr>
              <a:t>Applied intelligence + technical competence.</a:t>
            </a:r>
            <a:endParaRPr lang="en-US" sz="1700" dirty="0"/>
          </a:p>
        </p:txBody>
      </p:sp>
      <p:sp>
        <p:nvSpPr>
          <p:cNvPr id="12" name="Shape 9"/>
          <p:cNvSpPr/>
          <p:nvPr/>
        </p:nvSpPr>
        <p:spPr>
          <a:xfrm>
            <a:off x="3867150" y="2395786"/>
            <a:ext cx="7505700" cy="916880"/>
          </a:xfrm>
          <a:prstGeom prst="roundRect">
            <a:avLst>
              <a:gd name="adj" fmla="val 10388"/>
            </a:avLst>
          </a:prstGeom>
          <a:solidFill>
            <a:srgbClr val="1A1A1A"/>
          </a:solidFill>
          <a:ln w="12700">
            <a:solidFill>
              <a:srgbClr val="2B2B2B"/>
            </a:solidFill>
            <a:prstDash val="solid"/>
          </a:ln>
        </p:spPr>
      </p:sp>
      <p:sp>
        <p:nvSpPr>
          <p:cNvPr id="13" name="Text 10"/>
          <p:cNvSpPr/>
          <p:nvPr/>
        </p:nvSpPr>
        <p:spPr>
          <a:xfrm>
            <a:off x="4051300" y="2614861"/>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3A8B0"/>
                </a:solidFill>
                <a:latin typeface="DM Mono" pitchFamily="49" charset="0"/>
                <a:ea typeface="DM Mono" pitchFamily="49" charset="-122"/>
                <a:cs typeface="DM Mono" pitchFamily="49" charset="-120"/>
              </a:rPr>
              <a:t>GOOD</a:t>
            </a:r>
            <a:endParaRPr lang="en-US" sz="1300" dirty="0"/>
          </a:p>
        </p:txBody>
      </p:sp>
      <p:sp>
        <p:nvSpPr>
          <p:cNvPr id="14" name="Text 11"/>
          <p:cNvSpPr/>
          <p:nvPr/>
        </p:nvSpPr>
        <p:spPr>
          <a:xfrm>
            <a:off x="5346700" y="2579936"/>
            <a:ext cx="601726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Finds valuable strengths using standard questions or problems.</a:t>
            </a:r>
            <a:endParaRPr lang="en-US" sz="1600" dirty="0"/>
          </a:p>
        </p:txBody>
      </p:sp>
      <p:sp>
        <p:nvSpPr>
          <p:cNvPr id="15" name="Shape 12"/>
          <p:cNvSpPr/>
          <p:nvPr/>
        </p:nvSpPr>
        <p:spPr>
          <a:xfrm>
            <a:off x="3867150" y="3452366"/>
            <a:ext cx="7505700" cy="916880"/>
          </a:xfrm>
          <a:prstGeom prst="roundRect">
            <a:avLst>
              <a:gd name="adj" fmla="val 10388"/>
            </a:avLst>
          </a:prstGeom>
          <a:solidFill>
            <a:srgbClr val="1A1A1A"/>
          </a:solidFill>
          <a:ln w="12700">
            <a:solidFill>
              <a:srgbClr val="2B2B2B"/>
            </a:solidFill>
            <a:prstDash val="solid"/>
          </a:ln>
        </p:spPr>
      </p:sp>
      <p:sp>
        <p:nvSpPr>
          <p:cNvPr id="16" name="Text 13"/>
          <p:cNvSpPr/>
          <p:nvPr/>
        </p:nvSpPr>
        <p:spPr>
          <a:xfrm>
            <a:off x="4051300" y="3671441"/>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3A8B0"/>
                </a:solidFill>
                <a:latin typeface="DM Mono" pitchFamily="49" charset="0"/>
                <a:ea typeface="DM Mono" pitchFamily="49" charset="-122"/>
                <a:cs typeface="DM Mono" pitchFamily="49" charset="-120"/>
              </a:rPr>
              <a:t>BETTER</a:t>
            </a:r>
            <a:endParaRPr lang="en-US" sz="1300" dirty="0"/>
          </a:p>
        </p:txBody>
      </p:sp>
      <p:sp>
        <p:nvSpPr>
          <p:cNvPr id="17" name="Text 14"/>
          <p:cNvSpPr/>
          <p:nvPr/>
        </p:nvSpPr>
        <p:spPr>
          <a:xfrm>
            <a:off x="5346700" y="3636516"/>
            <a:ext cx="601726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Changes style to fit the candidate: standard questions, interactive problem solving, or their past work.</a:t>
            </a:r>
            <a:endParaRPr lang="en-US" sz="1600" dirty="0"/>
          </a:p>
        </p:txBody>
      </p:sp>
      <p:sp>
        <p:nvSpPr>
          <p:cNvPr id="18" name="Shape 15"/>
          <p:cNvSpPr/>
          <p:nvPr/>
        </p:nvSpPr>
        <p:spPr>
          <a:xfrm>
            <a:off x="3867150" y="4508946"/>
            <a:ext cx="7505700" cy="642590"/>
          </a:xfrm>
          <a:prstGeom prst="roundRect">
            <a:avLst>
              <a:gd name="adj" fmla="val 14823"/>
            </a:avLst>
          </a:prstGeom>
          <a:solidFill>
            <a:srgbClr val="1A1A1A"/>
          </a:solidFill>
          <a:ln w="12700">
            <a:solidFill>
              <a:srgbClr val="63E14F"/>
            </a:solidFill>
            <a:prstDash val="solid"/>
          </a:ln>
        </p:spPr>
      </p:sp>
      <p:sp>
        <p:nvSpPr>
          <p:cNvPr id="19" name="Text 16"/>
          <p:cNvSpPr/>
          <p:nvPr/>
        </p:nvSpPr>
        <p:spPr>
          <a:xfrm>
            <a:off x="4051300" y="4728021"/>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BEST</a:t>
            </a:r>
            <a:endParaRPr lang="en-US" sz="1300" dirty="0"/>
          </a:p>
        </p:txBody>
      </p:sp>
      <p:sp>
        <p:nvSpPr>
          <p:cNvPr id="20" name="Text 17"/>
          <p:cNvSpPr/>
          <p:nvPr/>
        </p:nvSpPr>
        <p:spPr>
          <a:xfrm>
            <a:off x="5346700" y="4693096"/>
            <a:ext cx="2087285"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Makes it look easy.</a:t>
            </a:r>
            <a:endParaRPr lang="en-US" sz="1600" dirty="0"/>
          </a:p>
        </p:txBody>
      </p:sp>
      <p:pic>
        <p:nvPicPr>
          <p:cNvPr id="21"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22" name="Text 1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3" name="Text 19"/>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[ 6 ]</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L1 · COMPETENCE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Senior isn’t </a:t>
            </a:r>
            <a:r>
              <a:rPr lang="en-US" sz="3600" b="1" i="0" dirty="0">
                <a:solidFill>
                  <a:srgbClr val="63E14F"/>
                </a:solidFill>
                <a:latin typeface="Host Grotesk" pitchFamily="34" charset="0"/>
                <a:ea typeface="Host Grotesk" pitchFamily="34" charset="-122"/>
                <a:cs typeface="Host Grotesk" pitchFamily="34" charset="-120"/>
              </a:rPr>
              <a:t>“knows what I know.”</a:t>
            </a:r>
            <a:endParaRPr lang="en-US" sz="3600" dirty="0"/>
          </a:p>
        </p:txBody>
      </p:sp>
      <p:sp>
        <p:nvSpPr>
          <p:cNvPr id="5" name="Shape 3"/>
          <p:cNvSpPr/>
          <p:nvPr/>
        </p:nvSpPr>
        <p:spPr>
          <a:xfrm>
            <a:off x="819150" y="1977330"/>
            <a:ext cx="5168900" cy="2104380"/>
          </a:xfrm>
          <a:prstGeom prst="roundRect">
            <a:avLst>
              <a:gd name="adj" fmla="val 4526"/>
            </a:avLst>
          </a:prstGeom>
          <a:solidFill>
            <a:srgbClr val="1A1A1A"/>
          </a:solidFill>
          <a:ln w="12700">
            <a:solidFill>
              <a:srgbClr val="2B2B2B"/>
            </a:solidFill>
            <a:prstDash val="solid"/>
          </a:ln>
        </p:spPr>
      </p:sp>
      <p:sp>
        <p:nvSpPr>
          <p:cNvPr id="6" name="Text 4"/>
          <p:cNvSpPr/>
          <p:nvPr/>
        </p:nvSpPr>
        <p:spPr>
          <a:xfrm>
            <a:off x="1079500" y="2237680"/>
            <a:ext cx="4787646"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F832A"/>
                </a:solidFill>
                <a:latin typeface="DM Mono" pitchFamily="49" charset="0"/>
                <a:ea typeface="DM Mono" pitchFamily="49" charset="-122"/>
                <a:cs typeface="DM Mono" pitchFamily="49" charset="-120"/>
              </a:rPr>
              <a:t>WRONG BAR</a:t>
            </a:r>
            <a:endParaRPr lang="en-US" sz="1300" dirty="0"/>
          </a:p>
        </p:txBody>
      </p:sp>
      <p:sp>
        <p:nvSpPr>
          <p:cNvPr id="7" name="Text 5"/>
          <p:cNvSpPr/>
          <p:nvPr/>
        </p:nvSpPr>
        <p:spPr>
          <a:xfrm>
            <a:off x="1079500" y="2545011"/>
            <a:ext cx="4787646"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E9ECEF"/>
                </a:solidFill>
                <a:latin typeface="Raleway" pitchFamily="34" charset="0"/>
                <a:ea typeface="Raleway" pitchFamily="34" charset="-122"/>
                <a:cs typeface="Raleway" pitchFamily="34" charset="-120"/>
              </a:rPr>
              <a:t>“Do they know what I know?”</a:t>
            </a:r>
            <a:endParaRPr lang="en-US" sz="2000" dirty="0"/>
          </a:p>
        </p:txBody>
      </p:sp>
      <p:sp>
        <p:nvSpPr>
          <p:cNvPr id="8" name="Text 6"/>
          <p:cNvSpPr/>
          <p:nvPr/>
        </p:nvSpPr>
        <p:spPr>
          <a:xfrm>
            <a:off x="1079500" y="2964111"/>
            <a:ext cx="478764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Knowledge comes from experience. Yours and theirs aren’t comparable.</a:t>
            </a:r>
            <a:endParaRPr lang="en-US" sz="1500" dirty="0"/>
          </a:p>
        </p:txBody>
      </p:sp>
      <p:sp>
        <p:nvSpPr>
          <p:cNvPr id="9" name="Shape 7"/>
          <p:cNvSpPr/>
          <p:nvPr/>
        </p:nvSpPr>
        <p:spPr>
          <a:xfrm>
            <a:off x="6203950" y="1977330"/>
            <a:ext cx="5168900" cy="2104380"/>
          </a:xfrm>
          <a:prstGeom prst="roundRect">
            <a:avLst>
              <a:gd name="adj" fmla="val 4526"/>
            </a:avLst>
          </a:prstGeom>
          <a:solidFill>
            <a:srgbClr val="1A1A1A"/>
          </a:solidFill>
          <a:ln w="12700">
            <a:solidFill>
              <a:srgbClr val="63E14F"/>
            </a:solidFill>
            <a:prstDash val="solid"/>
          </a:ln>
        </p:spPr>
      </p:sp>
      <p:sp>
        <p:nvSpPr>
          <p:cNvPr id="10" name="Text 8"/>
          <p:cNvSpPr/>
          <p:nvPr/>
        </p:nvSpPr>
        <p:spPr>
          <a:xfrm>
            <a:off x="6464300" y="2237680"/>
            <a:ext cx="4787646"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RIGHT BAR</a:t>
            </a:r>
            <a:endParaRPr lang="en-US" sz="1300" dirty="0"/>
          </a:p>
        </p:txBody>
      </p:sp>
      <p:sp>
        <p:nvSpPr>
          <p:cNvPr id="11" name="Text 9"/>
          <p:cNvSpPr/>
          <p:nvPr/>
        </p:nvSpPr>
        <p:spPr>
          <a:xfrm>
            <a:off x="6464300" y="2545011"/>
            <a:ext cx="4787646"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E9ECEF"/>
                </a:solidFill>
                <a:latin typeface="Raleway" pitchFamily="34" charset="0"/>
                <a:ea typeface="Raleway" pitchFamily="34" charset="-122"/>
                <a:cs typeface="Raleway" pitchFamily="34" charset="-120"/>
              </a:rPr>
              <a:t>“What should they know, given their path?”</a:t>
            </a:r>
            <a:endParaRPr lang="en-US" sz="2000" dirty="0"/>
          </a:p>
        </p:txBody>
      </p:sp>
      <p:sp>
        <p:nvSpPr>
          <p:cNvPr id="12" name="Text 10"/>
          <p:cNvSpPr/>
          <p:nvPr/>
        </p:nvSpPr>
        <p:spPr>
          <a:xfrm>
            <a:off x="6464300" y="3307011"/>
            <a:ext cx="478764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Read the résumé, then test what that experience should have taught them.</a:t>
            </a:r>
            <a:endParaRPr lang="en-US" sz="1500" dirty="0"/>
          </a:p>
        </p:txBody>
      </p:sp>
      <p:sp>
        <p:nvSpPr>
          <p:cNvPr id="13" name="Text 11"/>
          <p:cNvSpPr/>
          <p:nvPr/>
        </p:nvSpPr>
        <p:spPr>
          <a:xfrm>
            <a:off x="812800" y="4457601"/>
            <a:ext cx="1320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8B9097"/>
                </a:solidFill>
                <a:latin typeface="DM Mono" pitchFamily="49" charset="0"/>
                <a:ea typeface="DM Mono" pitchFamily="49" charset="-122"/>
                <a:cs typeface="DM Mono" pitchFamily="49" charset="-120"/>
              </a:rPr>
              <a:t>LOOK FOR</a:t>
            </a:r>
            <a:endParaRPr lang="en-US" sz="1300" dirty="0"/>
          </a:p>
        </p:txBody>
      </p:sp>
      <p:sp>
        <p:nvSpPr>
          <p:cNvPr id="14" name="Text 12"/>
          <p:cNvSpPr/>
          <p:nvPr/>
        </p:nvSpPr>
        <p:spPr>
          <a:xfrm>
            <a:off x="2241550" y="4348411"/>
            <a:ext cx="1329134" cy="44956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240"/>
              </a:lnSpc>
              <a:buNone/>
            </a:pPr>
            <a:r>
              <a:rPr lang="en-US" sz="1600" dirty="0">
                <a:solidFill>
                  <a:srgbClr val="63E14F"/>
                </a:solidFill>
                <a:latin typeface="Raleway" pitchFamily="34" charset="0"/>
                <a:ea typeface="Raleway" pitchFamily="34" charset="-122"/>
                <a:cs typeface="Raleway" pitchFamily="34" charset="-120"/>
              </a:rPr>
              <a:t>Judgment</a:t>
            </a:r>
            <a:endParaRPr lang="en-US" sz="1600" dirty="0"/>
          </a:p>
        </p:txBody>
      </p:sp>
      <p:sp>
        <p:nvSpPr>
          <p:cNvPr id="15" name="Text 13"/>
          <p:cNvSpPr/>
          <p:nvPr/>
        </p:nvSpPr>
        <p:spPr>
          <a:xfrm>
            <a:off x="3684984" y="4348411"/>
            <a:ext cx="1847056" cy="44956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240"/>
              </a:lnSpc>
              <a:buNone/>
            </a:pPr>
            <a:r>
              <a:rPr lang="en-US" sz="1600" dirty="0">
                <a:solidFill>
                  <a:srgbClr val="63E14F"/>
                </a:solidFill>
                <a:latin typeface="Raleway" pitchFamily="34" charset="0"/>
                <a:ea typeface="Raleway" pitchFamily="34" charset="-122"/>
                <a:cs typeface="Raleway" pitchFamily="34" charset="-120"/>
              </a:rPr>
              <a:t>Good questions</a:t>
            </a:r>
            <a:endParaRPr lang="en-US" sz="1600" dirty="0"/>
          </a:p>
        </p:txBody>
      </p:sp>
      <p:sp>
        <p:nvSpPr>
          <p:cNvPr id="16" name="Text 14"/>
          <p:cNvSpPr/>
          <p:nvPr/>
        </p:nvSpPr>
        <p:spPr>
          <a:xfrm>
            <a:off x="5646341" y="4348411"/>
            <a:ext cx="1628577" cy="449560"/>
          </a:xfrm>
          <a:prstGeom prst="roundRect">
            <a:avLst>
              <a:gd name="adj" fmla="val 50000"/>
            </a:avLst>
          </a:prstGeom>
          <a:solidFill>
            <a:srgbClr val="1C2619"/>
          </a:solidFill>
          <a:ln w="12700">
            <a:solidFill>
              <a:srgbClr val="2F4A2A"/>
            </a:solidFill>
            <a:prstDash val="solid"/>
          </a:ln>
        </p:spPr>
        <p:txBody>
          <a:bodyPr wrap="none" lIns="0" tIns="0" rIns="0" bIns="0" rtlCol="0" anchor="ctr">
            <a:normAutofit/>
          </a:bodyPr>
          <a:lstStyle/>
          <a:p>
            <a:pPr algn="ctr" indent="0" marL="0">
              <a:lnSpc>
                <a:spcPts val="2240"/>
              </a:lnSpc>
              <a:buNone/>
            </a:pPr>
            <a:r>
              <a:rPr lang="en-US" sz="1600" dirty="0">
                <a:solidFill>
                  <a:srgbClr val="63E14F"/>
                </a:solidFill>
                <a:latin typeface="Raleway" pitchFamily="34" charset="0"/>
                <a:ea typeface="Raleway" pitchFamily="34" charset="-122"/>
                <a:cs typeface="Raleway" pitchFamily="34" charset="-120"/>
              </a:rPr>
              <a:t>Improvisation</a:t>
            </a:r>
            <a:endParaRPr lang="en-US" sz="1600" dirty="0"/>
          </a:p>
        </p:txBody>
      </p:sp>
      <p:pic>
        <p:nvPicPr>
          <p:cNvPr id="17"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18" name="Text 15"/>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9" name="Text 16"/>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[ 7 ]</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L2 · POTENTIAL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What is their </a:t>
            </a:r>
            <a:r>
              <a:rPr lang="en-US" sz="3600" b="1" i="0" dirty="0">
                <a:solidFill>
                  <a:srgbClr val="63E14F"/>
                </a:solidFill>
                <a:latin typeface="Host Grotesk" pitchFamily="34" charset="0"/>
                <a:ea typeface="Host Grotesk" pitchFamily="34" charset="-122"/>
                <a:cs typeface="Host Grotesk" pitchFamily="34" charset="-120"/>
              </a:rPr>
              <a:t>potential?</a:t>
            </a:r>
            <a:endParaRPr lang="en-US" sz="3600" dirty="0"/>
          </a:p>
        </p:txBody>
      </p:sp>
      <p:pic>
        <p:nvPicPr>
          <p:cNvPr id="5" name="Image 0" descr="Five-level staircase">    </p:cNvPr>
          <p:cNvPicPr>
            <a:picLocks noChangeAspect="1"/>
          </p:cNvPicPr>
          <p:nvPr/>
        </p:nvPicPr>
        <p:blipFill>
          <a:blip r:embed="rId1"/>
          <a:srcRect l="0" r="0" t="0" b="0"/>
          <a:stretch/>
        </p:blipFill>
        <p:spPr>
          <a:xfrm>
            <a:off x="812800" y="1970980"/>
            <a:ext cx="2540000" cy="2730500"/>
          </a:xfrm>
          <a:prstGeom prst="rect">
            <a:avLst/>
          </a:prstGeom>
        </p:spPr>
      </p:pic>
      <p:sp>
        <p:nvSpPr>
          <p:cNvPr id="6" name="Text 3"/>
          <p:cNvSpPr/>
          <p:nvPr/>
        </p:nvSpPr>
        <p:spPr>
          <a:xfrm>
            <a:off x="787400" y="4777680"/>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L1</a:t>
            </a:r>
            <a:endParaRPr lang="en-US" sz="1200" dirty="0"/>
          </a:p>
        </p:txBody>
      </p:sp>
      <p:sp>
        <p:nvSpPr>
          <p:cNvPr id="7" name="Text 4"/>
          <p:cNvSpPr/>
          <p:nvPr/>
        </p:nvSpPr>
        <p:spPr>
          <a:xfrm>
            <a:off x="1320800" y="4777680"/>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3E14F"/>
                </a:solidFill>
                <a:latin typeface="DM Mono" pitchFamily="49" charset="0"/>
                <a:ea typeface="DM Mono" pitchFamily="49" charset="-122"/>
                <a:cs typeface="DM Mono" pitchFamily="49" charset="-120"/>
              </a:rPr>
              <a:t>L2</a:t>
            </a:r>
            <a:endParaRPr lang="en-US" sz="1200" dirty="0"/>
          </a:p>
        </p:txBody>
      </p:sp>
      <p:sp>
        <p:nvSpPr>
          <p:cNvPr id="8" name="Text 5"/>
          <p:cNvSpPr/>
          <p:nvPr/>
        </p:nvSpPr>
        <p:spPr>
          <a:xfrm>
            <a:off x="1854200" y="4777680"/>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L3</a:t>
            </a:r>
            <a:endParaRPr lang="en-US" sz="1200" dirty="0"/>
          </a:p>
        </p:txBody>
      </p:sp>
      <p:sp>
        <p:nvSpPr>
          <p:cNvPr id="9" name="Text 6"/>
          <p:cNvSpPr/>
          <p:nvPr/>
        </p:nvSpPr>
        <p:spPr>
          <a:xfrm>
            <a:off x="2387600" y="4777680"/>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L4</a:t>
            </a:r>
            <a:endParaRPr lang="en-US" sz="1200" dirty="0"/>
          </a:p>
        </p:txBody>
      </p:sp>
      <p:sp>
        <p:nvSpPr>
          <p:cNvPr id="10" name="Text 7"/>
          <p:cNvSpPr/>
          <p:nvPr/>
        </p:nvSpPr>
        <p:spPr>
          <a:xfrm>
            <a:off x="2921000" y="4777680"/>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L5</a:t>
            </a:r>
            <a:endParaRPr lang="en-US" sz="1200" dirty="0"/>
          </a:p>
        </p:txBody>
      </p:sp>
      <p:sp>
        <p:nvSpPr>
          <p:cNvPr id="11" name="Text 8"/>
          <p:cNvSpPr/>
          <p:nvPr/>
        </p:nvSpPr>
        <p:spPr>
          <a:xfrm>
            <a:off x="3860800" y="2161828"/>
            <a:ext cx="774395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A3A8B0"/>
                </a:solidFill>
                <a:latin typeface="Raleway" pitchFamily="34" charset="0"/>
                <a:ea typeface="Raleway" pitchFamily="34" charset="-122"/>
                <a:cs typeface="Raleway" pitchFamily="34" charset="-120"/>
              </a:rPr>
              <a:t>Interviewing for potential, not just today’s skill.</a:t>
            </a:r>
            <a:endParaRPr lang="en-US" sz="1700" dirty="0"/>
          </a:p>
        </p:txBody>
      </p:sp>
      <p:sp>
        <p:nvSpPr>
          <p:cNvPr id="12" name="Shape 9"/>
          <p:cNvSpPr/>
          <p:nvPr/>
        </p:nvSpPr>
        <p:spPr>
          <a:xfrm>
            <a:off x="3867150" y="2586633"/>
            <a:ext cx="7505700" cy="642590"/>
          </a:xfrm>
          <a:prstGeom prst="roundRect">
            <a:avLst>
              <a:gd name="adj" fmla="val 14823"/>
            </a:avLst>
          </a:prstGeom>
          <a:solidFill>
            <a:srgbClr val="1A1A1A"/>
          </a:solidFill>
          <a:ln w="12700">
            <a:solidFill>
              <a:srgbClr val="2B2B2B"/>
            </a:solidFill>
            <a:prstDash val="solid"/>
          </a:ln>
        </p:spPr>
      </p:sp>
      <p:sp>
        <p:nvSpPr>
          <p:cNvPr id="13" name="Text 10"/>
          <p:cNvSpPr/>
          <p:nvPr/>
        </p:nvSpPr>
        <p:spPr>
          <a:xfrm>
            <a:off x="4051300" y="2805708"/>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3A8B0"/>
                </a:solidFill>
                <a:latin typeface="DM Mono" pitchFamily="49" charset="0"/>
                <a:ea typeface="DM Mono" pitchFamily="49" charset="-122"/>
                <a:cs typeface="DM Mono" pitchFamily="49" charset="-120"/>
              </a:rPr>
              <a:t>GOOD</a:t>
            </a:r>
            <a:endParaRPr lang="en-US" sz="1300" dirty="0"/>
          </a:p>
        </p:txBody>
      </p:sp>
      <p:sp>
        <p:nvSpPr>
          <p:cNvPr id="14" name="Text 11"/>
          <p:cNvSpPr/>
          <p:nvPr/>
        </p:nvSpPr>
        <p:spPr>
          <a:xfrm>
            <a:off x="5346700" y="2770783"/>
            <a:ext cx="583227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Finds repeated examples of high-potential behavior.</a:t>
            </a:r>
            <a:endParaRPr lang="en-US" sz="1600" dirty="0"/>
          </a:p>
        </p:txBody>
      </p:sp>
      <p:sp>
        <p:nvSpPr>
          <p:cNvPr id="15" name="Shape 12"/>
          <p:cNvSpPr/>
          <p:nvPr/>
        </p:nvSpPr>
        <p:spPr>
          <a:xfrm>
            <a:off x="3867150" y="3368923"/>
            <a:ext cx="7505700" cy="642590"/>
          </a:xfrm>
          <a:prstGeom prst="roundRect">
            <a:avLst>
              <a:gd name="adj" fmla="val 14823"/>
            </a:avLst>
          </a:prstGeom>
          <a:solidFill>
            <a:srgbClr val="1A1A1A"/>
          </a:solidFill>
          <a:ln w="12700">
            <a:solidFill>
              <a:srgbClr val="2B2B2B"/>
            </a:solidFill>
            <a:prstDash val="solid"/>
          </a:ln>
        </p:spPr>
      </p:sp>
      <p:sp>
        <p:nvSpPr>
          <p:cNvPr id="16" name="Text 13"/>
          <p:cNvSpPr/>
          <p:nvPr/>
        </p:nvSpPr>
        <p:spPr>
          <a:xfrm>
            <a:off x="4051300" y="3587998"/>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3A8B0"/>
                </a:solidFill>
                <a:latin typeface="DM Mono" pitchFamily="49" charset="0"/>
                <a:ea typeface="DM Mono" pitchFamily="49" charset="-122"/>
                <a:cs typeface="DM Mono" pitchFamily="49" charset="-120"/>
              </a:rPr>
              <a:t>BETTER</a:t>
            </a:r>
            <a:endParaRPr lang="en-US" sz="1300" dirty="0"/>
          </a:p>
        </p:txBody>
      </p:sp>
      <p:sp>
        <p:nvSpPr>
          <p:cNvPr id="17" name="Text 14"/>
          <p:cNvSpPr/>
          <p:nvPr/>
        </p:nvSpPr>
        <p:spPr>
          <a:xfrm>
            <a:off x="5346700" y="3553073"/>
            <a:ext cx="4748153"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Finds the limits: what are their blind spots?</a:t>
            </a:r>
            <a:endParaRPr lang="en-US" sz="1600" dirty="0"/>
          </a:p>
        </p:txBody>
      </p:sp>
      <p:sp>
        <p:nvSpPr>
          <p:cNvPr id="18" name="Shape 15"/>
          <p:cNvSpPr/>
          <p:nvPr/>
        </p:nvSpPr>
        <p:spPr>
          <a:xfrm>
            <a:off x="3867150" y="4151213"/>
            <a:ext cx="7505700" cy="642590"/>
          </a:xfrm>
          <a:prstGeom prst="roundRect">
            <a:avLst>
              <a:gd name="adj" fmla="val 14823"/>
            </a:avLst>
          </a:prstGeom>
          <a:solidFill>
            <a:srgbClr val="1A1A1A"/>
          </a:solidFill>
          <a:ln w="12700">
            <a:solidFill>
              <a:srgbClr val="63E14F"/>
            </a:solidFill>
            <a:prstDash val="solid"/>
          </a:ln>
        </p:spPr>
      </p:sp>
      <p:sp>
        <p:nvSpPr>
          <p:cNvPr id="19" name="Text 16"/>
          <p:cNvSpPr/>
          <p:nvPr/>
        </p:nvSpPr>
        <p:spPr>
          <a:xfrm>
            <a:off x="4051300" y="4370288"/>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BEST</a:t>
            </a:r>
            <a:endParaRPr lang="en-US" sz="1300" dirty="0"/>
          </a:p>
        </p:txBody>
      </p:sp>
      <p:sp>
        <p:nvSpPr>
          <p:cNvPr id="20" name="Text 17"/>
          <p:cNvSpPr/>
          <p:nvPr/>
        </p:nvSpPr>
        <p:spPr>
          <a:xfrm>
            <a:off x="5346700" y="4335363"/>
            <a:ext cx="6019800"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Knows whether what unlocks their potential exists here.</a:t>
            </a:r>
            <a:endParaRPr lang="en-US" sz="1600" dirty="0"/>
          </a:p>
        </p:txBody>
      </p:sp>
      <p:pic>
        <p:nvPicPr>
          <p:cNvPr id="21"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22" name="Text 1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3" name="Text 19"/>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[ 9 ]</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L2 · POTENTIAL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What does potential </a:t>
            </a:r>
            <a:r>
              <a:rPr lang="en-US" sz="3600" b="1" i="0" dirty="0">
                <a:solidFill>
                  <a:srgbClr val="63E14F"/>
                </a:solidFill>
                <a:latin typeface="Host Grotesk" pitchFamily="34" charset="0"/>
                <a:ea typeface="Host Grotesk" pitchFamily="34" charset="-122"/>
                <a:cs typeface="Host Grotesk" pitchFamily="34" charset="-120"/>
              </a:rPr>
              <a:t>look like?</a:t>
            </a:r>
            <a:endParaRPr lang="en-US" sz="3600" dirty="0"/>
          </a:p>
        </p:txBody>
      </p:sp>
      <p:sp>
        <p:nvSpPr>
          <p:cNvPr id="5" name="Shape 3"/>
          <p:cNvSpPr/>
          <p:nvPr/>
        </p:nvSpPr>
        <p:spPr>
          <a:xfrm>
            <a:off x="819150" y="1977330"/>
            <a:ext cx="1998960" cy="2193131"/>
          </a:xfrm>
          <a:prstGeom prst="roundRect">
            <a:avLst>
              <a:gd name="adj" fmla="val 4765"/>
            </a:avLst>
          </a:prstGeom>
          <a:solidFill>
            <a:srgbClr val="1A1A1A"/>
          </a:solidFill>
          <a:ln w="12700">
            <a:solidFill>
              <a:srgbClr val="2B2B2B"/>
            </a:solidFill>
            <a:prstDash val="solid"/>
          </a:ln>
        </p:spPr>
      </p:sp>
      <p:sp>
        <p:nvSpPr>
          <p:cNvPr id="6" name="Text 4"/>
          <p:cNvSpPr/>
          <p:nvPr/>
        </p:nvSpPr>
        <p:spPr>
          <a:xfrm>
            <a:off x="1003300" y="2161480"/>
            <a:ext cx="1681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01</a:t>
            </a:r>
            <a:endParaRPr lang="en-US" sz="1200" dirty="0"/>
          </a:p>
        </p:txBody>
      </p:sp>
      <p:sp>
        <p:nvSpPr>
          <p:cNvPr id="7" name="Text 5"/>
          <p:cNvSpPr/>
          <p:nvPr/>
        </p:nvSpPr>
        <p:spPr>
          <a:xfrm>
            <a:off x="1003300" y="2451001"/>
            <a:ext cx="168146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9ECEF"/>
                </a:solidFill>
                <a:latin typeface="Host Grotesk" pitchFamily="34" charset="0"/>
                <a:ea typeface="Host Grotesk" pitchFamily="34" charset="-122"/>
                <a:cs typeface="Host Grotesk" pitchFamily="34" charset="-120"/>
              </a:rPr>
              <a:t>Motivation</a:t>
            </a:r>
            <a:endParaRPr lang="en-US" sz="1700" dirty="0"/>
          </a:p>
        </p:txBody>
      </p:sp>
      <p:sp>
        <p:nvSpPr>
          <p:cNvPr id="8" name="Text 6"/>
          <p:cNvSpPr/>
          <p:nvPr/>
        </p:nvSpPr>
        <p:spPr>
          <a:xfrm>
            <a:off x="1003300" y="2786261"/>
            <a:ext cx="1681460"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8B0"/>
                </a:solidFill>
                <a:latin typeface="Raleway" pitchFamily="34" charset="0"/>
                <a:ea typeface="Raleway" pitchFamily="34" charset="-122"/>
                <a:cs typeface="Raleway" pitchFamily="34" charset="-120"/>
              </a:rPr>
              <a:t>A fierce commitment to excel in pursuit of unselfish goals.</a:t>
            </a:r>
            <a:endParaRPr lang="en-US" sz="1400" dirty="0"/>
          </a:p>
        </p:txBody>
      </p:sp>
      <p:sp>
        <p:nvSpPr>
          <p:cNvPr id="9" name="Shape 7"/>
          <p:cNvSpPr/>
          <p:nvPr/>
        </p:nvSpPr>
        <p:spPr>
          <a:xfrm>
            <a:off x="2957810" y="1977330"/>
            <a:ext cx="1999010" cy="2193131"/>
          </a:xfrm>
          <a:prstGeom prst="roundRect">
            <a:avLst>
              <a:gd name="adj" fmla="val 4765"/>
            </a:avLst>
          </a:prstGeom>
          <a:solidFill>
            <a:srgbClr val="1A1A1A"/>
          </a:solidFill>
          <a:ln w="12700">
            <a:solidFill>
              <a:srgbClr val="2B2B2B"/>
            </a:solidFill>
            <a:prstDash val="solid"/>
          </a:ln>
        </p:spPr>
      </p:sp>
      <p:sp>
        <p:nvSpPr>
          <p:cNvPr id="10" name="Text 8"/>
          <p:cNvSpPr/>
          <p:nvPr/>
        </p:nvSpPr>
        <p:spPr>
          <a:xfrm>
            <a:off x="3141960" y="2161480"/>
            <a:ext cx="168151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02</a:t>
            </a:r>
            <a:endParaRPr lang="en-US" sz="1200" dirty="0"/>
          </a:p>
        </p:txBody>
      </p:sp>
      <p:sp>
        <p:nvSpPr>
          <p:cNvPr id="11" name="Text 9"/>
          <p:cNvSpPr/>
          <p:nvPr/>
        </p:nvSpPr>
        <p:spPr>
          <a:xfrm>
            <a:off x="3141960" y="2451001"/>
            <a:ext cx="168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9ECEF"/>
                </a:solidFill>
                <a:latin typeface="Host Grotesk" pitchFamily="34" charset="0"/>
                <a:ea typeface="Host Grotesk" pitchFamily="34" charset="-122"/>
                <a:cs typeface="Host Grotesk" pitchFamily="34" charset="-120"/>
              </a:rPr>
              <a:t>Curiosity</a:t>
            </a:r>
            <a:endParaRPr lang="en-US" sz="1700" dirty="0"/>
          </a:p>
        </p:txBody>
      </p:sp>
      <p:sp>
        <p:nvSpPr>
          <p:cNvPr id="12" name="Text 10"/>
          <p:cNvSpPr/>
          <p:nvPr/>
        </p:nvSpPr>
        <p:spPr>
          <a:xfrm>
            <a:off x="3141960" y="2786261"/>
            <a:ext cx="1681510" cy="122545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8B0"/>
                </a:solidFill>
                <a:latin typeface="Raleway" pitchFamily="34" charset="0"/>
                <a:ea typeface="Raleway" pitchFamily="34" charset="-122"/>
                <a:cs typeface="Raleway" pitchFamily="34" charset="-120"/>
              </a:rPr>
              <a:t>Seeks new experiences, knowledge and candid feedback, to grow.</a:t>
            </a:r>
            <a:endParaRPr lang="en-US" sz="1400" dirty="0"/>
          </a:p>
        </p:txBody>
      </p:sp>
      <p:sp>
        <p:nvSpPr>
          <p:cNvPr id="13" name="Shape 11"/>
          <p:cNvSpPr/>
          <p:nvPr/>
        </p:nvSpPr>
        <p:spPr>
          <a:xfrm>
            <a:off x="5096520" y="1977330"/>
            <a:ext cx="1998960" cy="2193131"/>
          </a:xfrm>
          <a:prstGeom prst="roundRect">
            <a:avLst>
              <a:gd name="adj" fmla="val 4765"/>
            </a:avLst>
          </a:prstGeom>
          <a:solidFill>
            <a:srgbClr val="1A1A1A"/>
          </a:solidFill>
          <a:ln w="12700">
            <a:solidFill>
              <a:srgbClr val="2B2B2B"/>
            </a:solidFill>
            <a:prstDash val="solid"/>
          </a:ln>
        </p:spPr>
      </p:sp>
      <p:sp>
        <p:nvSpPr>
          <p:cNvPr id="14" name="Text 12"/>
          <p:cNvSpPr/>
          <p:nvPr/>
        </p:nvSpPr>
        <p:spPr>
          <a:xfrm>
            <a:off x="5280670" y="2161480"/>
            <a:ext cx="1681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03</a:t>
            </a:r>
            <a:endParaRPr lang="en-US" sz="1200" dirty="0"/>
          </a:p>
        </p:txBody>
      </p:sp>
      <p:sp>
        <p:nvSpPr>
          <p:cNvPr id="15" name="Text 13"/>
          <p:cNvSpPr/>
          <p:nvPr/>
        </p:nvSpPr>
        <p:spPr>
          <a:xfrm>
            <a:off x="5280670" y="2451001"/>
            <a:ext cx="168146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9ECEF"/>
                </a:solidFill>
                <a:latin typeface="Host Grotesk" pitchFamily="34" charset="0"/>
                <a:ea typeface="Host Grotesk" pitchFamily="34" charset="-122"/>
                <a:cs typeface="Host Grotesk" pitchFamily="34" charset="-120"/>
              </a:rPr>
              <a:t>Insight</a:t>
            </a:r>
            <a:endParaRPr lang="en-US" sz="1700" dirty="0"/>
          </a:p>
        </p:txBody>
      </p:sp>
      <p:sp>
        <p:nvSpPr>
          <p:cNvPr id="16" name="Text 14"/>
          <p:cNvSpPr/>
          <p:nvPr/>
        </p:nvSpPr>
        <p:spPr>
          <a:xfrm>
            <a:off x="5280670" y="2786261"/>
            <a:ext cx="1681460" cy="122545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8B0"/>
                </a:solidFill>
                <a:latin typeface="Raleway" pitchFamily="34" charset="0"/>
                <a:ea typeface="Raleway" pitchFamily="34" charset="-122"/>
                <a:cs typeface="Raleway" pitchFamily="34" charset="-120"/>
              </a:rPr>
              <a:t>Gathers and makes sense of information that suggests new possibilities.</a:t>
            </a:r>
            <a:endParaRPr lang="en-US" sz="1400" dirty="0"/>
          </a:p>
        </p:txBody>
      </p:sp>
      <p:sp>
        <p:nvSpPr>
          <p:cNvPr id="17" name="Shape 15"/>
          <p:cNvSpPr/>
          <p:nvPr/>
        </p:nvSpPr>
        <p:spPr>
          <a:xfrm>
            <a:off x="7235180" y="1977330"/>
            <a:ext cx="1999010" cy="2193131"/>
          </a:xfrm>
          <a:prstGeom prst="roundRect">
            <a:avLst>
              <a:gd name="adj" fmla="val 4765"/>
            </a:avLst>
          </a:prstGeom>
          <a:solidFill>
            <a:srgbClr val="1A1A1A"/>
          </a:solidFill>
          <a:ln w="12700">
            <a:solidFill>
              <a:srgbClr val="2B2B2B"/>
            </a:solidFill>
            <a:prstDash val="solid"/>
          </a:ln>
        </p:spPr>
      </p:sp>
      <p:sp>
        <p:nvSpPr>
          <p:cNvPr id="18" name="Text 16"/>
          <p:cNvSpPr/>
          <p:nvPr/>
        </p:nvSpPr>
        <p:spPr>
          <a:xfrm>
            <a:off x="7419330" y="2161480"/>
            <a:ext cx="168151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04</a:t>
            </a:r>
            <a:endParaRPr lang="en-US" sz="1200" dirty="0"/>
          </a:p>
        </p:txBody>
      </p:sp>
      <p:sp>
        <p:nvSpPr>
          <p:cNvPr id="19" name="Text 17"/>
          <p:cNvSpPr/>
          <p:nvPr/>
        </p:nvSpPr>
        <p:spPr>
          <a:xfrm>
            <a:off x="7419330" y="2451001"/>
            <a:ext cx="168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9ECEF"/>
                </a:solidFill>
                <a:latin typeface="Host Grotesk" pitchFamily="34" charset="0"/>
                <a:ea typeface="Host Grotesk" pitchFamily="34" charset="-122"/>
                <a:cs typeface="Host Grotesk" pitchFamily="34" charset="-120"/>
              </a:rPr>
              <a:t>Engagement</a:t>
            </a:r>
            <a:endParaRPr lang="en-US" sz="1700" dirty="0"/>
          </a:p>
        </p:txBody>
      </p:sp>
      <p:sp>
        <p:nvSpPr>
          <p:cNvPr id="20" name="Text 18"/>
          <p:cNvSpPr/>
          <p:nvPr/>
        </p:nvSpPr>
        <p:spPr>
          <a:xfrm>
            <a:off x="7419330" y="2786261"/>
            <a:ext cx="1681510" cy="122545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8B0"/>
                </a:solidFill>
                <a:latin typeface="Raleway" pitchFamily="34" charset="0"/>
                <a:ea typeface="Raleway" pitchFamily="34" charset="-122"/>
                <a:cs typeface="Raleway" pitchFamily="34" charset="-120"/>
              </a:rPr>
              <a:t>Uses emotion and logic to communicate a persuasive vision and connect.</a:t>
            </a:r>
            <a:endParaRPr lang="en-US" sz="1400" dirty="0"/>
          </a:p>
        </p:txBody>
      </p:sp>
      <p:sp>
        <p:nvSpPr>
          <p:cNvPr id="21" name="Shape 19"/>
          <p:cNvSpPr/>
          <p:nvPr/>
        </p:nvSpPr>
        <p:spPr>
          <a:xfrm>
            <a:off x="9373890" y="1977330"/>
            <a:ext cx="1998960" cy="2193131"/>
          </a:xfrm>
          <a:prstGeom prst="roundRect">
            <a:avLst>
              <a:gd name="adj" fmla="val 4765"/>
            </a:avLst>
          </a:prstGeom>
          <a:solidFill>
            <a:srgbClr val="1A1A1A"/>
          </a:solidFill>
          <a:ln w="12700">
            <a:solidFill>
              <a:srgbClr val="2B2B2B"/>
            </a:solidFill>
            <a:prstDash val="solid"/>
          </a:ln>
        </p:spPr>
      </p:sp>
      <p:sp>
        <p:nvSpPr>
          <p:cNvPr id="22" name="Text 20"/>
          <p:cNvSpPr/>
          <p:nvPr/>
        </p:nvSpPr>
        <p:spPr>
          <a:xfrm>
            <a:off x="9558040" y="2161480"/>
            <a:ext cx="16814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05</a:t>
            </a:r>
            <a:endParaRPr lang="en-US" sz="1200" dirty="0"/>
          </a:p>
        </p:txBody>
      </p:sp>
      <p:sp>
        <p:nvSpPr>
          <p:cNvPr id="23" name="Text 21"/>
          <p:cNvSpPr/>
          <p:nvPr/>
        </p:nvSpPr>
        <p:spPr>
          <a:xfrm>
            <a:off x="9558040" y="2451001"/>
            <a:ext cx="168146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9ECEF"/>
                </a:solidFill>
                <a:latin typeface="Host Grotesk" pitchFamily="34" charset="0"/>
                <a:ea typeface="Host Grotesk" pitchFamily="34" charset="-122"/>
                <a:cs typeface="Host Grotesk" pitchFamily="34" charset="-120"/>
              </a:rPr>
              <a:t>True Grit</a:t>
            </a:r>
            <a:endParaRPr lang="en-US" sz="1700" dirty="0"/>
          </a:p>
        </p:txBody>
      </p:sp>
      <p:sp>
        <p:nvSpPr>
          <p:cNvPr id="24" name="Text 22"/>
          <p:cNvSpPr/>
          <p:nvPr/>
        </p:nvSpPr>
        <p:spPr>
          <a:xfrm>
            <a:off x="9558040" y="2786261"/>
            <a:ext cx="1681460"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8B0"/>
                </a:solidFill>
                <a:latin typeface="Raleway" pitchFamily="34" charset="0"/>
                <a:ea typeface="Raleway" pitchFamily="34" charset="-122"/>
                <a:cs typeface="Raleway" pitchFamily="34" charset="-120"/>
              </a:rPr>
              <a:t>Fights for difficult goals and bounces back from adversity.</a:t>
            </a:r>
            <a:endParaRPr lang="en-US" sz="1400" dirty="0"/>
          </a:p>
        </p:txBody>
      </p:sp>
      <p:pic>
        <p:nvPicPr>
          <p:cNvPr id="25"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26" name="Text 2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7" name="Text 24"/>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[ 8 ]</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L2 · POTENTIAL ]</a:t>
            </a:r>
            <a:endParaRPr lang="en-US" sz="1400" dirty="0"/>
          </a:p>
        </p:txBody>
      </p:sp>
      <p:sp>
        <p:nvSpPr>
          <p:cNvPr id="4" name="Text 2"/>
          <p:cNvSpPr/>
          <p:nvPr>
            <p:ph type="title"/>
          </p:nvPr>
        </p:nvSpPr>
        <p:spPr>
          <a:xfrm>
            <a:off x="812800" y="121409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How do you test potential in a </a:t>
            </a:r>
            <a:r>
              <a:rPr lang="en-US" sz="3600" b="1" i="0" dirty="0">
                <a:solidFill>
                  <a:srgbClr val="63E14F"/>
                </a:solidFill>
                <a:latin typeface="Host Grotesk" pitchFamily="34" charset="0"/>
                <a:ea typeface="Host Grotesk" pitchFamily="34" charset="-122"/>
                <a:cs typeface="Host Grotesk" pitchFamily="34" charset="-120"/>
              </a:rPr>
              <a:t>technical interview?</a:t>
            </a:r>
            <a:endParaRPr lang="en-US" sz="3600" dirty="0"/>
          </a:p>
        </p:txBody>
      </p:sp>
      <p:sp>
        <p:nvSpPr>
          <p:cNvPr id="5" name="Text 3"/>
          <p:cNvSpPr/>
          <p:nvPr/>
        </p:nvSpPr>
        <p:spPr>
          <a:xfrm>
            <a:off x="812800" y="1970980"/>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A3A8B0"/>
                </a:solidFill>
                <a:latin typeface="Raleway" pitchFamily="34" charset="0"/>
                <a:ea typeface="Raleway" pitchFamily="34" charset="-122"/>
                <a:cs typeface="Raleway" pitchFamily="34" charset="-120"/>
              </a:rPr>
              <a:t>Ask the room. Capture answers live.</a:t>
            </a:r>
            <a:endParaRPr lang="en-US" sz="1800" dirty="0"/>
          </a:p>
        </p:txBody>
      </p:sp>
      <p:sp>
        <p:nvSpPr>
          <p:cNvPr id="6" name="Shape 4"/>
          <p:cNvSpPr/>
          <p:nvPr/>
        </p:nvSpPr>
        <p:spPr>
          <a:xfrm>
            <a:off x="819150" y="2539901"/>
            <a:ext cx="3373934" cy="1638300"/>
          </a:xfrm>
          <a:prstGeom prst="roundRect">
            <a:avLst>
              <a:gd name="adj" fmla="val 5814"/>
            </a:avLst>
          </a:prstGeom>
          <a:solidFill>
            <a:srgbClr val="1A1A1A"/>
          </a:solidFill>
          <a:ln w="12700">
            <a:solidFill>
              <a:srgbClr val="3A3E47"/>
            </a:solidFill>
            <a:prstDash val="solid"/>
          </a:ln>
        </p:spPr>
      </p:sp>
      <p:sp>
        <p:nvSpPr>
          <p:cNvPr id="7" name="Text 5"/>
          <p:cNvSpPr/>
          <p:nvPr/>
        </p:nvSpPr>
        <p:spPr>
          <a:xfrm>
            <a:off x="1079500" y="2800251"/>
            <a:ext cx="2938831" cy="381000"/>
          </a:xfrm>
          <a:prstGeom prst="rect">
            <a:avLst/>
          </a:prstGeom>
          <a:noFill/>
          <a:ln/>
        </p:spPr>
        <p:txBody>
          <a:bodyPr wrap="square" lIns="0" tIns="0" rIns="0" bIns="0" rtlCol="0" anchor="t">
            <a:normAutofit/>
          </a:bodyPr>
          <a:lstStyle/>
          <a:p>
            <a:pPr algn="l" indent="0" marL="0">
              <a:lnSpc>
                <a:spcPts val="2800"/>
              </a:lnSpc>
              <a:buNone/>
            </a:pPr>
            <a:r>
              <a:rPr lang="en-US" sz="2000" spc="100" kern="0" dirty="0">
                <a:solidFill>
                  <a:srgbClr val="8B9097"/>
                </a:solidFill>
                <a:latin typeface="DM Mono" pitchFamily="49" charset="0"/>
                <a:ea typeface="DM Mono" pitchFamily="49" charset="-122"/>
                <a:cs typeface="DM Mono" pitchFamily="49" charset="-120"/>
              </a:rPr>
              <a:t>?</a:t>
            </a:r>
            <a:endParaRPr lang="en-US" sz="2000" dirty="0"/>
          </a:p>
        </p:txBody>
      </p:sp>
      <p:sp>
        <p:nvSpPr>
          <p:cNvPr id="8" name="Shape 6"/>
          <p:cNvSpPr/>
          <p:nvPr/>
        </p:nvSpPr>
        <p:spPr>
          <a:xfrm>
            <a:off x="4408984" y="2539901"/>
            <a:ext cx="3373983" cy="1638300"/>
          </a:xfrm>
          <a:prstGeom prst="roundRect">
            <a:avLst>
              <a:gd name="adj" fmla="val 5814"/>
            </a:avLst>
          </a:prstGeom>
          <a:solidFill>
            <a:srgbClr val="1A1A1A"/>
          </a:solidFill>
          <a:ln w="12700">
            <a:solidFill>
              <a:srgbClr val="3A3E47"/>
            </a:solidFill>
            <a:prstDash val="solid"/>
          </a:ln>
        </p:spPr>
      </p:sp>
      <p:sp>
        <p:nvSpPr>
          <p:cNvPr id="9" name="Text 7"/>
          <p:cNvSpPr/>
          <p:nvPr/>
        </p:nvSpPr>
        <p:spPr>
          <a:xfrm>
            <a:off x="4669334" y="2800251"/>
            <a:ext cx="2938882" cy="381000"/>
          </a:xfrm>
          <a:prstGeom prst="rect">
            <a:avLst/>
          </a:prstGeom>
          <a:noFill/>
          <a:ln/>
        </p:spPr>
        <p:txBody>
          <a:bodyPr wrap="square" lIns="0" tIns="0" rIns="0" bIns="0" rtlCol="0" anchor="t">
            <a:normAutofit/>
          </a:bodyPr>
          <a:lstStyle/>
          <a:p>
            <a:pPr algn="l" indent="0" marL="0">
              <a:lnSpc>
                <a:spcPts val="2800"/>
              </a:lnSpc>
              <a:buNone/>
            </a:pPr>
            <a:r>
              <a:rPr lang="en-US" sz="2000" spc="100" kern="0" dirty="0">
                <a:solidFill>
                  <a:srgbClr val="8B9097"/>
                </a:solidFill>
                <a:latin typeface="DM Mono" pitchFamily="49" charset="0"/>
                <a:ea typeface="DM Mono" pitchFamily="49" charset="-122"/>
                <a:cs typeface="DM Mono" pitchFamily="49" charset="-120"/>
              </a:rPr>
              <a:t>?</a:t>
            </a:r>
            <a:endParaRPr lang="en-US" sz="2000" dirty="0"/>
          </a:p>
        </p:txBody>
      </p:sp>
      <p:sp>
        <p:nvSpPr>
          <p:cNvPr id="10" name="Shape 8"/>
          <p:cNvSpPr/>
          <p:nvPr/>
        </p:nvSpPr>
        <p:spPr>
          <a:xfrm>
            <a:off x="7998867" y="2539901"/>
            <a:ext cx="3373983" cy="1638300"/>
          </a:xfrm>
          <a:prstGeom prst="roundRect">
            <a:avLst>
              <a:gd name="adj" fmla="val 5814"/>
            </a:avLst>
          </a:prstGeom>
          <a:solidFill>
            <a:srgbClr val="1A1A1A"/>
          </a:solidFill>
          <a:ln w="12700">
            <a:solidFill>
              <a:srgbClr val="3A3E47"/>
            </a:solidFill>
            <a:prstDash val="solid"/>
          </a:ln>
        </p:spPr>
      </p:sp>
      <p:sp>
        <p:nvSpPr>
          <p:cNvPr id="11" name="Text 9"/>
          <p:cNvSpPr/>
          <p:nvPr/>
        </p:nvSpPr>
        <p:spPr>
          <a:xfrm>
            <a:off x="8259217" y="2800251"/>
            <a:ext cx="2938882" cy="381000"/>
          </a:xfrm>
          <a:prstGeom prst="rect">
            <a:avLst/>
          </a:prstGeom>
          <a:noFill/>
          <a:ln/>
        </p:spPr>
        <p:txBody>
          <a:bodyPr wrap="square" lIns="0" tIns="0" rIns="0" bIns="0" rtlCol="0" anchor="t">
            <a:normAutofit/>
          </a:bodyPr>
          <a:lstStyle/>
          <a:p>
            <a:pPr algn="l" indent="0" marL="0">
              <a:lnSpc>
                <a:spcPts val="2800"/>
              </a:lnSpc>
              <a:buNone/>
            </a:pPr>
            <a:r>
              <a:rPr lang="en-US" sz="2000" spc="100" kern="0" dirty="0">
                <a:solidFill>
                  <a:srgbClr val="8B9097"/>
                </a:solidFill>
                <a:latin typeface="DM Mono" pitchFamily="49" charset="0"/>
                <a:ea typeface="DM Mono" pitchFamily="49" charset="-122"/>
                <a:cs typeface="DM Mono" pitchFamily="49" charset="-120"/>
              </a:rPr>
              <a:t>?</a:t>
            </a:r>
            <a:endParaRPr lang="en-US" sz="2000" dirty="0"/>
          </a:p>
        </p:txBody>
      </p:sp>
      <p:pic>
        <p:nvPicPr>
          <p:cNvPr id="12"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13" name="Text 1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4" name="Text 11"/>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[ 10 ]</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L3 · FIT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What unlocks their potential </a:t>
            </a:r>
            <a:r>
              <a:rPr lang="en-US" sz="3600" b="1" i="0" dirty="0">
                <a:solidFill>
                  <a:srgbClr val="63E14F"/>
                </a:solidFill>
                <a:latin typeface="Host Grotesk" pitchFamily="34" charset="0"/>
                <a:ea typeface="Host Grotesk" pitchFamily="34" charset="-122"/>
                <a:cs typeface="Host Grotesk" pitchFamily="34" charset="-120"/>
              </a:rPr>
              <a:t>HERE?</a:t>
            </a:r>
            <a:endParaRPr lang="en-US" sz="3600" dirty="0"/>
          </a:p>
        </p:txBody>
      </p:sp>
      <p:pic>
        <p:nvPicPr>
          <p:cNvPr id="5" name="Image 0" descr="Five-level staircase">    </p:cNvPr>
          <p:cNvPicPr>
            <a:picLocks noChangeAspect="1"/>
          </p:cNvPicPr>
          <p:nvPr/>
        </p:nvPicPr>
        <p:blipFill>
          <a:blip r:embed="rId1"/>
          <a:srcRect l="0" r="0" t="0" b="0"/>
          <a:stretch/>
        </p:blipFill>
        <p:spPr>
          <a:xfrm>
            <a:off x="812800" y="2191544"/>
            <a:ext cx="2540000" cy="2730500"/>
          </a:xfrm>
          <a:prstGeom prst="rect">
            <a:avLst/>
          </a:prstGeom>
        </p:spPr>
      </p:pic>
      <p:sp>
        <p:nvSpPr>
          <p:cNvPr id="6" name="Text 3"/>
          <p:cNvSpPr/>
          <p:nvPr/>
        </p:nvSpPr>
        <p:spPr>
          <a:xfrm>
            <a:off x="787400" y="4998244"/>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L1</a:t>
            </a:r>
            <a:endParaRPr lang="en-US" sz="1200" dirty="0"/>
          </a:p>
        </p:txBody>
      </p:sp>
      <p:sp>
        <p:nvSpPr>
          <p:cNvPr id="7" name="Text 4"/>
          <p:cNvSpPr/>
          <p:nvPr/>
        </p:nvSpPr>
        <p:spPr>
          <a:xfrm>
            <a:off x="1320800" y="4998244"/>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L2</a:t>
            </a:r>
            <a:endParaRPr lang="en-US" sz="1200" dirty="0"/>
          </a:p>
        </p:txBody>
      </p:sp>
      <p:sp>
        <p:nvSpPr>
          <p:cNvPr id="8" name="Text 5"/>
          <p:cNvSpPr/>
          <p:nvPr/>
        </p:nvSpPr>
        <p:spPr>
          <a:xfrm>
            <a:off x="1854200" y="4998244"/>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3E14F"/>
                </a:solidFill>
                <a:latin typeface="DM Mono" pitchFamily="49" charset="0"/>
                <a:ea typeface="DM Mono" pitchFamily="49" charset="-122"/>
                <a:cs typeface="DM Mono" pitchFamily="49" charset="-120"/>
              </a:rPr>
              <a:t>L3</a:t>
            </a:r>
            <a:endParaRPr lang="en-US" sz="1200" dirty="0"/>
          </a:p>
        </p:txBody>
      </p:sp>
      <p:sp>
        <p:nvSpPr>
          <p:cNvPr id="9" name="Text 6"/>
          <p:cNvSpPr/>
          <p:nvPr/>
        </p:nvSpPr>
        <p:spPr>
          <a:xfrm>
            <a:off x="2387600" y="4998244"/>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L4</a:t>
            </a:r>
            <a:endParaRPr lang="en-US" sz="1200" dirty="0"/>
          </a:p>
        </p:txBody>
      </p:sp>
      <p:sp>
        <p:nvSpPr>
          <p:cNvPr id="10" name="Text 7"/>
          <p:cNvSpPr/>
          <p:nvPr/>
        </p:nvSpPr>
        <p:spPr>
          <a:xfrm>
            <a:off x="2921000" y="4998244"/>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L5</a:t>
            </a:r>
            <a:endParaRPr lang="en-US" sz="1200" dirty="0"/>
          </a:p>
        </p:txBody>
      </p:sp>
      <p:sp>
        <p:nvSpPr>
          <p:cNvPr id="11" name="Text 8"/>
          <p:cNvSpPr/>
          <p:nvPr/>
        </p:nvSpPr>
        <p:spPr>
          <a:xfrm>
            <a:off x="3860800" y="1970980"/>
            <a:ext cx="774395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A3A8B0"/>
                </a:solidFill>
                <a:latin typeface="Raleway" pitchFamily="34" charset="0"/>
                <a:ea typeface="Raleway" pitchFamily="34" charset="-122"/>
                <a:cs typeface="Raleway" pitchFamily="34" charset="-120"/>
              </a:rPr>
              <a:t>A mix of alignment, role requirements and cultural fit.</a:t>
            </a:r>
            <a:endParaRPr lang="en-US" sz="1700" dirty="0"/>
          </a:p>
        </p:txBody>
      </p:sp>
      <p:sp>
        <p:nvSpPr>
          <p:cNvPr id="12" name="Shape 9"/>
          <p:cNvSpPr/>
          <p:nvPr/>
        </p:nvSpPr>
        <p:spPr>
          <a:xfrm>
            <a:off x="3867150" y="2395786"/>
            <a:ext cx="7505700" cy="916880"/>
          </a:xfrm>
          <a:prstGeom prst="roundRect">
            <a:avLst>
              <a:gd name="adj" fmla="val 10388"/>
            </a:avLst>
          </a:prstGeom>
          <a:solidFill>
            <a:srgbClr val="1A1A1A"/>
          </a:solidFill>
          <a:ln w="12700">
            <a:solidFill>
              <a:srgbClr val="2B2B2B"/>
            </a:solidFill>
            <a:prstDash val="solid"/>
          </a:ln>
        </p:spPr>
      </p:sp>
      <p:sp>
        <p:nvSpPr>
          <p:cNvPr id="13" name="Text 10"/>
          <p:cNvSpPr/>
          <p:nvPr/>
        </p:nvSpPr>
        <p:spPr>
          <a:xfrm>
            <a:off x="4051300" y="2614861"/>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3A8B0"/>
                </a:solidFill>
                <a:latin typeface="DM Mono" pitchFamily="49" charset="0"/>
                <a:ea typeface="DM Mono" pitchFamily="49" charset="-122"/>
                <a:cs typeface="DM Mono" pitchFamily="49" charset="-120"/>
              </a:rPr>
              <a:t>GOOD</a:t>
            </a:r>
            <a:endParaRPr lang="en-US" sz="1300" dirty="0"/>
          </a:p>
        </p:txBody>
      </p:sp>
      <p:sp>
        <p:nvSpPr>
          <p:cNvPr id="14" name="Text 11"/>
          <p:cNvSpPr/>
          <p:nvPr/>
        </p:nvSpPr>
        <p:spPr>
          <a:xfrm>
            <a:off x="5346700" y="2579936"/>
            <a:ext cx="601726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Understands their goals, the environment they need and any culture issues, and believes all three work here.</a:t>
            </a:r>
            <a:endParaRPr lang="en-US" sz="1600" dirty="0"/>
          </a:p>
        </p:txBody>
      </p:sp>
      <p:sp>
        <p:nvSpPr>
          <p:cNvPr id="15" name="Shape 12"/>
          <p:cNvSpPr/>
          <p:nvPr/>
        </p:nvSpPr>
        <p:spPr>
          <a:xfrm>
            <a:off x="3867150" y="3452366"/>
            <a:ext cx="7505700" cy="916880"/>
          </a:xfrm>
          <a:prstGeom prst="roundRect">
            <a:avLst>
              <a:gd name="adj" fmla="val 10388"/>
            </a:avLst>
          </a:prstGeom>
          <a:solidFill>
            <a:srgbClr val="1A1A1A"/>
          </a:solidFill>
          <a:ln w="12700">
            <a:solidFill>
              <a:srgbClr val="2B2B2B"/>
            </a:solidFill>
            <a:prstDash val="solid"/>
          </a:ln>
        </p:spPr>
      </p:sp>
      <p:sp>
        <p:nvSpPr>
          <p:cNvPr id="16" name="Text 13"/>
          <p:cNvSpPr/>
          <p:nvPr/>
        </p:nvSpPr>
        <p:spPr>
          <a:xfrm>
            <a:off x="4051300" y="3671441"/>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3A8B0"/>
                </a:solidFill>
                <a:latin typeface="DM Mono" pitchFamily="49" charset="0"/>
                <a:ea typeface="DM Mono" pitchFamily="49" charset="-122"/>
                <a:cs typeface="DM Mono" pitchFamily="49" charset="-120"/>
              </a:rPr>
              <a:t>BETTER</a:t>
            </a:r>
            <a:endParaRPr lang="en-US" sz="1300" dirty="0"/>
          </a:p>
        </p:txBody>
      </p:sp>
      <p:sp>
        <p:nvSpPr>
          <p:cNvPr id="17" name="Text 14"/>
          <p:cNvSpPr/>
          <p:nvPr/>
        </p:nvSpPr>
        <p:spPr>
          <a:xfrm>
            <a:off x="5346700" y="3636516"/>
            <a:ext cx="601726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Can lay out a plan (projects, timing) that would unlock their potential here.</a:t>
            </a:r>
            <a:endParaRPr lang="en-US" sz="1600" dirty="0"/>
          </a:p>
        </p:txBody>
      </p:sp>
      <p:sp>
        <p:nvSpPr>
          <p:cNvPr id="18" name="Shape 15"/>
          <p:cNvSpPr/>
          <p:nvPr/>
        </p:nvSpPr>
        <p:spPr>
          <a:xfrm>
            <a:off x="3867150" y="4508946"/>
            <a:ext cx="7505700" cy="916880"/>
          </a:xfrm>
          <a:prstGeom prst="roundRect">
            <a:avLst>
              <a:gd name="adj" fmla="val 10388"/>
            </a:avLst>
          </a:prstGeom>
          <a:solidFill>
            <a:srgbClr val="1A1A1A"/>
          </a:solidFill>
          <a:ln w="12700">
            <a:solidFill>
              <a:srgbClr val="63E14F"/>
            </a:solidFill>
            <a:prstDash val="solid"/>
          </a:ln>
        </p:spPr>
      </p:sp>
      <p:sp>
        <p:nvSpPr>
          <p:cNvPr id="19" name="Text 16"/>
          <p:cNvSpPr/>
          <p:nvPr/>
        </p:nvSpPr>
        <p:spPr>
          <a:xfrm>
            <a:off x="4051300" y="4728021"/>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BEST</a:t>
            </a:r>
            <a:endParaRPr lang="en-US" sz="1300" dirty="0"/>
          </a:p>
        </p:txBody>
      </p:sp>
      <p:sp>
        <p:nvSpPr>
          <p:cNvPr id="20" name="Text 17"/>
          <p:cNvSpPr/>
          <p:nvPr/>
        </p:nvSpPr>
        <p:spPr>
          <a:xfrm>
            <a:off x="5346700" y="4693096"/>
            <a:ext cx="601726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Shows how similar people executed that plan and got the results here.</a:t>
            </a:r>
            <a:endParaRPr lang="en-US" sz="1600" dirty="0"/>
          </a:p>
        </p:txBody>
      </p:sp>
      <p:pic>
        <p:nvPicPr>
          <p:cNvPr id="21"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22" name="Text 1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3" name="Text 19"/>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[ 11 ]</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L3 · FIT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Your problem is </a:t>
            </a:r>
            <a:r>
              <a:rPr lang="en-US" sz="3600" b="1" i="0" dirty="0">
                <a:solidFill>
                  <a:srgbClr val="63E14F"/>
                </a:solidFill>
                <a:latin typeface="Host Grotesk" pitchFamily="34" charset="0"/>
                <a:ea typeface="Host Grotesk" pitchFamily="34" charset="-122"/>
                <a:cs typeface="Host Grotesk" pitchFamily="34" charset="-120"/>
              </a:rPr>
              <a:t>their opportunity.</a:t>
            </a:r>
            <a:endParaRPr lang="en-US" sz="3600" dirty="0"/>
          </a:p>
        </p:txBody>
      </p:sp>
      <p:sp>
        <p:nvSpPr>
          <p:cNvPr id="5" name="Shape 3"/>
          <p:cNvSpPr/>
          <p:nvPr/>
        </p:nvSpPr>
        <p:spPr>
          <a:xfrm>
            <a:off x="819150" y="1977330"/>
            <a:ext cx="3390900" cy="2209155"/>
          </a:xfrm>
          <a:prstGeom prst="roundRect">
            <a:avLst>
              <a:gd name="adj" fmla="val 4312"/>
            </a:avLst>
          </a:prstGeom>
          <a:solidFill>
            <a:srgbClr val="1A1A1A"/>
          </a:solidFill>
          <a:ln w="12700">
            <a:solidFill>
              <a:srgbClr val="2B2B2B"/>
            </a:solidFill>
            <a:prstDash val="solid"/>
          </a:ln>
        </p:spPr>
      </p:sp>
      <p:sp>
        <p:nvSpPr>
          <p:cNvPr id="6" name="Text 4"/>
          <p:cNvSpPr/>
          <p:nvPr/>
        </p:nvSpPr>
        <p:spPr>
          <a:xfrm>
            <a:off x="1054100" y="2212280"/>
            <a:ext cx="300863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FIRES FORGE PEOPLE</a:t>
            </a:r>
            <a:endParaRPr lang="en-US" sz="1300" dirty="0"/>
          </a:p>
        </p:txBody>
      </p:sp>
      <p:sp>
        <p:nvSpPr>
          <p:cNvPr id="7" name="Text 5"/>
          <p:cNvSpPr/>
          <p:nvPr/>
        </p:nvSpPr>
        <p:spPr>
          <a:xfrm>
            <a:off x="1054100" y="2519611"/>
            <a:ext cx="3008630"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9ECEF"/>
                </a:solidFill>
                <a:latin typeface="Host Grotesk" pitchFamily="34" charset="0"/>
                <a:ea typeface="Host Grotesk" pitchFamily="34" charset="-122"/>
                <a:cs typeface="Host Grotesk" pitchFamily="34" charset="-120"/>
              </a:rPr>
              <a:t>The hard team can be the growth role.</a:t>
            </a:r>
            <a:endParaRPr lang="en-US" sz="2000" dirty="0"/>
          </a:p>
        </p:txBody>
      </p:sp>
      <p:sp>
        <p:nvSpPr>
          <p:cNvPr id="8" name="Text 6"/>
          <p:cNvSpPr/>
          <p:nvPr/>
        </p:nvSpPr>
        <p:spPr>
          <a:xfrm>
            <a:off x="1054100" y="3180011"/>
            <a:ext cx="3008630"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Show them the fire, eyes open. Wrong people run away; the right ones get excited.</a:t>
            </a:r>
            <a:endParaRPr lang="en-US" sz="1500" dirty="0"/>
          </a:p>
        </p:txBody>
      </p:sp>
      <p:sp>
        <p:nvSpPr>
          <p:cNvPr id="9" name="Shape 7"/>
          <p:cNvSpPr/>
          <p:nvPr/>
        </p:nvSpPr>
        <p:spPr>
          <a:xfrm>
            <a:off x="4400550" y="1977330"/>
            <a:ext cx="3390900" cy="2209155"/>
          </a:xfrm>
          <a:prstGeom prst="roundRect">
            <a:avLst>
              <a:gd name="adj" fmla="val 4312"/>
            </a:avLst>
          </a:prstGeom>
          <a:solidFill>
            <a:srgbClr val="1A1A1A"/>
          </a:solidFill>
          <a:ln w="12700">
            <a:solidFill>
              <a:srgbClr val="2B2B2B"/>
            </a:solidFill>
            <a:prstDash val="solid"/>
          </a:ln>
        </p:spPr>
      </p:sp>
      <p:sp>
        <p:nvSpPr>
          <p:cNvPr id="10" name="Text 8"/>
          <p:cNvSpPr/>
          <p:nvPr/>
        </p:nvSpPr>
        <p:spPr>
          <a:xfrm>
            <a:off x="4635500" y="2212280"/>
            <a:ext cx="300863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BELIEVE IN THEM</a:t>
            </a:r>
            <a:endParaRPr lang="en-US" sz="1300" dirty="0"/>
          </a:p>
        </p:txBody>
      </p:sp>
      <p:sp>
        <p:nvSpPr>
          <p:cNvPr id="11" name="Text 9"/>
          <p:cNvSpPr/>
          <p:nvPr/>
        </p:nvSpPr>
        <p:spPr>
          <a:xfrm>
            <a:off x="4635500" y="2519611"/>
            <a:ext cx="300863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9ECEF"/>
                </a:solidFill>
                <a:latin typeface="Host Grotesk" pitchFamily="34" charset="0"/>
                <a:ea typeface="Host Grotesk" pitchFamily="34" charset="-122"/>
                <a:cs typeface="Host Grotesk" pitchFamily="34" charset="-120"/>
              </a:rPr>
              <a:t>Maybe no one ever did.</a:t>
            </a:r>
            <a:endParaRPr lang="en-US" sz="2000" dirty="0"/>
          </a:p>
        </p:txBody>
      </p:sp>
      <p:sp>
        <p:nvSpPr>
          <p:cNvPr id="12" name="Text 10"/>
          <p:cNvSpPr/>
          <p:nvPr/>
        </p:nvSpPr>
        <p:spPr>
          <a:xfrm>
            <a:off x="4635500" y="2887911"/>
            <a:ext cx="300863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Explain why the job will be hard, and why </a:t>
            </a:r>
            <a:r>
              <a:rPr lang="en-US" sz="1500" b="1" dirty="0">
                <a:solidFill>
                  <a:srgbClr val="A3A8B0"/>
                </a:solidFill>
                <a:latin typeface="Raleway" pitchFamily="34" charset="0"/>
                <a:ea typeface="Raleway" pitchFamily="34" charset="-122"/>
                <a:cs typeface="Raleway" pitchFamily="34" charset="-120"/>
              </a:rPr>
              <a:t>THEY</a:t>
            </a:r>
            <a:r>
              <a:rPr lang="en-US" sz="1500" dirty="0">
                <a:solidFill>
                  <a:srgbClr val="A3A8B0"/>
                </a:solidFill>
                <a:latin typeface="Raleway" pitchFamily="34" charset="0"/>
                <a:ea typeface="Raleway" pitchFamily="34" charset="-122"/>
                <a:cs typeface="Raleway" pitchFamily="34" charset="-120"/>
              </a:rPr>
              <a:t> will succeed.</a:t>
            </a:r>
            <a:endParaRPr lang="en-US" sz="1500" dirty="0"/>
          </a:p>
        </p:txBody>
      </p:sp>
      <p:sp>
        <p:nvSpPr>
          <p:cNvPr id="13" name="Shape 11"/>
          <p:cNvSpPr/>
          <p:nvPr/>
        </p:nvSpPr>
        <p:spPr>
          <a:xfrm>
            <a:off x="7981950" y="1977330"/>
            <a:ext cx="3390900" cy="2209155"/>
          </a:xfrm>
          <a:prstGeom prst="roundRect">
            <a:avLst>
              <a:gd name="adj" fmla="val 4312"/>
            </a:avLst>
          </a:prstGeom>
          <a:solidFill>
            <a:srgbClr val="1A1A1A"/>
          </a:solidFill>
          <a:ln w="12700">
            <a:solidFill>
              <a:srgbClr val="2B2B2B"/>
            </a:solidFill>
            <a:prstDash val="solid"/>
          </a:ln>
        </p:spPr>
      </p:sp>
      <p:sp>
        <p:nvSpPr>
          <p:cNvPr id="14" name="Text 12"/>
          <p:cNvSpPr/>
          <p:nvPr/>
        </p:nvSpPr>
        <p:spPr>
          <a:xfrm>
            <a:off x="8216900" y="2212280"/>
            <a:ext cx="300863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BE CONCRETE</a:t>
            </a:r>
            <a:endParaRPr lang="en-US" sz="1300" dirty="0"/>
          </a:p>
        </p:txBody>
      </p:sp>
      <p:sp>
        <p:nvSpPr>
          <p:cNvPr id="15" name="Text 13"/>
          <p:cNvSpPr/>
          <p:nvPr/>
        </p:nvSpPr>
        <p:spPr>
          <a:xfrm>
            <a:off x="8216900" y="2519611"/>
            <a:ext cx="3008630"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9ECEF"/>
                </a:solidFill>
                <a:latin typeface="Host Grotesk" pitchFamily="34" charset="0"/>
                <a:ea typeface="Host Grotesk" pitchFamily="34" charset="-122"/>
                <a:cs typeface="Host Grotesk" pitchFamily="34" charset="-120"/>
              </a:rPr>
              <a:t>Training starts in the interview.</a:t>
            </a:r>
            <a:endParaRPr lang="en-US" sz="2000" dirty="0"/>
          </a:p>
        </p:txBody>
      </p:sp>
      <p:sp>
        <p:nvSpPr>
          <p:cNvPr id="16" name="Text 14"/>
          <p:cNvSpPr/>
          <p:nvPr/>
        </p:nvSpPr>
        <p:spPr>
          <a:xfrm>
            <a:off x="8216900" y="3180011"/>
            <a:ext cx="3008630"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A8B0"/>
                </a:solidFill>
                <a:latin typeface="Raleway" pitchFamily="34" charset="0"/>
                <a:ea typeface="Raleway" pitchFamily="34" charset="-122"/>
                <a:cs typeface="Raleway" pitchFamily="34" charset="-120"/>
              </a:rPr>
              <a:t>Give feedback, show our onboarding process, discuss how they would solve </a:t>
            </a:r>
            <a:r>
              <a:rPr lang="en-US" sz="1500" b="1" dirty="0">
                <a:solidFill>
                  <a:srgbClr val="A3A8B0"/>
                </a:solidFill>
                <a:latin typeface="Raleway" pitchFamily="34" charset="0"/>
                <a:ea typeface="Raleway" pitchFamily="34" charset="-122"/>
                <a:cs typeface="Raleway" pitchFamily="34" charset="-120"/>
              </a:rPr>
              <a:t>our problems.</a:t>
            </a:r>
            <a:endParaRPr lang="en-US" sz="1500" dirty="0"/>
          </a:p>
        </p:txBody>
      </p:sp>
      <p:pic>
        <p:nvPicPr>
          <p:cNvPr id="17"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18" name="Text 15"/>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9" name="Text 16"/>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[ 12 ]</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L4 · MAGNET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How do you </a:t>
            </a:r>
            <a:r>
              <a:rPr lang="en-US" sz="3600" b="1" i="0" dirty="0">
                <a:solidFill>
                  <a:srgbClr val="63E14F"/>
                </a:solidFill>
                <a:latin typeface="Host Grotesk" pitchFamily="34" charset="0"/>
                <a:ea typeface="Host Grotesk" pitchFamily="34" charset="-122"/>
                <a:cs typeface="Host Grotesk" pitchFamily="34" charset="-120"/>
              </a:rPr>
              <a:t>attract</a:t>
            </a:r>
            <a:r>
              <a:rPr lang="en-US" sz="3600" b="1" i="0" dirty="0">
                <a:solidFill>
                  <a:srgbClr val="F4F5F7"/>
                </a:solidFill>
                <a:latin typeface="Host Grotesk" pitchFamily="34" charset="0"/>
                <a:ea typeface="Host Grotesk" pitchFamily="34" charset="-122"/>
                <a:cs typeface="Host Grotesk" pitchFamily="34" charset="-120"/>
              </a:rPr>
              <a:t> talent?</a:t>
            </a:r>
            <a:endParaRPr lang="en-US" sz="3600" dirty="0"/>
          </a:p>
        </p:txBody>
      </p:sp>
      <p:pic>
        <p:nvPicPr>
          <p:cNvPr id="5" name="Image 0" descr="Five-level staircase">    </p:cNvPr>
          <p:cNvPicPr>
            <a:picLocks noChangeAspect="1"/>
          </p:cNvPicPr>
          <p:nvPr/>
        </p:nvPicPr>
        <p:blipFill>
          <a:blip r:embed="rId1"/>
          <a:srcRect l="0" r="0" t="0" b="0"/>
          <a:stretch/>
        </p:blipFill>
        <p:spPr>
          <a:xfrm>
            <a:off x="812800" y="2387749"/>
            <a:ext cx="2540000" cy="2730500"/>
          </a:xfrm>
          <a:prstGeom prst="rect">
            <a:avLst/>
          </a:prstGeom>
        </p:spPr>
      </p:pic>
      <p:sp>
        <p:nvSpPr>
          <p:cNvPr id="6" name="Text 3"/>
          <p:cNvSpPr/>
          <p:nvPr/>
        </p:nvSpPr>
        <p:spPr>
          <a:xfrm>
            <a:off x="787400" y="5194449"/>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L1</a:t>
            </a:r>
            <a:endParaRPr lang="en-US" sz="1200" dirty="0"/>
          </a:p>
        </p:txBody>
      </p:sp>
      <p:sp>
        <p:nvSpPr>
          <p:cNvPr id="7" name="Text 4"/>
          <p:cNvSpPr/>
          <p:nvPr/>
        </p:nvSpPr>
        <p:spPr>
          <a:xfrm>
            <a:off x="1320800" y="5194449"/>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L2</a:t>
            </a:r>
            <a:endParaRPr lang="en-US" sz="1200" dirty="0"/>
          </a:p>
        </p:txBody>
      </p:sp>
      <p:sp>
        <p:nvSpPr>
          <p:cNvPr id="8" name="Text 5"/>
          <p:cNvSpPr/>
          <p:nvPr/>
        </p:nvSpPr>
        <p:spPr>
          <a:xfrm>
            <a:off x="1854200" y="5194449"/>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L3</a:t>
            </a:r>
            <a:endParaRPr lang="en-US" sz="1200" dirty="0"/>
          </a:p>
        </p:txBody>
      </p:sp>
      <p:sp>
        <p:nvSpPr>
          <p:cNvPr id="9" name="Text 6"/>
          <p:cNvSpPr/>
          <p:nvPr/>
        </p:nvSpPr>
        <p:spPr>
          <a:xfrm>
            <a:off x="2387600" y="5194449"/>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3E14F"/>
                </a:solidFill>
                <a:latin typeface="DM Mono" pitchFamily="49" charset="0"/>
                <a:ea typeface="DM Mono" pitchFamily="49" charset="-122"/>
                <a:cs typeface="DM Mono" pitchFamily="49" charset="-120"/>
              </a:rPr>
              <a:t>L4</a:t>
            </a:r>
            <a:endParaRPr lang="en-US" sz="1200" dirty="0"/>
          </a:p>
        </p:txBody>
      </p:sp>
      <p:sp>
        <p:nvSpPr>
          <p:cNvPr id="10" name="Text 7"/>
          <p:cNvSpPr/>
          <p:nvPr/>
        </p:nvSpPr>
        <p:spPr>
          <a:xfrm>
            <a:off x="2921000" y="5194449"/>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L5</a:t>
            </a:r>
            <a:endParaRPr lang="en-US" sz="1200" dirty="0"/>
          </a:p>
        </p:txBody>
      </p:sp>
      <p:sp>
        <p:nvSpPr>
          <p:cNvPr id="11" name="Text 8"/>
          <p:cNvSpPr/>
          <p:nvPr/>
        </p:nvSpPr>
        <p:spPr>
          <a:xfrm>
            <a:off x="3860800" y="1970980"/>
            <a:ext cx="774395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A3A8B0"/>
                </a:solidFill>
                <a:latin typeface="Raleway" pitchFamily="34" charset="0"/>
                <a:ea typeface="Raleway" pitchFamily="34" charset="-122"/>
                <a:cs typeface="Raleway" pitchFamily="34" charset="-120"/>
              </a:rPr>
              <a:t>Pro tip: you don’t sell them.</a:t>
            </a:r>
            <a:endParaRPr lang="en-US" sz="1700" dirty="0"/>
          </a:p>
        </p:txBody>
      </p:sp>
      <p:sp>
        <p:nvSpPr>
          <p:cNvPr id="12" name="Shape 9"/>
          <p:cNvSpPr/>
          <p:nvPr/>
        </p:nvSpPr>
        <p:spPr>
          <a:xfrm>
            <a:off x="3867150" y="2395786"/>
            <a:ext cx="7505700" cy="916880"/>
          </a:xfrm>
          <a:prstGeom prst="roundRect">
            <a:avLst>
              <a:gd name="adj" fmla="val 10388"/>
            </a:avLst>
          </a:prstGeom>
          <a:solidFill>
            <a:srgbClr val="1A1A1A"/>
          </a:solidFill>
          <a:ln w="12700">
            <a:solidFill>
              <a:srgbClr val="2B2B2B"/>
            </a:solidFill>
            <a:prstDash val="solid"/>
          </a:ln>
        </p:spPr>
      </p:sp>
      <p:sp>
        <p:nvSpPr>
          <p:cNvPr id="13" name="Text 10"/>
          <p:cNvSpPr/>
          <p:nvPr/>
        </p:nvSpPr>
        <p:spPr>
          <a:xfrm>
            <a:off x="4051300" y="2614861"/>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3A8B0"/>
                </a:solidFill>
                <a:latin typeface="DM Mono" pitchFamily="49" charset="0"/>
                <a:ea typeface="DM Mono" pitchFamily="49" charset="-122"/>
                <a:cs typeface="DM Mono" pitchFamily="49" charset="-120"/>
              </a:rPr>
              <a:t>GOOD</a:t>
            </a:r>
            <a:endParaRPr lang="en-US" sz="1300" dirty="0"/>
          </a:p>
        </p:txBody>
      </p:sp>
      <p:sp>
        <p:nvSpPr>
          <p:cNvPr id="14" name="Text 11"/>
          <p:cNvSpPr/>
          <p:nvPr/>
        </p:nvSpPr>
        <p:spPr>
          <a:xfrm>
            <a:off x="5346700" y="2579936"/>
            <a:ext cx="601726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Shows agility and depth in areas the candidate values. Strength attracts strength.</a:t>
            </a:r>
            <a:endParaRPr lang="en-US" sz="1600" dirty="0"/>
          </a:p>
        </p:txBody>
      </p:sp>
      <p:sp>
        <p:nvSpPr>
          <p:cNvPr id="15" name="Shape 12"/>
          <p:cNvSpPr/>
          <p:nvPr/>
        </p:nvSpPr>
        <p:spPr>
          <a:xfrm>
            <a:off x="3867150" y="3452366"/>
            <a:ext cx="7505700" cy="916880"/>
          </a:xfrm>
          <a:prstGeom prst="roundRect">
            <a:avLst>
              <a:gd name="adj" fmla="val 10388"/>
            </a:avLst>
          </a:prstGeom>
          <a:solidFill>
            <a:srgbClr val="1A1A1A"/>
          </a:solidFill>
          <a:ln w="12700">
            <a:solidFill>
              <a:srgbClr val="2B2B2B"/>
            </a:solidFill>
            <a:prstDash val="solid"/>
          </a:ln>
        </p:spPr>
      </p:sp>
      <p:sp>
        <p:nvSpPr>
          <p:cNvPr id="16" name="Text 13"/>
          <p:cNvSpPr/>
          <p:nvPr/>
        </p:nvSpPr>
        <p:spPr>
          <a:xfrm>
            <a:off x="4051300" y="3671441"/>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3A8B0"/>
                </a:solidFill>
                <a:latin typeface="DM Mono" pitchFamily="49" charset="0"/>
                <a:ea typeface="DM Mono" pitchFamily="49" charset="-122"/>
                <a:cs typeface="DM Mono" pitchFamily="49" charset="-120"/>
              </a:rPr>
              <a:t>BETTER</a:t>
            </a:r>
            <a:endParaRPr lang="en-US" sz="1300" dirty="0"/>
          </a:p>
        </p:txBody>
      </p:sp>
      <p:sp>
        <p:nvSpPr>
          <p:cNvPr id="17" name="Text 14"/>
          <p:cNvSpPr/>
          <p:nvPr/>
        </p:nvSpPr>
        <p:spPr>
          <a:xfrm>
            <a:off x="5346700" y="3636516"/>
            <a:ext cx="601726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Impresses them: clearly better, without threat, where they want to grow.</a:t>
            </a:r>
            <a:endParaRPr lang="en-US" sz="1600" dirty="0"/>
          </a:p>
        </p:txBody>
      </p:sp>
      <p:sp>
        <p:nvSpPr>
          <p:cNvPr id="18" name="Shape 15"/>
          <p:cNvSpPr/>
          <p:nvPr/>
        </p:nvSpPr>
        <p:spPr>
          <a:xfrm>
            <a:off x="3867150" y="4508946"/>
            <a:ext cx="7505700" cy="916880"/>
          </a:xfrm>
          <a:prstGeom prst="roundRect">
            <a:avLst>
              <a:gd name="adj" fmla="val 10388"/>
            </a:avLst>
          </a:prstGeom>
          <a:solidFill>
            <a:srgbClr val="1A1A1A"/>
          </a:solidFill>
          <a:ln w="12700">
            <a:solidFill>
              <a:srgbClr val="63E14F"/>
            </a:solidFill>
            <a:prstDash val="solid"/>
          </a:ln>
        </p:spPr>
      </p:sp>
      <p:sp>
        <p:nvSpPr>
          <p:cNvPr id="19" name="Text 16"/>
          <p:cNvSpPr/>
          <p:nvPr/>
        </p:nvSpPr>
        <p:spPr>
          <a:xfrm>
            <a:off x="4051300" y="4728021"/>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BEST</a:t>
            </a:r>
            <a:endParaRPr lang="en-US" sz="1300" dirty="0"/>
          </a:p>
        </p:txBody>
      </p:sp>
      <p:sp>
        <p:nvSpPr>
          <p:cNvPr id="20" name="Text 17"/>
          <p:cNvSpPr/>
          <p:nvPr/>
        </p:nvSpPr>
        <p:spPr>
          <a:xfrm>
            <a:off x="5346700" y="4693096"/>
            <a:ext cx="601726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Shows how you personally can grow them, in a way they value.</a:t>
            </a:r>
            <a:endParaRPr lang="en-US" sz="1600" dirty="0"/>
          </a:p>
        </p:txBody>
      </p:sp>
      <p:sp>
        <p:nvSpPr>
          <p:cNvPr id="21" name="Text 18"/>
          <p:cNvSpPr/>
          <p:nvPr/>
        </p:nvSpPr>
        <p:spPr>
          <a:xfrm>
            <a:off x="3860800" y="5584577"/>
            <a:ext cx="77439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8B9097"/>
                </a:solidFill>
                <a:latin typeface="Raleway" pitchFamily="34" charset="0"/>
                <a:ea typeface="Raleway" pitchFamily="34" charset="-122"/>
                <a:cs typeface="Raleway" pitchFamily="34" charset="-120"/>
              </a:rPr>
              <a:t>(No humble brags: be comfortable in your strengths and honest in your weaknesses.)</a:t>
            </a:r>
            <a:endParaRPr lang="en-US" sz="1400" dirty="0"/>
          </a:p>
        </p:txBody>
      </p:sp>
      <p:pic>
        <p:nvPicPr>
          <p:cNvPr id="22"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23" name="Text 19"/>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4" name="Text 20"/>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[ 13 ]</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L4 · MAGNET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Strength </a:t>
            </a:r>
            <a:r>
              <a:rPr lang="en-US" sz="3600" b="1" i="0" dirty="0">
                <a:solidFill>
                  <a:srgbClr val="63E14F"/>
                </a:solidFill>
                <a:latin typeface="Host Grotesk" pitchFamily="34" charset="0"/>
                <a:ea typeface="Host Grotesk" pitchFamily="34" charset="-122"/>
                <a:cs typeface="Host Grotesk" pitchFamily="34" charset="-120"/>
              </a:rPr>
              <a:t>attracts strength.</a:t>
            </a:r>
            <a:endParaRPr lang="en-US" sz="3600" dirty="0"/>
          </a:p>
        </p:txBody>
      </p:sp>
      <p:sp>
        <p:nvSpPr>
          <p:cNvPr id="5" name="Shape 3"/>
          <p:cNvSpPr/>
          <p:nvPr/>
        </p:nvSpPr>
        <p:spPr>
          <a:xfrm>
            <a:off x="819150" y="1977330"/>
            <a:ext cx="10553700" cy="727670"/>
          </a:xfrm>
          <a:prstGeom prst="roundRect">
            <a:avLst>
              <a:gd name="adj" fmla="val 13090"/>
            </a:avLst>
          </a:prstGeom>
          <a:solidFill>
            <a:srgbClr val="1A1A1A"/>
          </a:solidFill>
          <a:ln w="12700">
            <a:solidFill>
              <a:srgbClr val="63E14F"/>
            </a:solidFill>
            <a:prstDash val="solid"/>
          </a:ln>
        </p:spPr>
      </p:sp>
      <p:sp>
        <p:nvSpPr>
          <p:cNvPr id="6" name="Text 4"/>
          <p:cNvSpPr/>
          <p:nvPr/>
        </p:nvSpPr>
        <p:spPr>
          <a:xfrm>
            <a:off x="1028700" y="2250380"/>
            <a:ext cx="1574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A PLAYERS</a:t>
            </a:r>
            <a:endParaRPr lang="en-US" sz="1300" dirty="0"/>
          </a:p>
        </p:txBody>
      </p:sp>
      <p:sp>
        <p:nvSpPr>
          <p:cNvPr id="7" name="Text 5"/>
          <p:cNvSpPr/>
          <p:nvPr/>
        </p:nvSpPr>
        <p:spPr>
          <a:xfrm>
            <a:off x="2705100" y="2186880"/>
            <a:ext cx="645134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9ECEF"/>
                </a:solidFill>
                <a:latin typeface="Raleway" pitchFamily="34" charset="0"/>
                <a:ea typeface="Raleway" pitchFamily="34" charset="-122"/>
                <a:cs typeface="Raleway" pitchFamily="34" charset="-120"/>
              </a:rPr>
              <a:t>Want to work for leaders stronger than themselves.</a:t>
            </a:r>
            <a:endParaRPr lang="en-US" sz="1800" dirty="0"/>
          </a:p>
        </p:txBody>
      </p:sp>
      <p:sp>
        <p:nvSpPr>
          <p:cNvPr id="8" name="Shape 6"/>
          <p:cNvSpPr/>
          <p:nvPr/>
        </p:nvSpPr>
        <p:spPr>
          <a:xfrm>
            <a:off x="819150" y="2844701"/>
            <a:ext cx="10553700" cy="727670"/>
          </a:xfrm>
          <a:prstGeom prst="roundRect">
            <a:avLst>
              <a:gd name="adj" fmla="val 13090"/>
            </a:avLst>
          </a:prstGeom>
          <a:solidFill>
            <a:srgbClr val="1A1A1A"/>
          </a:solidFill>
          <a:ln w="12700">
            <a:solidFill>
              <a:srgbClr val="2B2B2B"/>
            </a:solidFill>
            <a:prstDash val="solid"/>
          </a:ln>
        </p:spPr>
      </p:sp>
      <p:sp>
        <p:nvSpPr>
          <p:cNvPr id="9" name="Text 7"/>
          <p:cNvSpPr/>
          <p:nvPr/>
        </p:nvSpPr>
        <p:spPr>
          <a:xfrm>
            <a:off x="1028700" y="3117751"/>
            <a:ext cx="1574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F832A"/>
                </a:solidFill>
                <a:latin typeface="DM Mono" pitchFamily="49" charset="0"/>
                <a:ea typeface="DM Mono" pitchFamily="49" charset="-122"/>
                <a:cs typeface="DM Mono" pitchFamily="49" charset="-120"/>
              </a:rPr>
              <a:t>B PLAYERS</a:t>
            </a:r>
            <a:endParaRPr lang="en-US" sz="1300" dirty="0"/>
          </a:p>
        </p:txBody>
      </p:sp>
      <p:sp>
        <p:nvSpPr>
          <p:cNvPr id="10" name="Text 8"/>
          <p:cNvSpPr/>
          <p:nvPr/>
        </p:nvSpPr>
        <p:spPr>
          <a:xfrm>
            <a:off x="2705100" y="3054251"/>
            <a:ext cx="47397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9ECEF"/>
                </a:solidFill>
                <a:latin typeface="Raleway" pitchFamily="34" charset="0"/>
                <a:ea typeface="Raleway" pitchFamily="34" charset="-122"/>
                <a:cs typeface="Raleway" pitchFamily="34" charset="-120"/>
              </a:rPr>
              <a:t>Feel uncomfortable around A players.</a:t>
            </a:r>
            <a:endParaRPr lang="en-US" sz="1800" dirty="0"/>
          </a:p>
        </p:txBody>
      </p:sp>
      <p:sp>
        <p:nvSpPr>
          <p:cNvPr id="11" name="Shape 9"/>
          <p:cNvSpPr/>
          <p:nvPr/>
        </p:nvSpPr>
        <p:spPr>
          <a:xfrm>
            <a:off x="819150" y="3712071"/>
            <a:ext cx="10553700" cy="727670"/>
          </a:xfrm>
          <a:prstGeom prst="roundRect">
            <a:avLst>
              <a:gd name="adj" fmla="val 13090"/>
            </a:avLst>
          </a:prstGeom>
          <a:solidFill>
            <a:srgbClr val="1A1A1A"/>
          </a:solidFill>
          <a:ln w="12700">
            <a:solidFill>
              <a:srgbClr val="2B2B2B"/>
            </a:solidFill>
            <a:prstDash val="solid"/>
          </a:ln>
        </p:spPr>
      </p:sp>
      <p:sp>
        <p:nvSpPr>
          <p:cNvPr id="12" name="Text 10"/>
          <p:cNvSpPr/>
          <p:nvPr/>
        </p:nvSpPr>
        <p:spPr>
          <a:xfrm>
            <a:off x="1028700" y="3985121"/>
            <a:ext cx="1574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3A8B0"/>
                </a:solidFill>
                <a:latin typeface="DM Mono" pitchFamily="49" charset="0"/>
                <a:ea typeface="DM Mono" pitchFamily="49" charset="-122"/>
                <a:cs typeface="DM Mono" pitchFamily="49" charset="-120"/>
              </a:rPr>
              <a:t>C PLAYERS</a:t>
            </a:r>
            <a:endParaRPr lang="en-US" sz="1300" dirty="0"/>
          </a:p>
        </p:txBody>
      </p:sp>
      <p:sp>
        <p:nvSpPr>
          <p:cNvPr id="13" name="Text 11"/>
          <p:cNvSpPr/>
          <p:nvPr/>
        </p:nvSpPr>
        <p:spPr>
          <a:xfrm>
            <a:off x="2705100" y="3921621"/>
            <a:ext cx="578745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9ECEF"/>
                </a:solidFill>
                <a:latin typeface="Raleway" pitchFamily="34" charset="0"/>
                <a:ea typeface="Raleway" pitchFamily="34" charset="-122"/>
                <a:cs typeface="Raleway" pitchFamily="34" charset="-120"/>
              </a:rPr>
              <a:t>Can’t tell the difference between an A and a C.</a:t>
            </a:r>
            <a:endParaRPr lang="en-US" sz="1800" dirty="0"/>
          </a:p>
        </p:txBody>
      </p:sp>
      <p:pic>
        <p:nvPicPr>
          <p:cNvPr id="14"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15" name="Text 12"/>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6" name="Text 13"/>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[ 14 ]</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L5 · LANDING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How do you </a:t>
            </a:r>
            <a:r>
              <a:rPr lang="en-US" sz="3600" b="1" i="0" dirty="0">
                <a:solidFill>
                  <a:srgbClr val="63E14F"/>
                </a:solidFill>
                <a:latin typeface="Host Grotesk" pitchFamily="34" charset="0"/>
                <a:ea typeface="Host Grotesk" pitchFamily="34" charset="-122"/>
                <a:cs typeface="Host Grotesk" pitchFamily="34" charset="-120"/>
              </a:rPr>
              <a:t>land</a:t>
            </a:r>
            <a:r>
              <a:rPr lang="en-US" sz="3600" b="1" i="0" dirty="0">
                <a:solidFill>
                  <a:srgbClr val="F4F5F7"/>
                </a:solidFill>
                <a:latin typeface="Host Grotesk" pitchFamily="34" charset="0"/>
                <a:ea typeface="Host Grotesk" pitchFamily="34" charset="-122"/>
                <a:cs typeface="Host Grotesk" pitchFamily="34" charset="-120"/>
              </a:rPr>
              <a:t> 10× talent?</a:t>
            </a:r>
            <a:endParaRPr lang="en-US" sz="3600" dirty="0"/>
          </a:p>
        </p:txBody>
      </p:sp>
      <p:pic>
        <p:nvPicPr>
          <p:cNvPr id="5" name="Image 0" descr="Five-level staircase">    </p:cNvPr>
          <p:cNvPicPr>
            <a:picLocks noChangeAspect="1"/>
          </p:cNvPicPr>
          <p:nvPr/>
        </p:nvPicPr>
        <p:blipFill>
          <a:blip r:embed="rId1"/>
          <a:srcRect l="0" r="0" t="0" b="0"/>
          <a:stretch/>
        </p:blipFill>
        <p:spPr>
          <a:xfrm>
            <a:off x="812800" y="2250629"/>
            <a:ext cx="2540000" cy="2730500"/>
          </a:xfrm>
          <a:prstGeom prst="rect">
            <a:avLst/>
          </a:prstGeom>
        </p:spPr>
      </p:pic>
      <p:sp>
        <p:nvSpPr>
          <p:cNvPr id="6" name="Text 3"/>
          <p:cNvSpPr/>
          <p:nvPr/>
        </p:nvSpPr>
        <p:spPr>
          <a:xfrm>
            <a:off x="787400" y="5057329"/>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L1</a:t>
            </a:r>
            <a:endParaRPr lang="en-US" sz="1200" dirty="0"/>
          </a:p>
        </p:txBody>
      </p:sp>
      <p:sp>
        <p:nvSpPr>
          <p:cNvPr id="7" name="Text 4"/>
          <p:cNvSpPr/>
          <p:nvPr/>
        </p:nvSpPr>
        <p:spPr>
          <a:xfrm>
            <a:off x="1320800" y="5057329"/>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L2</a:t>
            </a:r>
            <a:endParaRPr lang="en-US" sz="1200" dirty="0"/>
          </a:p>
        </p:txBody>
      </p:sp>
      <p:sp>
        <p:nvSpPr>
          <p:cNvPr id="8" name="Text 5"/>
          <p:cNvSpPr/>
          <p:nvPr/>
        </p:nvSpPr>
        <p:spPr>
          <a:xfrm>
            <a:off x="1854200" y="5057329"/>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L3</a:t>
            </a:r>
            <a:endParaRPr lang="en-US" sz="1200" dirty="0"/>
          </a:p>
        </p:txBody>
      </p:sp>
      <p:sp>
        <p:nvSpPr>
          <p:cNvPr id="9" name="Text 6"/>
          <p:cNvSpPr/>
          <p:nvPr/>
        </p:nvSpPr>
        <p:spPr>
          <a:xfrm>
            <a:off x="2387600" y="5057329"/>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097"/>
                </a:solidFill>
                <a:latin typeface="DM Mono" pitchFamily="49" charset="0"/>
                <a:ea typeface="DM Mono" pitchFamily="49" charset="-122"/>
                <a:cs typeface="DM Mono" pitchFamily="49" charset="-120"/>
              </a:rPr>
              <a:t>L4</a:t>
            </a:r>
            <a:endParaRPr lang="en-US" sz="1200" dirty="0"/>
          </a:p>
        </p:txBody>
      </p:sp>
      <p:sp>
        <p:nvSpPr>
          <p:cNvPr id="10" name="Text 7"/>
          <p:cNvSpPr/>
          <p:nvPr/>
        </p:nvSpPr>
        <p:spPr>
          <a:xfrm>
            <a:off x="2921000" y="5057329"/>
            <a:ext cx="457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3E14F"/>
                </a:solidFill>
                <a:latin typeface="DM Mono" pitchFamily="49" charset="0"/>
                <a:ea typeface="DM Mono" pitchFamily="49" charset="-122"/>
                <a:cs typeface="DM Mono" pitchFamily="49" charset="-120"/>
              </a:rPr>
              <a:t>L5</a:t>
            </a:r>
            <a:endParaRPr lang="en-US" sz="1200" dirty="0"/>
          </a:p>
        </p:txBody>
      </p:sp>
      <p:sp>
        <p:nvSpPr>
          <p:cNvPr id="11" name="Text 8"/>
          <p:cNvSpPr/>
          <p:nvPr/>
        </p:nvSpPr>
        <p:spPr>
          <a:xfrm>
            <a:off x="3860800" y="1970980"/>
            <a:ext cx="774395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A3A8B0"/>
                </a:solidFill>
                <a:latin typeface="Raleway" pitchFamily="34" charset="0"/>
                <a:ea typeface="Raleway" pitchFamily="34" charset="-122"/>
                <a:cs typeface="Raleway" pitchFamily="34" charset="-120"/>
              </a:rPr>
              <a:t>If it’s about the compensation, you’ve already lost.</a:t>
            </a:r>
            <a:endParaRPr lang="en-US" sz="1700" dirty="0"/>
          </a:p>
        </p:txBody>
      </p:sp>
      <p:sp>
        <p:nvSpPr>
          <p:cNvPr id="12" name="Shape 9"/>
          <p:cNvSpPr/>
          <p:nvPr/>
        </p:nvSpPr>
        <p:spPr>
          <a:xfrm>
            <a:off x="3867150" y="2395786"/>
            <a:ext cx="7505700" cy="916880"/>
          </a:xfrm>
          <a:prstGeom prst="roundRect">
            <a:avLst>
              <a:gd name="adj" fmla="val 10388"/>
            </a:avLst>
          </a:prstGeom>
          <a:solidFill>
            <a:srgbClr val="1A1A1A"/>
          </a:solidFill>
          <a:ln w="12700">
            <a:solidFill>
              <a:srgbClr val="2B2B2B"/>
            </a:solidFill>
            <a:prstDash val="solid"/>
          </a:ln>
        </p:spPr>
      </p:sp>
      <p:sp>
        <p:nvSpPr>
          <p:cNvPr id="13" name="Text 10"/>
          <p:cNvSpPr/>
          <p:nvPr/>
        </p:nvSpPr>
        <p:spPr>
          <a:xfrm>
            <a:off x="4051300" y="2614861"/>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3A8B0"/>
                </a:solidFill>
                <a:latin typeface="DM Mono" pitchFamily="49" charset="0"/>
                <a:ea typeface="DM Mono" pitchFamily="49" charset="-122"/>
                <a:cs typeface="DM Mono" pitchFamily="49" charset="-120"/>
              </a:rPr>
              <a:t>GOOD</a:t>
            </a:r>
            <a:endParaRPr lang="en-US" sz="1300" dirty="0"/>
          </a:p>
        </p:txBody>
      </p:sp>
      <p:sp>
        <p:nvSpPr>
          <p:cNvPr id="14" name="Text 11"/>
          <p:cNvSpPr/>
          <p:nvPr/>
        </p:nvSpPr>
        <p:spPr>
          <a:xfrm>
            <a:off x="5346700" y="2579936"/>
            <a:ext cx="601726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Connects with the candidate deeply, in a way that matters to them.</a:t>
            </a:r>
            <a:endParaRPr lang="en-US" sz="1600" dirty="0"/>
          </a:p>
        </p:txBody>
      </p:sp>
      <p:sp>
        <p:nvSpPr>
          <p:cNvPr id="15" name="Shape 12"/>
          <p:cNvSpPr/>
          <p:nvPr/>
        </p:nvSpPr>
        <p:spPr>
          <a:xfrm>
            <a:off x="3867150" y="3452366"/>
            <a:ext cx="7505700" cy="642590"/>
          </a:xfrm>
          <a:prstGeom prst="roundRect">
            <a:avLst>
              <a:gd name="adj" fmla="val 14823"/>
            </a:avLst>
          </a:prstGeom>
          <a:solidFill>
            <a:srgbClr val="1A1A1A"/>
          </a:solidFill>
          <a:ln w="12700">
            <a:solidFill>
              <a:srgbClr val="2B2B2B"/>
            </a:solidFill>
            <a:prstDash val="solid"/>
          </a:ln>
        </p:spPr>
      </p:sp>
      <p:sp>
        <p:nvSpPr>
          <p:cNvPr id="16" name="Text 13"/>
          <p:cNvSpPr/>
          <p:nvPr/>
        </p:nvSpPr>
        <p:spPr>
          <a:xfrm>
            <a:off x="4051300" y="3671441"/>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3A8B0"/>
                </a:solidFill>
                <a:latin typeface="DM Mono" pitchFamily="49" charset="0"/>
                <a:ea typeface="DM Mono" pitchFamily="49" charset="-122"/>
                <a:cs typeface="DM Mono" pitchFamily="49" charset="-120"/>
              </a:rPr>
              <a:t>BETTER</a:t>
            </a:r>
            <a:endParaRPr lang="en-US" sz="1300" dirty="0"/>
          </a:p>
        </p:txBody>
      </p:sp>
      <p:sp>
        <p:nvSpPr>
          <p:cNvPr id="17" name="Text 14"/>
          <p:cNvSpPr/>
          <p:nvPr/>
        </p:nvSpPr>
        <p:spPr>
          <a:xfrm>
            <a:off x="5346700" y="3636516"/>
            <a:ext cx="6019800"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Pitches the role, team and company with emotional impact.</a:t>
            </a:r>
            <a:endParaRPr lang="en-US" sz="1600" dirty="0"/>
          </a:p>
        </p:txBody>
      </p:sp>
      <p:sp>
        <p:nvSpPr>
          <p:cNvPr id="18" name="Shape 15"/>
          <p:cNvSpPr/>
          <p:nvPr/>
        </p:nvSpPr>
        <p:spPr>
          <a:xfrm>
            <a:off x="3867150" y="4234656"/>
            <a:ext cx="7505700" cy="916880"/>
          </a:xfrm>
          <a:prstGeom prst="roundRect">
            <a:avLst>
              <a:gd name="adj" fmla="val 10388"/>
            </a:avLst>
          </a:prstGeom>
          <a:solidFill>
            <a:srgbClr val="1A1A1A"/>
          </a:solidFill>
          <a:ln w="12700">
            <a:solidFill>
              <a:srgbClr val="63E14F"/>
            </a:solidFill>
            <a:prstDash val="solid"/>
          </a:ln>
        </p:spPr>
      </p:sp>
      <p:sp>
        <p:nvSpPr>
          <p:cNvPr id="19" name="Text 16"/>
          <p:cNvSpPr/>
          <p:nvPr/>
        </p:nvSpPr>
        <p:spPr>
          <a:xfrm>
            <a:off x="4051300" y="4453731"/>
            <a:ext cx="1193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BEST</a:t>
            </a:r>
            <a:endParaRPr lang="en-US" sz="1300" dirty="0"/>
          </a:p>
        </p:txBody>
      </p:sp>
      <p:sp>
        <p:nvSpPr>
          <p:cNvPr id="20" name="Text 17"/>
          <p:cNvSpPr/>
          <p:nvPr/>
        </p:nvSpPr>
        <p:spPr>
          <a:xfrm>
            <a:off x="5346700" y="4418806"/>
            <a:ext cx="601726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Shows why they would win here vs. other options, and it resonates.</a:t>
            </a:r>
            <a:endParaRPr lang="en-US" sz="1600" dirty="0"/>
          </a:p>
        </p:txBody>
      </p:sp>
      <p:sp>
        <p:nvSpPr>
          <p:cNvPr id="21" name="Text 18"/>
          <p:cNvSpPr/>
          <p:nvPr/>
        </p:nvSpPr>
        <p:spPr>
          <a:xfrm>
            <a:off x="3860800" y="5310287"/>
            <a:ext cx="774395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8B9097"/>
                </a:solidFill>
                <a:latin typeface="Raleway" pitchFamily="34" charset="0"/>
                <a:ea typeface="Raleway" pitchFamily="34" charset="-122"/>
                <a:cs typeface="Raleway" pitchFamily="34" charset="-120"/>
              </a:rPr>
              <a:t>(We only live once &amp; work is a LOT of hours — show them your AWESOME self)</a:t>
            </a:r>
            <a:endParaRPr lang="en-US" sz="1400" dirty="0"/>
          </a:p>
        </p:txBody>
      </p:sp>
      <p:pic>
        <p:nvPicPr>
          <p:cNvPr id="22"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23" name="Text 19"/>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4" name="Text 20"/>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[ 15 ]</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1854498"/>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4F5F7"/>
                </a:solidFill>
                <a:latin typeface="Host Grotesk" pitchFamily="34" charset="0"/>
                <a:ea typeface="Host Grotesk" pitchFamily="34" charset="-122"/>
                <a:cs typeface="Host Grotesk" pitchFamily="34" charset="-120"/>
              </a:rPr>
              <a:t>“I joined this company</a:t>
            </a:r>
            <a:endParaRPr lang="en-US" sz="6000" dirty="0"/>
          </a:p>
          <a:p>
            <a:pPr algn="l" indent="0" marL="0">
              <a:lnSpc>
                <a:spcPts val="6300"/>
              </a:lnSpc>
              <a:buNone/>
            </a:pPr>
            <a:r>
              <a:rPr lang="en-US" sz="6000" b="1" dirty="0">
                <a:solidFill>
                  <a:srgbClr val="63E14F"/>
                </a:solidFill>
                <a:latin typeface="Host Grotesk" pitchFamily="34" charset="0"/>
                <a:ea typeface="Host Grotesk" pitchFamily="34" charset="-122"/>
                <a:cs typeface="Host Grotesk" pitchFamily="34" charset="-120"/>
              </a:rPr>
              <a:t>to work with you.”</a:t>
            </a:r>
            <a:endParaRPr lang="en-US" sz="6000" dirty="0"/>
          </a:p>
        </p:txBody>
      </p:sp>
      <p:sp>
        <p:nvSpPr>
          <p:cNvPr id="4" name="Text 2"/>
          <p:cNvSpPr/>
          <p:nvPr/>
        </p:nvSpPr>
        <p:spPr>
          <a:xfrm>
            <a:off x="812800" y="3759498"/>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A3A8B0"/>
                </a:solidFill>
                <a:latin typeface="Raleway" pitchFamily="34" charset="0"/>
                <a:ea typeface="Raleway" pitchFamily="34" charset="-122"/>
                <a:cs typeface="Raleway" pitchFamily="34" charset="-120"/>
              </a:rPr>
              <a:t>When you start hearing this, you’re at L5.</a:t>
            </a:r>
            <a:endParaRPr lang="en-US" sz="2000" dirty="0"/>
          </a:p>
        </p:txBody>
      </p:sp>
      <p:sp>
        <p:nvSpPr>
          <p:cNvPr id="5" name="Text 3"/>
          <p:cNvSpPr/>
          <p:nvPr/>
        </p:nvSpPr>
        <p:spPr>
          <a:xfrm>
            <a:off x="812800" y="4407198"/>
            <a:ext cx="10883392"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E9ECEF"/>
                </a:solidFill>
                <a:latin typeface="Raleway" pitchFamily="34" charset="0"/>
                <a:ea typeface="Raleway" pitchFamily="34" charset="-122"/>
                <a:cs typeface="Raleway" pitchFamily="34" charset="-120"/>
              </a:rPr>
              <a:t>People decide with emotion, then find the reasons. </a:t>
            </a:r>
            <a:r>
              <a:rPr lang="en-US" sz="1700" dirty="0">
                <a:solidFill>
                  <a:srgbClr val="63E14F"/>
                </a:solidFill>
                <a:latin typeface="Raleway" pitchFamily="34" charset="0"/>
                <a:ea typeface="Raleway" pitchFamily="34" charset="-122"/>
                <a:cs typeface="Raleway" pitchFamily="34" charset="-120"/>
              </a:rPr>
              <a:t>Emotion is high-order computation.</a:t>
            </a:r>
            <a:endParaRPr lang="en-US" sz="1700" dirty="0"/>
          </a:p>
        </p:txBody>
      </p:sp>
      <p:pic>
        <p:nvPicPr>
          <p:cNvPr id="6"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7" name="Text 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8" name="Text 5"/>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[ 16 ]</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TRAINING INTERVIEWERS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All five: </a:t>
            </a:r>
            <a:r>
              <a:rPr lang="en-US" sz="3600" b="1" i="0" dirty="0">
                <a:solidFill>
                  <a:srgbClr val="63E14F"/>
                </a:solidFill>
                <a:latin typeface="Host Grotesk" pitchFamily="34" charset="0"/>
                <a:ea typeface="Host Grotesk" pitchFamily="34" charset="-122"/>
                <a:cs typeface="Host Grotesk" pitchFamily="34" charset="-120"/>
              </a:rPr>
              <a:t>an A-player interviewer.</a:t>
            </a:r>
            <a:endParaRPr lang="en-US" sz="3600" dirty="0"/>
          </a:p>
        </p:txBody>
      </p:sp>
      <p:pic>
        <p:nvPicPr>
          <p:cNvPr id="5" name="Image 0" descr="Five-level staircase">    </p:cNvPr>
          <p:cNvPicPr>
            <a:picLocks noChangeAspect="1"/>
          </p:cNvPicPr>
          <p:nvPr/>
        </p:nvPicPr>
        <p:blipFill>
          <a:blip r:embed="rId1"/>
          <a:srcRect l="0" r="0" t="0" b="0"/>
          <a:stretch/>
        </p:blipFill>
        <p:spPr>
          <a:xfrm>
            <a:off x="812800" y="1970980"/>
            <a:ext cx="4203700" cy="3238500"/>
          </a:xfrm>
          <a:prstGeom prst="rect">
            <a:avLst/>
          </a:prstGeom>
        </p:spPr>
      </p:pic>
      <p:sp>
        <p:nvSpPr>
          <p:cNvPr id="6" name="Text 3"/>
          <p:cNvSpPr/>
          <p:nvPr/>
        </p:nvSpPr>
        <p:spPr>
          <a:xfrm>
            <a:off x="787400" y="5285680"/>
            <a:ext cx="749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3E14F"/>
                </a:solidFill>
                <a:latin typeface="DM Mono" pitchFamily="49" charset="0"/>
                <a:ea typeface="DM Mono" pitchFamily="49" charset="-122"/>
                <a:cs typeface="DM Mono" pitchFamily="49" charset="-120"/>
              </a:rPr>
              <a:t>L1</a:t>
            </a:r>
            <a:endParaRPr lang="en-US" sz="1200" dirty="0"/>
          </a:p>
        </p:txBody>
      </p:sp>
      <p:sp>
        <p:nvSpPr>
          <p:cNvPr id="7" name="Text 4"/>
          <p:cNvSpPr/>
          <p:nvPr/>
        </p:nvSpPr>
        <p:spPr>
          <a:xfrm>
            <a:off x="1663700" y="5285680"/>
            <a:ext cx="749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3E14F"/>
                </a:solidFill>
                <a:latin typeface="DM Mono" pitchFamily="49" charset="0"/>
                <a:ea typeface="DM Mono" pitchFamily="49" charset="-122"/>
                <a:cs typeface="DM Mono" pitchFamily="49" charset="-120"/>
              </a:rPr>
              <a:t>L2</a:t>
            </a:r>
            <a:endParaRPr lang="en-US" sz="1200" dirty="0"/>
          </a:p>
        </p:txBody>
      </p:sp>
      <p:sp>
        <p:nvSpPr>
          <p:cNvPr id="8" name="Text 5"/>
          <p:cNvSpPr/>
          <p:nvPr/>
        </p:nvSpPr>
        <p:spPr>
          <a:xfrm>
            <a:off x="2540000" y="5285680"/>
            <a:ext cx="749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3E14F"/>
                </a:solidFill>
                <a:latin typeface="DM Mono" pitchFamily="49" charset="0"/>
                <a:ea typeface="DM Mono" pitchFamily="49" charset="-122"/>
                <a:cs typeface="DM Mono" pitchFamily="49" charset="-120"/>
              </a:rPr>
              <a:t>L3</a:t>
            </a:r>
            <a:endParaRPr lang="en-US" sz="1200" dirty="0"/>
          </a:p>
        </p:txBody>
      </p:sp>
      <p:sp>
        <p:nvSpPr>
          <p:cNvPr id="9" name="Text 6"/>
          <p:cNvSpPr/>
          <p:nvPr/>
        </p:nvSpPr>
        <p:spPr>
          <a:xfrm>
            <a:off x="3416300" y="5285680"/>
            <a:ext cx="749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3E14F"/>
                </a:solidFill>
                <a:latin typeface="DM Mono" pitchFamily="49" charset="0"/>
                <a:ea typeface="DM Mono" pitchFamily="49" charset="-122"/>
                <a:cs typeface="DM Mono" pitchFamily="49" charset="-120"/>
              </a:rPr>
              <a:t>L4</a:t>
            </a:r>
            <a:endParaRPr lang="en-US" sz="1200" dirty="0"/>
          </a:p>
        </p:txBody>
      </p:sp>
      <p:sp>
        <p:nvSpPr>
          <p:cNvPr id="10" name="Text 7"/>
          <p:cNvSpPr/>
          <p:nvPr/>
        </p:nvSpPr>
        <p:spPr>
          <a:xfrm>
            <a:off x="4292600" y="5285680"/>
            <a:ext cx="749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3E14F"/>
                </a:solidFill>
                <a:latin typeface="DM Mono" pitchFamily="49" charset="0"/>
                <a:ea typeface="DM Mono" pitchFamily="49" charset="-122"/>
                <a:cs typeface="DM Mono" pitchFamily="49" charset="-120"/>
              </a:rPr>
              <a:t>L5</a:t>
            </a:r>
            <a:endParaRPr lang="en-US" sz="1200" dirty="0"/>
          </a:p>
        </p:txBody>
      </p:sp>
      <p:sp>
        <p:nvSpPr>
          <p:cNvPr id="11" name="Text 8"/>
          <p:cNvSpPr/>
          <p:nvPr/>
        </p:nvSpPr>
        <p:spPr>
          <a:xfrm>
            <a:off x="5626100" y="2728565"/>
            <a:ext cx="558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L1</a:t>
            </a:r>
            <a:endParaRPr lang="en-US" sz="1300" dirty="0"/>
          </a:p>
        </p:txBody>
      </p:sp>
      <p:sp>
        <p:nvSpPr>
          <p:cNvPr id="12" name="Text 9"/>
          <p:cNvSpPr/>
          <p:nvPr/>
        </p:nvSpPr>
        <p:spPr>
          <a:xfrm>
            <a:off x="6261100" y="2693640"/>
            <a:ext cx="4182487"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E9ECEF"/>
                </a:solidFill>
                <a:latin typeface="Raleway" pitchFamily="34" charset="0"/>
                <a:ea typeface="Raleway" pitchFamily="34" charset="-122"/>
                <a:cs typeface="Raleway" pitchFamily="34" charset="-120"/>
              </a:rPr>
              <a:t>Competence</a:t>
            </a:r>
            <a:r>
              <a:rPr lang="en-US" sz="1600" dirty="0">
                <a:solidFill>
                  <a:srgbClr val="E9ECEF"/>
                </a:solidFill>
                <a:latin typeface="Raleway" pitchFamily="34" charset="0"/>
                <a:ea typeface="Raleway" pitchFamily="34" charset="-122"/>
                <a:cs typeface="Raleway" pitchFamily="34" charset="-120"/>
              </a:rPr>
              <a:t> · Do they meet our bar?</a:t>
            </a:r>
            <a:endParaRPr lang="en-US" sz="1600" dirty="0"/>
          </a:p>
        </p:txBody>
      </p:sp>
      <p:sp>
        <p:nvSpPr>
          <p:cNvPr id="13" name="Text 10"/>
          <p:cNvSpPr/>
          <p:nvPr/>
        </p:nvSpPr>
        <p:spPr>
          <a:xfrm>
            <a:off x="5626100" y="3180655"/>
            <a:ext cx="558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L2</a:t>
            </a:r>
            <a:endParaRPr lang="en-US" sz="1300" dirty="0"/>
          </a:p>
        </p:txBody>
      </p:sp>
      <p:sp>
        <p:nvSpPr>
          <p:cNvPr id="14" name="Text 11"/>
          <p:cNvSpPr/>
          <p:nvPr/>
        </p:nvSpPr>
        <p:spPr>
          <a:xfrm>
            <a:off x="6261100" y="3145730"/>
            <a:ext cx="3860840"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E9ECEF"/>
                </a:solidFill>
                <a:latin typeface="Raleway" pitchFamily="34" charset="0"/>
                <a:ea typeface="Raleway" pitchFamily="34" charset="-122"/>
                <a:cs typeface="Raleway" pitchFamily="34" charset="-120"/>
              </a:rPr>
              <a:t>Potential</a:t>
            </a:r>
            <a:r>
              <a:rPr lang="en-US" sz="1600" dirty="0">
                <a:solidFill>
                  <a:srgbClr val="E9ECEF"/>
                </a:solidFill>
                <a:latin typeface="Raleway" pitchFamily="34" charset="0"/>
                <a:ea typeface="Raleway" pitchFamily="34" charset="-122"/>
                <a:cs typeface="Raleway" pitchFamily="34" charset="-120"/>
              </a:rPr>
              <a:t> · How far can they grow?</a:t>
            </a:r>
            <a:endParaRPr lang="en-US" sz="1600" dirty="0"/>
          </a:p>
        </p:txBody>
      </p:sp>
      <p:sp>
        <p:nvSpPr>
          <p:cNvPr id="15" name="Text 12"/>
          <p:cNvSpPr/>
          <p:nvPr/>
        </p:nvSpPr>
        <p:spPr>
          <a:xfrm>
            <a:off x="5626100" y="3632746"/>
            <a:ext cx="558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L3</a:t>
            </a:r>
            <a:endParaRPr lang="en-US" sz="1300" dirty="0"/>
          </a:p>
        </p:txBody>
      </p:sp>
      <p:sp>
        <p:nvSpPr>
          <p:cNvPr id="16" name="Text 13"/>
          <p:cNvSpPr/>
          <p:nvPr/>
        </p:nvSpPr>
        <p:spPr>
          <a:xfrm>
            <a:off x="6261100" y="3597821"/>
            <a:ext cx="3348097"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E9ECEF"/>
                </a:solidFill>
                <a:latin typeface="Raleway" pitchFamily="34" charset="0"/>
                <a:ea typeface="Raleway" pitchFamily="34" charset="-122"/>
                <a:cs typeface="Raleway" pitchFamily="34" charset="-120"/>
              </a:rPr>
              <a:t>Fit</a:t>
            </a:r>
            <a:r>
              <a:rPr lang="en-US" sz="1600" dirty="0">
                <a:solidFill>
                  <a:srgbClr val="E9ECEF"/>
                </a:solidFill>
                <a:latin typeface="Raleway" pitchFamily="34" charset="0"/>
                <a:ea typeface="Raleway" pitchFamily="34" charset="-122"/>
                <a:cs typeface="Raleway" pitchFamily="34" charset="-120"/>
              </a:rPr>
              <a:t> · What unlocks them here?</a:t>
            </a:r>
            <a:endParaRPr lang="en-US" sz="1600" dirty="0"/>
          </a:p>
        </p:txBody>
      </p:sp>
      <p:sp>
        <p:nvSpPr>
          <p:cNvPr id="17" name="Text 14"/>
          <p:cNvSpPr/>
          <p:nvPr/>
        </p:nvSpPr>
        <p:spPr>
          <a:xfrm>
            <a:off x="5626100" y="4084836"/>
            <a:ext cx="558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L4</a:t>
            </a:r>
            <a:endParaRPr lang="en-US" sz="1300" dirty="0"/>
          </a:p>
        </p:txBody>
      </p:sp>
      <p:sp>
        <p:nvSpPr>
          <p:cNvPr id="18" name="Text 15"/>
          <p:cNvSpPr/>
          <p:nvPr/>
        </p:nvSpPr>
        <p:spPr>
          <a:xfrm>
            <a:off x="6261100" y="4049911"/>
            <a:ext cx="3987701"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E9ECEF"/>
                </a:solidFill>
                <a:latin typeface="Raleway" pitchFamily="34" charset="0"/>
                <a:ea typeface="Raleway" pitchFamily="34" charset="-122"/>
                <a:cs typeface="Raleway" pitchFamily="34" charset="-120"/>
              </a:rPr>
              <a:t>Magnet</a:t>
            </a:r>
            <a:r>
              <a:rPr lang="en-US" sz="1600" dirty="0">
                <a:solidFill>
                  <a:srgbClr val="E9ECEF"/>
                </a:solidFill>
                <a:latin typeface="Raleway" pitchFamily="34" charset="0"/>
                <a:ea typeface="Raleway" pitchFamily="34" charset="-122"/>
                <a:cs typeface="Raleway" pitchFamily="34" charset="-120"/>
              </a:rPr>
              <a:t> · Strength attracts strength.</a:t>
            </a:r>
            <a:endParaRPr lang="en-US" sz="1600" dirty="0"/>
          </a:p>
        </p:txBody>
      </p:sp>
      <p:sp>
        <p:nvSpPr>
          <p:cNvPr id="19" name="Text 16"/>
          <p:cNvSpPr/>
          <p:nvPr/>
        </p:nvSpPr>
        <p:spPr>
          <a:xfrm>
            <a:off x="5626100" y="4536926"/>
            <a:ext cx="558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L5</a:t>
            </a:r>
            <a:endParaRPr lang="en-US" sz="1300" dirty="0"/>
          </a:p>
        </p:txBody>
      </p:sp>
      <p:sp>
        <p:nvSpPr>
          <p:cNvPr id="20" name="Text 17"/>
          <p:cNvSpPr/>
          <p:nvPr/>
        </p:nvSpPr>
        <p:spPr>
          <a:xfrm>
            <a:off x="6261100" y="4502001"/>
            <a:ext cx="4010620"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E9ECEF"/>
                </a:solidFill>
                <a:latin typeface="Raleway" pitchFamily="34" charset="0"/>
                <a:ea typeface="Raleway" pitchFamily="34" charset="-122"/>
                <a:cs typeface="Raleway" pitchFamily="34" charset="-120"/>
              </a:rPr>
              <a:t>Landing</a:t>
            </a:r>
            <a:r>
              <a:rPr lang="en-US" sz="1600" dirty="0">
                <a:solidFill>
                  <a:srgbClr val="E9ECEF"/>
                </a:solidFill>
                <a:latin typeface="Raleway" pitchFamily="34" charset="0"/>
                <a:ea typeface="Raleway" pitchFamily="34" charset="-122"/>
                <a:cs typeface="Raleway" pitchFamily="34" charset="-120"/>
              </a:rPr>
              <a:t> · “I joined to work with you.”</a:t>
            </a:r>
            <a:endParaRPr lang="en-US" sz="1600" dirty="0"/>
          </a:p>
        </p:txBody>
      </p:sp>
      <p:pic>
        <p:nvPicPr>
          <p:cNvPr id="21" name="Image 1" descr="Mashgin">    </p:cNvPr>
          <p:cNvPicPr>
            <a:picLocks noChangeAspect="1"/>
          </p:cNvPicPr>
          <p:nvPr/>
        </p:nvPicPr>
        <p:blipFill>
          <a:blip r:embed="rId2"/>
          <a:srcRect l="-284" r="-284" t="0" b="0"/>
          <a:stretch/>
        </p:blipFill>
        <p:spPr>
          <a:xfrm>
            <a:off x="10121900" y="406400"/>
            <a:ext cx="1460500" cy="298450"/>
          </a:xfrm>
          <a:prstGeom prst="rect">
            <a:avLst/>
          </a:prstGeom>
        </p:spPr>
      </p:pic>
      <p:sp>
        <p:nvSpPr>
          <p:cNvPr id="22" name="Text 1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3" name="Text 19"/>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[ 17 ]</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RULE #1 ]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Be </a:t>
            </a:r>
            <a:r>
              <a:rPr lang="en-US" sz="3600" b="1" i="0" dirty="0">
                <a:solidFill>
                  <a:srgbClr val="63E14F"/>
                </a:solidFill>
                <a:latin typeface="Host Grotesk" pitchFamily="34" charset="0"/>
                <a:ea typeface="Host Grotesk" pitchFamily="34" charset="-122"/>
                <a:cs typeface="Host Grotesk" pitchFamily="34" charset="-120"/>
              </a:rPr>
              <a:t>interested.</a:t>
            </a:r>
            <a:endParaRPr lang="en-US" sz="3600" dirty="0"/>
          </a:p>
        </p:txBody>
      </p:sp>
      <p:sp>
        <p:nvSpPr>
          <p:cNvPr id="5" name="Shape 3"/>
          <p:cNvSpPr/>
          <p:nvPr/>
        </p:nvSpPr>
        <p:spPr>
          <a:xfrm>
            <a:off x="819150" y="1977330"/>
            <a:ext cx="3390900" cy="1972221"/>
          </a:xfrm>
          <a:prstGeom prst="roundRect">
            <a:avLst>
              <a:gd name="adj" fmla="val 4830"/>
            </a:avLst>
          </a:prstGeom>
          <a:solidFill>
            <a:srgbClr val="1A1A1A"/>
          </a:solidFill>
          <a:ln w="12700">
            <a:solidFill>
              <a:srgbClr val="2B2B2B"/>
            </a:solidFill>
            <a:prstDash val="solid"/>
          </a:ln>
        </p:spPr>
      </p:sp>
      <p:sp>
        <p:nvSpPr>
          <p:cNvPr id="6" name="Text 4"/>
          <p:cNvSpPr/>
          <p:nvPr/>
        </p:nvSpPr>
        <p:spPr>
          <a:xfrm>
            <a:off x="1079500" y="2237680"/>
            <a:ext cx="2956306"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RESPONSIBILITY</a:t>
            </a:r>
            <a:endParaRPr lang="en-US" sz="1300" dirty="0"/>
          </a:p>
        </p:txBody>
      </p:sp>
      <p:sp>
        <p:nvSpPr>
          <p:cNvPr id="7" name="Text 5"/>
          <p:cNvSpPr/>
          <p:nvPr/>
        </p:nvSpPr>
        <p:spPr>
          <a:xfrm>
            <a:off x="1079500" y="2595811"/>
            <a:ext cx="2956306" cy="75178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E9ECEF"/>
                </a:solidFill>
                <a:latin typeface="Host Grotesk" pitchFamily="34" charset="0"/>
                <a:ea typeface="Host Grotesk" pitchFamily="34" charset="-122"/>
                <a:cs typeface="Host Grotesk" pitchFamily="34" charset="-120"/>
              </a:rPr>
              <a:t>Connection</a:t>
            </a:r>
            <a:endParaRPr lang="en-US" sz="2200" dirty="0"/>
          </a:p>
          <a:p>
            <a:pPr algn="l" indent="0" marL="0">
              <a:lnSpc>
                <a:spcPts val="2860"/>
              </a:lnSpc>
              <a:buNone/>
            </a:pPr>
            <a:r>
              <a:rPr lang="en-US" sz="2200" b="1" dirty="0">
                <a:solidFill>
                  <a:srgbClr val="E9ECEF"/>
                </a:solidFill>
                <a:latin typeface="Host Grotesk" pitchFamily="34" charset="0"/>
                <a:ea typeface="Host Grotesk" pitchFamily="34" charset="-122"/>
                <a:cs typeface="Host Grotesk" pitchFamily="34" charset="-120"/>
              </a:rPr>
              <a:t>No distractions</a:t>
            </a:r>
            <a:endParaRPr lang="en-US" sz="2200" dirty="0"/>
          </a:p>
        </p:txBody>
      </p:sp>
      <p:sp>
        <p:nvSpPr>
          <p:cNvPr id="8" name="Text 6"/>
          <p:cNvSpPr/>
          <p:nvPr/>
        </p:nvSpPr>
        <p:spPr>
          <a:xfrm>
            <a:off x="1079500" y="3449191"/>
            <a:ext cx="295630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8B9097"/>
                </a:solidFill>
                <a:latin typeface="Raleway" pitchFamily="34" charset="0"/>
                <a:ea typeface="Raleway" pitchFamily="34" charset="-122"/>
                <a:cs typeface="Raleway" pitchFamily="34" charset="-120"/>
              </a:rPr>
              <a:t>(Turn off Slack and Claude!)</a:t>
            </a:r>
            <a:endParaRPr lang="en-US" sz="1400" dirty="0"/>
          </a:p>
        </p:txBody>
      </p:sp>
      <p:sp>
        <p:nvSpPr>
          <p:cNvPr id="9" name="Shape 7"/>
          <p:cNvSpPr/>
          <p:nvPr/>
        </p:nvSpPr>
        <p:spPr>
          <a:xfrm>
            <a:off x="4400550" y="1977330"/>
            <a:ext cx="3390900" cy="1972221"/>
          </a:xfrm>
          <a:prstGeom prst="roundRect">
            <a:avLst>
              <a:gd name="adj" fmla="val 4830"/>
            </a:avLst>
          </a:prstGeom>
          <a:solidFill>
            <a:srgbClr val="1A1A1A"/>
          </a:solidFill>
          <a:ln w="12700">
            <a:solidFill>
              <a:srgbClr val="2B2B2B"/>
            </a:solidFill>
            <a:prstDash val="solid"/>
          </a:ln>
        </p:spPr>
      </p:sp>
      <p:sp>
        <p:nvSpPr>
          <p:cNvPr id="10" name="Text 8"/>
          <p:cNvSpPr/>
          <p:nvPr/>
        </p:nvSpPr>
        <p:spPr>
          <a:xfrm>
            <a:off x="4660900" y="2237680"/>
            <a:ext cx="2956306"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LOOK FOR</a:t>
            </a:r>
            <a:endParaRPr lang="en-US" sz="1300" dirty="0"/>
          </a:p>
        </p:txBody>
      </p:sp>
      <p:sp>
        <p:nvSpPr>
          <p:cNvPr id="11" name="Text 9"/>
          <p:cNvSpPr/>
          <p:nvPr/>
        </p:nvSpPr>
        <p:spPr>
          <a:xfrm>
            <a:off x="4660900" y="2595811"/>
            <a:ext cx="2956306" cy="111497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E9ECEF"/>
                </a:solidFill>
                <a:latin typeface="Host Grotesk" pitchFamily="34" charset="0"/>
                <a:ea typeface="Host Grotesk" pitchFamily="34" charset="-122"/>
                <a:cs typeface="Host Grotesk" pitchFamily="34" charset="-120"/>
              </a:rPr>
              <a:t>Motivation</a:t>
            </a:r>
            <a:endParaRPr lang="en-US" sz="2200" dirty="0"/>
          </a:p>
          <a:p>
            <a:pPr algn="l" indent="0" marL="0">
              <a:lnSpc>
                <a:spcPts val="2860"/>
              </a:lnSpc>
              <a:buNone/>
            </a:pPr>
            <a:r>
              <a:rPr lang="en-US" sz="2200" b="1" dirty="0">
                <a:solidFill>
                  <a:srgbClr val="E9ECEF"/>
                </a:solidFill>
                <a:latin typeface="Host Grotesk" pitchFamily="34" charset="0"/>
                <a:ea typeface="Host Grotesk" pitchFamily="34" charset="-122"/>
                <a:cs typeface="Host Grotesk" pitchFamily="34" charset="-120"/>
              </a:rPr>
              <a:t>Pride</a:t>
            </a:r>
            <a:endParaRPr lang="en-US" sz="2200" dirty="0"/>
          </a:p>
          <a:p>
            <a:pPr algn="l" indent="0" marL="0">
              <a:lnSpc>
                <a:spcPts val="2860"/>
              </a:lnSpc>
              <a:buNone/>
            </a:pPr>
            <a:r>
              <a:rPr lang="en-US" sz="2200" b="1" dirty="0">
                <a:solidFill>
                  <a:srgbClr val="E9ECEF"/>
                </a:solidFill>
                <a:latin typeface="Host Grotesk" pitchFamily="34" charset="0"/>
                <a:ea typeface="Host Grotesk" pitchFamily="34" charset="-122"/>
                <a:cs typeface="Host Grotesk" pitchFamily="34" charset="-120"/>
              </a:rPr>
              <a:t>Why they left</a:t>
            </a:r>
            <a:endParaRPr lang="en-US" sz="2200" dirty="0"/>
          </a:p>
        </p:txBody>
      </p:sp>
      <p:sp>
        <p:nvSpPr>
          <p:cNvPr id="12" name="Shape 10"/>
          <p:cNvSpPr/>
          <p:nvPr/>
        </p:nvSpPr>
        <p:spPr>
          <a:xfrm>
            <a:off x="7981950" y="1977330"/>
            <a:ext cx="3390900" cy="1972221"/>
          </a:xfrm>
          <a:prstGeom prst="roundRect">
            <a:avLst>
              <a:gd name="adj" fmla="val 4830"/>
            </a:avLst>
          </a:prstGeom>
          <a:solidFill>
            <a:srgbClr val="1A1A1A"/>
          </a:solidFill>
          <a:ln w="12700">
            <a:solidFill>
              <a:srgbClr val="2B2B2B"/>
            </a:solidFill>
            <a:prstDash val="solid"/>
          </a:ln>
        </p:spPr>
      </p:sp>
      <p:sp>
        <p:nvSpPr>
          <p:cNvPr id="13" name="Text 11"/>
          <p:cNvSpPr/>
          <p:nvPr/>
        </p:nvSpPr>
        <p:spPr>
          <a:xfrm>
            <a:off x="8242300" y="2237680"/>
            <a:ext cx="2956306"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EMPLOY</a:t>
            </a:r>
            <a:endParaRPr lang="en-US" sz="1300" dirty="0"/>
          </a:p>
        </p:txBody>
      </p:sp>
      <p:sp>
        <p:nvSpPr>
          <p:cNvPr id="14" name="Text 12"/>
          <p:cNvSpPr/>
          <p:nvPr/>
        </p:nvSpPr>
        <p:spPr>
          <a:xfrm>
            <a:off x="8242300" y="2595811"/>
            <a:ext cx="2956306" cy="751780"/>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E9ECEF"/>
                </a:solidFill>
                <a:latin typeface="Host Grotesk" pitchFamily="34" charset="0"/>
                <a:ea typeface="Host Grotesk" pitchFamily="34" charset="-122"/>
                <a:cs typeface="Host Grotesk" pitchFamily="34" charset="-120"/>
              </a:rPr>
              <a:t>Active listening</a:t>
            </a:r>
            <a:endParaRPr lang="en-US" sz="2200" dirty="0"/>
          </a:p>
          <a:p>
            <a:pPr algn="l" indent="0" marL="0">
              <a:lnSpc>
                <a:spcPts val="2860"/>
              </a:lnSpc>
              <a:buNone/>
            </a:pPr>
            <a:r>
              <a:rPr lang="en-US" sz="2200" b="1" dirty="0">
                <a:solidFill>
                  <a:srgbClr val="E9ECEF"/>
                </a:solidFill>
                <a:latin typeface="Host Grotesk" pitchFamily="34" charset="0"/>
                <a:ea typeface="Host Grotesk" pitchFamily="34" charset="-122"/>
                <a:cs typeface="Host Grotesk" pitchFamily="34" charset="-120"/>
              </a:rPr>
              <a:t>“Tell me more?”</a:t>
            </a:r>
            <a:endParaRPr lang="en-US" sz="2200" dirty="0"/>
          </a:p>
        </p:txBody>
      </p:sp>
      <p:pic>
        <p:nvPicPr>
          <p:cNvPr id="15"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16" name="Text 1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7" name="Text 14"/>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[ 18 ]</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RULE #2 ]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Be an </a:t>
            </a:r>
            <a:r>
              <a:rPr lang="en-US" sz="3600" b="1" i="0" dirty="0">
                <a:solidFill>
                  <a:srgbClr val="63E14F"/>
                </a:solidFill>
                <a:latin typeface="Host Grotesk" pitchFamily="34" charset="0"/>
                <a:ea typeface="Host Grotesk" pitchFamily="34" charset="-122"/>
                <a:cs typeface="Host Grotesk" pitchFamily="34" charset="-120"/>
              </a:rPr>
              <a:t>advocate.</a:t>
            </a:r>
            <a:endParaRPr lang="en-US" sz="3600" dirty="0"/>
          </a:p>
        </p:txBody>
      </p:sp>
      <p:sp>
        <p:nvSpPr>
          <p:cNvPr id="5" name="Text 3"/>
          <p:cNvSpPr/>
          <p:nvPr/>
        </p:nvSpPr>
        <p:spPr>
          <a:xfrm>
            <a:off x="2298700" y="2038499"/>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GOOD FOR US</a:t>
            </a:r>
            <a:endParaRPr lang="en-US" sz="1200" dirty="0"/>
          </a:p>
        </p:txBody>
      </p:sp>
      <p:sp>
        <p:nvSpPr>
          <p:cNvPr id="6" name="Text 4"/>
          <p:cNvSpPr/>
          <p:nvPr/>
        </p:nvSpPr>
        <p:spPr>
          <a:xfrm>
            <a:off x="4965700" y="2038499"/>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BAD FOR US</a:t>
            </a:r>
            <a:endParaRPr lang="en-US" sz="1200" dirty="0"/>
          </a:p>
        </p:txBody>
      </p:sp>
      <p:sp>
        <p:nvSpPr>
          <p:cNvPr id="7" name="Text 5"/>
          <p:cNvSpPr/>
          <p:nvPr/>
        </p:nvSpPr>
        <p:spPr>
          <a:xfrm>
            <a:off x="812800" y="2946549"/>
            <a:ext cx="14478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GOOD FOR THEM</a:t>
            </a:r>
            <a:endParaRPr lang="en-US" sz="1200" dirty="0"/>
          </a:p>
        </p:txBody>
      </p:sp>
      <p:sp>
        <p:nvSpPr>
          <p:cNvPr id="8" name="Text 6"/>
          <p:cNvSpPr/>
          <p:nvPr/>
        </p:nvSpPr>
        <p:spPr>
          <a:xfrm>
            <a:off x="2343150" y="2456309"/>
            <a:ext cx="2527300" cy="1193800"/>
          </a:xfrm>
          <a:prstGeom prst="roundRect">
            <a:avLst>
              <a:gd name="adj" fmla="val 7979"/>
            </a:avLst>
          </a:prstGeom>
          <a:solidFill>
            <a:srgbClr val="1C2619"/>
          </a:solidFill>
          <a:ln w="12700">
            <a:solidFill>
              <a:srgbClr val="63E14F"/>
            </a:solidFill>
            <a:prstDash val="solid"/>
          </a:ln>
        </p:spPr>
        <p:txBody>
          <a:bodyPr wrap="square" lIns="156252" tIns="156252" rIns="156252" bIns="156252" rtlCol="0" anchor="ctr">
            <a:normAutofit/>
          </a:bodyPr>
          <a:lstStyle/>
          <a:p>
            <a:pPr algn="l" indent="0" marL="0">
              <a:lnSpc>
                <a:spcPts val="2025"/>
              </a:lnSpc>
              <a:buNone/>
            </a:pPr>
            <a:r>
              <a:rPr lang="en-US" sz="1500" b="1" dirty="0">
                <a:solidFill>
                  <a:srgbClr val="63E14F"/>
                </a:solidFill>
                <a:latin typeface="Raleway" pitchFamily="34" charset="0"/>
                <a:ea typeface="Raleway" pitchFamily="34" charset="-122"/>
                <a:cs typeface="Raleway" pitchFamily="34" charset="-120"/>
              </a:rPr>
              <a:t>Great employee.</a:t>
            </a:r>
            <a:endParaRPr lang="en-US" sz="1500" dirty="0"/>
          </a:p>
        </p:txBody>
      </p:sp>
      <p:sp>
        <p:nvSpPr>
          <p:cNvPr id="9" name="Text 7"/>
          <p:cNvSpPr/>
          <p:nvPr/>
        </p:nvSpPr>
        <p:spPr>
          <a:xfrm>
            <a:off x="5010150" y="2456309"/>
            <a:ext cx="2527300" cy="1193800"/>
          </a:xfrm>
          <a:prstGeom prst="roundRect">
            <a:avLst>
              <a:gd name="adj" fmla="val 7979"/>
            </a:avLst>
          </a:prstGeom>
          <a:solidFill>
            <a:srgbClr val="141416"/>
          </a:solidFill>
          <a:ln w="12700">
            <a:solidFill>
              <a:srgbClr val="2B2B2B"/>
            </a:solidFill>
            <a:prstDash val="solid"/>
          </a:ln>
        </p:spPr>
        <p:txBody>
          <a:bodyPr wrap="square" lIns="156252" tIns="156252" rIns="91482" bIns="156252" rtlCol="0" anchor="ctr">
            <a:normAutofit/>
          </a:bodyPr>
          <a:lstStyle/>
          <a:p>
            <a:pPr algn="l" indent="0" marL="0">
              <a:lnSpc>
                <a:spcPts val="2025"/>
              </a:lnSpc>
              <a:buNone/>
            </a:pPr>
            <a:r>
              <a:rPr lang="en-US" sz="1500" dirty="0">
                <a:solidFill>
                  <a:srgbClr val="E9ECEF"/>
                </a:solidFill>
                <a:latin typeface="Raleway" pitchFamily="34" charset="0"/>
                <a:ea typeface="Raleway" pitchFamily="34" charset="-122"/>
                <a:cs typeface="Raleway" pitchFamily="34" charset="-120"/>
              </a:rPr>
              <a:t>They get fired when we figure it out.</a:t>
            </a:r>
            <a:endParaRPr lang="en-US" sz="1500" dirty="0"/>
          </a:p>
        </p:txBody>
      </p:sp>
      <p:sp>
        <p:nvSpPr>
          <p:cNvPr id="10" name="Text 8"/>
          <p:cNvSpPr/>
          <p:nvPr/>
        </p:nvSpPr>
        <p:spPr>
          <a:xfrm>
            <a:off x="812800" y="4280049"/>
            <a:ext cx="14478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BAD FOR THEM</a:t>
            </a:r>
            <a:endParaRPr lang="en-US" sz="1200" dirty="0"/>
          </a:p>
        </p:txBody>
      </p:sp>
      <p:sp>
        <p:nvSpPr>
          <p:cNvPr id="11" name="Text 9"/>
          <p:cNvSpPr/>
          <p:nvPr/>
        </p:nvSpPr>
        <p:spPr>
          <a:xfrm>
            <a:off x="2343150" y="3789809"/>
            <a:ext cx="2527300" cy="1193800"/>
          </a:xfrm>
          <a:prstGeom prst="roundRect">
            <a:avLst>
              <a:gd name="adj" fmla="val 7979"/>
            </a:avLst>
          </a:prstGeom>
          <a:solidFill>
            <a:srgbClr val="141416"/>
          </a:solidFill>
          <a:ln w="12700">
            <a:solidFill>
              <a:srgbClr val="2B2B2B"/>
            </a:solidFill>
            <a:prstDash val="solid"/>
          </a:ln>
        </p:spPr>
        <p:txBody>
          <a:bodyPr wrap="square" lIns="156252" tIns="156252" rIns="91482" bIns="156252" rtlCol="0" anchor="ctr">
            <a:normAutofit/>
          </a:bodyPr>
          <a:lstStyle/>
          <a:p>
            <a:pPr algn="l" indent="0" marL="0">
              <a:lnSpc>
                <a:spcPts val="2025"/>
              </a:lnSpc>
              <a:buNone/>
            </a:pPr>
            <a:r>
              <a:rPr lang="en-US" sz="1500" dirty="0">
                <a:solidFill>
                  <a:srgbClr val="E9ECEF"/>
                </a:solidFill>
                <a:latin typeface="Raleway" pitchFamily="34" charset="0"/>
                <a:ea typeface="Raleway" pitchFamily="34" charset="-122"/>
                <a:cs typeface="Raleway" pitchFamily="34" charset="-120"/>
              </a:rPr>
              <a:t>They leave when they figure it out, or stay for the wrong reason.</a:t>
            </a:r>
            <a:endParaRPr lang="en-US" sz="1500" dirty="0"/>
          </a:p>
        </p:txBody>
      </p:sp>
      <p:sp>
        <p:nvSpPr>
          <p:cNvPr id="12" name="Text 10"/>
          <p:cNvSpPr/>
          <p:nvPr/>
        </p:nvSpPr>
        <p:spPr>
          <a:xfrm>
            <a:off x="5010150" y="3789809"/>
            <a:ext cx="2527300" cy="1193800"/>
          </a:xfrm>
          <a:prstGeom prst="roundRect">
            <a:avLst>
              <a:gd name="adj" fmla="val 7979"/>
            </a:avLst>
          </a:prstGeom>
          <a:solidFill>
            <a:srgbClr val="141416"/>
          </a:solidFill>
          <a:ln w="12700">
            <a:solidFill>
              <a:srgbClr val="2B2B2B"/>
            </a:solidFill>
            <a:prstDash val="solid"/>
          </a:ln>
        </p:spPr>
        <p:txBody>
          <a:bodyPr wrap="square" lIns="156252" tIns="156252" rIns="156252" bIns="156252" rtlCol="0" anchor="ctr">
            <a:normAutofit/>
          </a:bodyPr>
          <a:lstStyle/>
          <a:p>
            <a:pPr algn="l" indent="0" marL="0">
              <a:lnSpc>
                <a:spcPts val="2025"/>
              </a:lnSpc>
              <a:buNone/>
            </a:pPr>
            <a:r>
              <a:rPr lang="en-US" sz="1500" dirty="0">
                <a:solidFill>
                  <a:srgbClr val="8B9097"/>
                </a:solidFill>
                <a:latin typeface="Raleway" pitchFamily="34" charset="0"/>
                <a:ea typeface="Raleway" pitchFamily="34" charset="-122"/>
                <a:cs typeface="Raleway" pitchFamily="34" charset="-120"/>
              </a:rPr>
              <a:t>Nobody wins.</a:t>
            </a:r>
            <a:endParaRPr lang="en-US" sz="1500" dirty="0"/>
          </a:p>
        </p:txBody>
      </p:sp>
      <p:sp>
        <p:nvSpPr>
          <p:cNvPr id="13" name="Text 11"/>
          <p:cNvSpPr/>
          <p:nvPr/>
        </p:nvSpPr>
        <p:spPr>
          <a:xfrm>
            <a:off x="7899400" y="1970980"/>
            <a:ext cx="3584194" cy="31685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E9ECEF"/>
                </a:solidFill>
                <a:latin typeface="Raleway" pitchFamily="34" charset="0"/>
                <a:ea typeface="Raleway" pitchFamily="34" charset="-122"/>
                <a:cs typeface="Raleway" pitchFamily="34" charset="-120"/>
              </a:rPr>
              <a:t>Fit is established </a:t>
            </a:r>
            <a:r>
              <a:rPr lang="en-US" sz="1700" b="1" dirty="0">
                <a:solidFill>
                  <a:srgbClr val="E9ECEF"/>
                </a:solidFill>
                <a:latin typeface="Raleway" pitchFamily="34" charset="0"/>
                <a:ea typeface="Raleway" pitchFamily="34" charset="-122"/>
                <a:cs typeface="Raleway" pitchFamily="34" charset="-120"/>
              </a:rPr>
              <a:t>jointly</a:t>
            </a:r>
            <a:r>
              <a:rPr lang="en-US" sz="1700" dirty="0">
                <a:solidFill>
                  <a:srgbClr val="E9ECEF"/>
                </a:solidFill>
                <a:latin typeface="Raleway" pitchFamily="34" charset="0"/>
                <a:ea typeface="Raleway" pitchFamily="34" charset="-122"/>
                <a:cs typeface="Raleway" pitchFamily="34" charset="-120"/>
              </a:rPr>
              <a:t>.</a:t>
            </a:r>
            <a:endParaRPr lang="en-US" sz="1700" dirty="0"/>
          </a:p>
        </p:txBody>
      </p:sp>
      <p:sp>
        <p:nvSpPr>
          <p:cNvPr id="14" name="Shape 12"/>
          <p:cNvSpPr/>
          <p:nvPr/>
        </p:nvSpPr>
        <p:spPr>
          <a:xfrm>
            <a:off x="7905750" y="2395786"/>
            <a:ext cx="3467100" cy="1377851"/>
          </a:xfrm>
          <a:prstGeom prst="roundRect">
            <a:avLst>
              <a:gd name="adj" fmla="val 6913"/>
            </a:avLst>
          </a:prstGeom>
          <a:solidFill>
            <a:srgbClr val="1A1A1A"/>
          </a:solidFill>
          <a:ln w="12700">
            <a:solidFill>
              <a:srgbClr val="2B2B2B"/>
            </a:solidFill>
            <a:prstDash val="solid"/>
          </a:ln>
        </p:spPr>
      </p:sp>
      <p:sp>
        <p:nvSpPr>
          <p:cNvPr id="15" name="Text 13"/>
          <p:cNvSpPr/>
          <p:nvPr/>
        </p:nvSpPr>
        <p:spPr>
          <a:xfrm>
            <a:off x="8089900" y="2579936"/>
            <a:ext cx="31917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3E14F"/>
                </a:solidFill>
                <a:latin typeface="DM Mono" pitchFamily="49" charset="0"/>
                <a:ea typeface="DM Mono" pitchFamily="49" charset="-122"/>
                <a:cs typeface="DM Mono" pitchFamily="49" charset="-120"/>
              </a:rPr>
              <a:t>FOR THEM</a:t>
            </a:r>
            <a:endParaRPr lang="en-US" sz="1200" dirty="0"/>
          </a:p>
        </p:txBody>
      </p:sp>
      <p:sp>
        <p:nvSpPr>
          <p:cNvPr id="16" name="Text 14"/>
          <p:cNvSpPr/>
          <p:nvPr/>
        </p:nvSpPr>
        <p:spPr>
          <a:xfrm>
            <a:off x="8089900" y="2869456"/>
            <a:ext cx="319176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8B0"/>
                </a:solidFill>
                <a:latin typeface="Raleway" pitchFamily="34" charset="0"/>
                <a:ea typeface="Raleway" pitchFamily="34" charset="-122"/>
                <a:cs typeface="Raleway" pitchFamily="34" charset="-120"/>
              </a:rPr>
              <a:t>Is this the right next stage of their career? What do they want, and how will they prioritize?</a:t>
            </a:r>
            <a:endParaRPr lang="en-US" sz="1400" dirty="0"/>
          </a:p>
        </p:txBody>
      </p:sp>
      <p:sp>
        <p:nvSpPr>
          <p:cNvPr id="17" name="Shape 15"/>
          <p:cNvSpPr/>
          <p:nvPr/>
        </p:nvSpPr>
        <p:spPr>
          <a:xfrm>
            <a:off x="7905750" y="3913336"/>
            <a:ext cx="3467100" cy="1137841"/>
          </a:xfrm>
          <a:prstGeom prst="roundRect">
            <a:avLst>
              <a:gd name="adj" fmla="val 8371"/>
            </a:avLst>
          </a:prstGeom>
          <a:solidFill>
            <a:srgbClr val="1A1A1A"/>
          </a:solidFill>
          <a:ln w="12700">
            <a:solidFill>
              <a:srgbClr val="2B2B2B"/>
            </a:solidFill>
            <a:prstDash val="solid"/>
          </a:ln>
        </p:spPr>
      </p:sp>
      <p:sp>
        <p:nvSpPr>
          <p:cNvPr id="18" name="Text 16"/>
          <p:cNvSpPr/>
          <p:nvPr/>
        </p:nvSpPr>
        <p:spPr>
          <a:xfrm>
            <a:off x="8089900" y="4097486"/>
            <a:ext cx="31917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832A"/>
                </a:solidFill>
                <a:latin typeface="DM Mono" pitchFamily="49" charset="0"/>
                <a:ea typeface="DM Mono" pitchFamily="49" charset="-122"/>
                <a:cs typeface="DM Mono" pitchFamily="49" charset="-120"/>
              </a:rPr>
              <a:t>DON’T GO NATIVE</a:t>
            </a:r>
            <a:endParaRPr lang="en-US" sz="1200" dirty="0"/>
          </a:p>
        </p:txBody>
      </p:sp>
      <p:sp>
        <p:nvSpPr>
          <p:cNvPr id="19" name="Text 17"/>
          <p:cNvSpPr/>
          <p:nvPr/>
        </p:nvSpPr>
        <p:spPr>
          <a:xfrm>
            <a:off x="8089900" y="4387007"/>
            <a:ext cx="319176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3A8B0"/>
                </a:solidFill>
                <a:latin typeface="Raleway" pitchFamily="34" charset="0"/>
                <a:ea typeface="Raleway" pitchFamily="34" charset="-122"/>
                <a:cs typeface="Raleway" pitchFamily="34" charset="-120"/>
              </a:rPr>
              <a:t>You represent the company. Every candidate leaves an evangelist.</a:t>
            </a:r>
            <a:endParaRPr lang="en-US" sz="1400" dirty="0"/>
          </a:p>
        </p:txBody>
      </p:sp>
      <p:pic>
        <p:nvPicPr>
          <p:cNvPr id="20"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21" name="Text 18"/>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2" name="Text 19"/>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[ 19 ]</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RULE #3 ]</a:t>
            </a:r>
            <a:endParaRPr lang="en-US" sz="1400" dirty="0"/>
          </a:p>
        </p:txBody>
      </p:sp>
      <p:sp>
        <p:nvSpPr>
          <p:cNvPr id="4" name="Text 2"/>
          <p:cNvSpPr/>
          <p:nvPr>
            <p:ph type="title"/>
          </p:nvPr>
        </p:nvSpPr>
        <p:spPr>
          <a:xfrm>
            <a:off x="812800" y="12140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7"/>
                </a:solidFill>
                <a:latin typeface="Host Grotesk" pitchFamily="34" charset="0"/>
                <a:ea typeface="Host Grotesk" pitchFamily="34" charset="-122"/>
                <a:cs typeface="Host Grotesk" pitchFamily="34" charset="-120"/>
              </a:rPr>
              <a:t>Be someone they want </a:t>
            </a:r>
            <a:r>
              <a:rPr lang="en-US" sz="3600" b="1" i="0" dirty="0">
                <a:solidFill>
                  <a:srgbClr val="63E14F"/>
                </a:solidFill>
                <a:latin typeface="Host Grotesk" pitchFamily="34" charset="0"/>
                <a:ea typeface="Host Grotesk" pitchFamily="34" charset="-122"/>
                <a:cs typeface="Host Grotesk" pitchFamily="34" charset="-120"/>
              </a:rPr>
              <a:t>to work with.</a:t>
            </a:r>
            <a:endParaRPr lang="en-US" sz="3600" dirty="0"/>
          </a:p>
        </p:txBody>
      </p:sp>
      <p:sp>
        <p:nvSpPr>
          <p:cNvPr id="5" name="Text 3"/>
          <p:cNvSpPr/>
          <p:nvPr/>
        </p:nvSpPr>
        <p:spPr>
          <a:xfrm>
            <a:off x="819150" y="1977330"/>
            <a:ext cx="1985218" cy="520700"/>
          </a:xfrm>
          <a:prstGeom prst="roundRect">
            <a:avLst>
              <a:gd name="adj" fmla="val 47561"/>
            </a:avLst>
          </a:prstGeom>
          <a:solidFill>
            <a:srgbClr val="141416"/>
          </a:solidFill>
          <a:ln w="12700">
            <a:solidFill>
              <a:srgbClr val="2B2B2B"/>
            </a:solidFill>
            <a:prstDash val="solid"/>
          </a:ln>
        </p:spPr>
        <p:txBody>
          <a:bodyPr wrap="none" lIns="0" tIns="0" rIns="0" bIns="0" rtlCol="0" anchor="ctr">
            <a:normAutofit/>
          </a:bodyPr>
          <a:lstStyle/>
          <a:p>
            <a:pPr algn="ctr" indent="0" marL="0">
              <a:lnSpc>
                <a:spcPts val="2800"/>
              </a:lnSpc>
              <a:buNone/>
            </a:pPr>
            <a:r>
              <a:rPr lang="en-US" sz="2000" dirty="0">
                <a:solidFill>
                  <a:srgbClr val="E9ECEF"/>
                </a:solidFill>
                <a:latin typeface="Raleway" pitchFamily="34" charset="0"/>
                <a:ea typeface="Raleway" pitchFamily="34" charset="-122"/>
                <a:cs typeface="Raleway" pitchFamily="34" charset="-120"/>
              </a:rPr>
              <a:t>Park your ego</a:t>
            </a:r>
            <a:endParaRPr lang="en-US" sz="2000" dirty="0"/>
          </a:p>
        </p:txBody>
      </p:sp>
      <p:sp>
        <p:nvSpPr>
          <p:cNvPr id="6" name="Text 4"/>
          <p:cNvSpPr/>
          <p:nvPr/>
        </p:nvSpPr>
        <p:spPr>
          <a:xfrm>
            <a:off x="2918668" y="1977330"/>
            <a:ext cx="1708398" cy="520700"/>
          </a:xfrm>
          <a:prstGeom prst="roundRect">
            <a:avLst>
              <a:gd name="adj" fmla="val 47561"/>
            </a:avLst>
          </a:prstGeom>
          <a:solidFill>
            <a:srgbClr val="141416"/>
          </a:solidFill>
          <a:ln w="12700">
            <a:solidFill>
              <a:srgbClr val="2B2B2B"/>
            </a:solidFill>
            <a:prstDash val="solid"/>
          </a:ln>
        </p:spPr>
        <p:txBody>
          <a:bodyPr wrap="none" lIns="0" tIns="0" rIns="0" bIns="0" rtlCol="0" anchor="ctr">
            <a:normAutofit/>
          </a:bodyPr>
          <a:lstStyle/>
          <a:p>
            <a:pPr algn="ctr" indent="0" marL="0">
              <a:lnSpc>
                <a:spcPts val="2800"/>
              </a:lnSpc>
              <a:buNone/>
            </a:pPr>
            <a:r>
              <a:rPr lang="en-US" sz="2000" dirty="0">
                <a:solidFill>
                  <a:srgbClr val="E9ECEF"/>
                </a:solidFill>
                <a:latin typeface="Raleway" pitchFamily="34" charset="0"/>
                <a:ea typeface="Raleway" pitchFamily="34" charset="-122"/>
                <a:cs typeface="Raleway" pitchFamily="34" charset="-120"/>
              </a:rPr>
              <a:t>Be genuine</a:t>
            </a:r>
            <a:endParaRPr lang="en-US" sz="2000" dirty="0"/>
          </a:p>
        </p:txBody>
      </p:sp>
      <p:sp>
        <p:nvSpPr>
          <p:cNvPr id="7" name="Text 5"/>
          <p:cNvSpPr/>
          <p:nvPr/>
        </p:nvSpPr>
        <p:spPr>
          <a:xfrm>
            <a:off x="4741366" y="1977330"/>
            <a:ext cx="1461591" cy="520700"/>
          </a:xfrm>
          <a:prstGeom prst="roundRect">
            <a:avLst>
              <a:gd name="adj" fmla="val 47561"/>
            </a:avLst>
          </a:prstGeom>
          <a:solidFill>
            <a:srgbClr val="141416"/>
          </a:solidFill>
          <a:ln w="12700">
            <a:solidFill>
              <a:srgbClr val="2B2B2B"/>
            </a:solidFill>
            <a:prstDash val="solid"/>
          </a:ln>
        </p:spPr>
        <p:txBody>
          <a:bodyPr wrap="none" lIns="0" tIns="0" rIns="0" bIns="0" rtlCol="0" anchor="ctr">
            <a:normAutofit/>
          </a:bodyPr>
          <a:lstStyle/>
          <a:p>
            <a:pPr algn="ctr" indent="0" marL="0">
              <a:lnSpc>
                <a:spcPts val="2800"/>
              </a:lnSpc>
              <a:buNone/>
            </a:pPr>
            <a:r>
              <a:rPr lang="en-US" sz="2000" dirty="0">
                <a:solidFill>
                  <a:srgbClr val="E9ECEF"/>
                </a:solidFill>
                <a:latin typeface="Raleway" pitchFamily="34" charset="0"/>
                <a:ea typeface="Raleway" pitchFamily="34" charset="-122"/>
                <a:cs typeface="Raleway" pitchFamily="34" charset="-120"/>
              </a:rPr>
              <a:t>Be aware</a:t>
            </a:r>
            <a:endParaRPr lang="en-US" sz="2000" dirty="0"/>
          </a:p>
        </p:txBody>
      </p:sp>
      <p:sp>
        <p:nvSpPr>
          <p:cNvPr id="8" name="Text 6"/>
          <p:cNvSpPr/>
          <p:nvPr/>
        </p:nvSpPr>
        <p:spPr>
          <a:xfrm>
            <a:off x="6317258" y="1977330"/>
            <a:ext cx="2530128" cy="520700"/>
          </a:xfrm>
          <a:prstGeom prst="roundRect">
            <a:avLst>
              <a:gd name="adj" fmla="val 47561"/>
            </a:avLst>
          </a:prstGeom>
          <a:solidFill>
            <a:srgbClr val="141416"/>
          </a:solidFill>
          <a:ln w="12700">
            <a:solidFill>
              <a:srgbClr val="2B2B2B"/>
            </a:solidFill>
            <a:prstDash val="solid"/>
          </a:ln>
        </p:spPr>
        <p:txBody>
          <a:bodyPr wrap="none" lIns="0" tIns="0" rIns="0" bIns="0" rtlCol="0" anchor="ctr">
            <a:normAutofit/>
          </a:bodyPr>
          <a:lstStyle/>
          <a:p>
            <a:pPr algn="ctr" indent="0" marL="0">
              <a:lnSpc>
                <a:spcPts val="2800"/>
              </a:lnSpc>
              <a:buNone/>
            </a:pPr>
            <a:r>
              <a:rPr lang="en-US" sz="2000" dirty="0">
                <a:solidFill>
                  <a:srgbClr val="E9ECEF"/>
                </a:solidFill>
                <a:latin typeface="Raleway" pitchFamily="34" charset="0"/>
                <a:ea typeface="Raleway" pitchFamily="34" charset="-122"/>
                <a:cs typeface="Raleway" pitchFamily="34" charset="-120"/>
              </a:rPr>
              <a:t>Be a gracious host</a:t>
            </a:r>
            <a:endParaRPr lang="en-US" sz="2000" dirty="0"/>
          </a:p>
        </p:txBody>
      </p:sp>
      <p:sp>
        <p:nvSpPr>
          <p:cNvPr id="9" name="Text 7"/>
          <p:cNvSpPr/>
          <p:nvPr/>
        </p:nvSpPr>
        <p:spPr>
          <a:xfrm>
            <a:off x="8961686" y="1977330"/>
            <a:ext cx="1602036" cy="520700"/>
          </a:xfrm>
          <a:prstGeom prst="roundRect">
            <a:avLst>
              <a:gd name="adj" fmla="val 47561"/>
            </a:avLst>
          </a:prstGeom>
          <a:solidFill>
            <a:srgbClr val="141416"/>
          </a:solidFill>
          <a:ln w="12700">
            <a:solidFill>
              <a:srgbClr val="2B2B2B"/>
            </a:solidFill>
            <a:prstDash val="solid"/>
          </a:ln>
        </p:spPr>
        <p:txBody>
          <a:bodyPr wrap="none" lIns="0" tIns="0" rIns="0" bIns="0" rtlCol="0" anchor="ctr">
            <a:normAutofit/>
          </a:bodyPr>
          <a:lstStyle/>
          <a:p>
            <a:pPr algn="ctr" indent="0" marL="0">
              <a:lnSpc>
                <a:spcPts val="2800"/>
              </a:lnSpc>
              <a:buNone/>
            </a:pPr>
            <a:r>
              <a:rPr lang="en-US" sz="2000" dirty="0">
                <a:solidFill>
                  <a:srgbClr val="E9ECEF"/>
                </a:solidFill>
                <a:latin typeface="Raleway" pitchFamily="34" charset="0"/>
                <a:ea typeface="Raleway" pitchFamily="34" charset="-122"/>
                <a:cs typeface="Raleway" pitchFamily="34" charset="-120"/>
              </a:rPr>
              <a:t>Be excited</a:t>
            </a:r>
            <a:endParaRPr lang="en-US" sz="2000" dirty="0"/>
          </a:p>
        </p:txBody>
      </p:sp>
      <p:sp>
        <p:nvSpPr>
          <p:cNvPr id="10" name="Text 8"/>
          <p:cNvSpPr/>
          <p:nvPr/>
        </p:nvSpPr>
        <p:spPr>
          <a:xfrm>
            <a:off x="819150" y="2612330"/>
            <a:ext cx="1931938" cy="520700"/>
          </a:xfrm>
          <a:prstGeom prst="roundRect">
            <a:avLst>
              <a:gd name="adj" fmla="val 47561"/>
            </a:avLst>
          </a:prstGeom>
          <a:solidFill>
            <a:srgbClr val="141416"/>
          </a:solidFill>
          <a:ln w="12700">
            <a:solidFill>
              <a:srgbClr val="2B2B2B"/>
            </a:solidFill>
            <a:prstDash val="solid"/>
          </a:ln>
        </p:spPr>
        <p:txBody>
          <a:bodyPr wrap="none" lIns="0" tIns="0" rIns="0" bIns="0" rtlCol="0" anchor="ctr">
            <a:normAutofit/>
          </a:bodyPr>
          <a:lstStyle/>
          <a:p>
            <a:pPr algn="ctr" indent="0" marL="0">
              <a:lnSpc>
                <a:spcPts val="2800"/>
              </a:lnSpc>
              <a:buNone/>
            </a:pPr>
            <a:r>
              <a:rPr lang="en-US" sz="2000" dirty="0">
                <a:solidFill>
                  <a:srgbClr val="E9ECEF"/>
                </a:solidFill>
                <a:latin typeface="Raleway" pitchFamily="34" charset="0"/>
                <a:ea typeface="Raleway" pitchFamily="34" charset="-122"/>
                <a:cs typeface="Raleway" pitchFamily="34" charset="-120"/>
              </a:rPr>
              <a:t>Be interested</a:t>
            </a:r>
            <a:endParaRPr lang="en-US" sz="2000" dirty="0"/>
          </a:p>
        </p:txBody>
      </p:sp>
      <p:sp>
        <p:nvSpPr>
          <p:cNvPr id="11" name="Text 9"/>
          <p:cNvSpPr/>
          <p:nvPr/>
        </p:nvSpPr>
        <p:spPr>
          <a:xfrm>
            <a:off x="2865388" y="2612330"/>
            <a:ext cx="2314178" cy="520700"/>
          </a:xfrm>
          <a:prstGeom prst="roundRect">
            <a:avLst>
              <a:gd name="adj" fmla="val 47561"/>
            </a:avLst>
          </a:prstGeom>
          <a:solidFill>
            <a:srgbClr val="141416"/>
          </a:solidFill>
          <a:ln w="12700">
            <a:solidFill>
              <a:srgbClr val="2B2B2B"/>
            </a:solidFill>
            <a:prstDash val="solid"/>
          </a:ln>
        </p:spPr>
        <p:txBody>
          <a:bodyPr wrap="none" lIns="0" tIns="0" rIns="0" bIns="0" rtlCol="0" anchor="ctr">
            <a:normAutofit/>
          </a:bodyPr>
          <a:lstStyle/>
          <a:p>
            <a:pPr algn="ctr" indent="0" marL="0">
              <a:lnSpc>
                <a:spcPts val="2800"/>
              </a:lnSpc>
              <a:buNone/>
            </a:pPr>
            <a:r>
              <a:rPr lang="en-US" sz="2000" dirty="0">
                <a:solidFill>
                  <a:srgbClr val="E9ECEF"/>
                </a:solidFill>
                <a:latin typeface="Raleway" pitchFamily="34" charset="0"/>
                <a:ea typeface="Raleway" pitchFamily="34" charset="-122"/>
                <a:cs typeface="Raleway" pitchFamily="34" charset="-120"/>
              </a:rPr>
              <a:t>Be wicked smart</a:t>
            </a:r>
            <a:endParaRPr lang="en-US" sz="2000" dirty="0"/>
          </a:p>
        </p:txBody>
      </p:sp>
      <p:sp>
        <p:nvSpPr>
          <p:cNvPr id="12" name="Text 10"/>
          <p:cNvSpPr/>
          <p:nvPr/>
        </p:nvSpPr>
        <p:spPr>
          <a:xfrm>
            <a:off x="5293866" y="2612330"/>
            <a:ext cx="3132634" cy="520700"/>
          </a:xfrm>
          <a:prstGeom prst="roundRect">
            <a:avLst>
              <a:gd name="adj" fmla="val 47561"/>
            </a:avLst>
          </a:prstGeom>
          <a:solidFill>
            <a:srgbClr val="141416"/>
          </a:solidFill>
          <a:ln w="12700">
            <a:solidFill>
              <a:srgbClr val="2B2B2B"/>
            </a:solidFill>
            <a:prstDash val="solid"/>
          </a:ln>
        </p:spPr>
        <p:txBody>
          <a:bodyPr wrap="none" lIns="0" tIns="0" rIns="0" bIns="0" rtlCol="0" anchor="ctr">
            <a:normAutofit/>
          </a:bodyPr>
          <a:lstStyle/>
          <a:p>
            <a:pPr algn="ctr" indent="0" marL="0">
              <a:lnSpc>
                <a:spcPts val="2800"/>
              </a:lnSpc>
              <a:buNone/>
            </a:pPr>
            <a:r>
              <a:rPr lang="en-US" sz="2000" dirty="0">
                <a:solidFill>
                  <a:srgbClr val="E9ECEF"/>
                </a:solidFill>
                <a:latin typeface="Raleway" pitchFamily="34" charset="0"/>
                <a:ea typeface="Raleway" pitchFamily="34" charset="-122"/>
                <a:cs typeface="Raleway" pitchFamily="34" charset="-120"/>
              </a:rPr>
              <a:t>Ask insightful questions</a:t>
            </a:r>
            <a:endParaRPr lang="en-US" sz="2000" dirty="0"/>
          </a:p>
        </p:txBody>
      </p:sp>
      <p:sp>
        <p:nvSpPr>
          <p:cNvPr id="13" name="Text 11"/>
          <p:cNvSpPr/>
          <p:nvPr/>
        </p:nvSpPr>
        <p:spPr>
          <a:xfrm>
            <a:off x="8540800" y="2612330"/>
            <a:ext cx="2596654" cy="520700"/>
          </a:xfrm>
          <a:prstGeom prst="roundRect">
            <a:avLst>
              <a:gd name="adj" fmla="val 47561"/>
            </a:avLst>
          </a:prstGeom>
          <a:solidFill>
            <a:srgbClr val="141416"/>
          </a:solidFill>
          <a:ln w="12700">
            <a:solidFill>
              <a:srgbClr val="2B2B2B"/>
            </a:solidFill>
            <a:prstDash val="solid"/>
          </a:ln>
        </p:spPr>
        <p:txBody>
          <a:bodyPr wrap="none" lIns="0" tIns="0" rIns="0" bIns="0" rtlCol="0" anchor="ctr">
            <a:normAutofit/>
          </a:bodyPr>
          <a:lstStyle/>
          <a:p>
            <a:pPr algn="ctr" indent="0" marL="0">
              <a:lnSpc>
                <a:spcPts val="2800"/>
              </a:lnSpc>
              <a:buNone/>
            </a:pPr>
            <a:r>
              <a:rPr lang="en-US" sz="2000" dirty="0">
                <a:solidFill>
                  <a:srgbClr val="E9ECEF"/>
                </a:solidFill>
                <a:latin typeface="Raleway" pitchFamily="34" charset="0"/>
                <a:ea typeface="Raleway" pitchFamily="34" charset="-122"/>
                <a:cs typeface="Raleway" pitchFamily="34" charset="-120"/>
              </a:rPr>
              <a:t>Ask hard questions</a:t>
            </a:r>
            <a:endParaRPr lang="en-US" sz="2000" dirty="0"/>
          </a:p>
        </p:txBody>
      </p:sp>
      <p:sp>
        <p:nvSpPr>
          <p:cNvPr id="14" name="Text 12"/>
          <p:cNvSpPr/>
          <p:nvPr/>
        </p:nvSpPr>
        <p:spPr>
          <a:xfrm>
            <a:off x="819150" y="3247330"/>
            <a:ext cx="1575643" cy="520700"/>
          </a:xfrm>
          <a:prstGeom prst="roundRect">
            <a:avLst>
              <a:gd name="adj" fmla="val 47561"/>
            </a:avLst>
          </a:prstGeom>
          <a:solidFill>
            <a:srgbClr val="141416"/>
          </a:solidFill>
          <a:ln w="12700">
            <a:solidFill>
              <a:srgbClr val="2B2B2B"/>
            </a:solidFill>
            <a:prstDash val="solid"/>
          </a:ln>
        </p:spPr>
        <p:txBody>
          <a:bodyPr wrap="none" lIns="0" tIns="0" rIns="0" bIns="0" rtlCol="0" anchor="ctr">
            <a:normAutofit/>
          </a:bodyPr>
          <a:lstStyle/>
          <a:p>
            <a:pPr algn="ctr" indent="0" marL="0">
              <a:lnSpc>
                <a:spcPts val="2800"/>
              </a:lnSpc>
              <a:buNone/>
            </a:pPr>
            <a:r>
              <a:rPr lang="en-US" sz="2000" dirty="0">
                <a:solidFill>
                  <a:srgbClr val="E9ECEF"/>
                </a:solidFill>
                <a:latin typeface="Raleway" pitchFamily="34" charset="0"/>
                <a:ea typeface="Raleway" pitchFamily="34" charset="-122"/>
                <a:cs typeface="Raleway" pitchFamily="34" charset="-120"/>
              </a:rPr>
              <a:t>Be helpful</a:t>
            </a:r>
            <a:endParaRPr lang="en-US" sz="2000" dirty="0"/>
          </a:p>
        </p:txBody>
      </p:sp>
      <p:sp>
        <p:nvSpPr>
          <p:cNvPr id="15" name="Text 13"/>
          <p:cNvSpPr/>
          <p:nvPr/>
        </p:nvSpPr>
        <p:spPr>
          <a:xfrm>
            <a:off x="812800" y="4079180"/>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A3A8B0"/>
                </a:solidFill>
                <a:latin typeface="Raleway" pitchFamily="34" charset="0"/>
                <a:ea typeface="Raleway" pitchFamily="34" charset="-122"/>
                <a:cs typeface="Raleway" pitchFamily="34" charset="-120"/>
              </a:rPr>
              <a:t>They’re interviewing </a:t>
            </a:r>
            <a:r>
              <a:rPr lang="en-US" sz="1800" dirty="0">
                <a:solidFill>
                  <a:srgbClr val="63E14F"/>
                </a:solidFill>
                <a:latin typeface="Raleway" pitchFamily="34" charset="0"/>
                <a:ea typeface="Raleway" pitchFamily="34" charset="-122"/>
                <a:cs typeface="Raleway" pitchFamily="34" charset="-120"/>
              </a:rPr>
              <a:t>you</a:t>
            </a:r>
            <a:r>
              <a:rPr lang="en-US" sz="1800" dirty="0">
                <a:solidFill>
                  <a:srgbClr val="A3A8B0"/>
                </a:solidFill>
                <a:latin typeface="Raleway" pitchFamily="34" charset="0"/>
                <a:ea typeface="Raleway" pitchFamily="34" charset="-122"/>
                <a:cs typeface="Raleway" pitchFamily="34" charset="-120"/>
              </a:rPr>
              <a:t>, too.</a:t>
            </a:r>
            <a:endParaRPr lang="en-US" sz="1800" dirty="0"/>
          </a:p>
        </p:txBody>
      </p:sp>
      <p:pic>
        <p:nvPicPr>
          <p:cNvPr id="16"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17" name="Text 1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18" name="Text 15"/>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[ 20 ]</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60607"/>
        </a:solidFill>
      </p:bgPr>
    </p:bg>
    <p:spTree>
      <p:nvGrpSpPr>
        <p:cNvPr id="1" name=""/>
        <p:cNvGrpSpPr/>
        <p:nvPr/>
      </p:nvGrpSpPr>
      <p:grpSpPr>
        <a:xfrm>
          <a:off x="0" y="0"/>
          <a:ext cx="0" cy="0"/>
          <a:chOff x="0" y="0"/>
          <a:chExt cx="0" cy="0"/>
        </a:xfrm>
      </p:grpSpPr>
      <p:sp>
        <p:nvSpPr>
          <p:cNvPr id="2" name="Shape 0"/>
          <p:cNvSpPr/>
          <p:nvPr/>
        </p:nvSpPr>
        <p:spPr>
          <a:xfrm>
            <a:off x="254000" y="0"/>
            <a:ext cx="25400" cy="6858000"/>
          </a:xfrm>
          <a:prstGeom prst="rect">
            <a:avLst/>
          </a:prstGeom>
          <a:gradFill rotWithShape="1">
            <a:gsLst>
              <a:gs pos="0">
                <a:srgbClr val="FF832A"/>
              </a:gs>
              <a:gs pos="35000">
                <a:srgbClr val="FF832A"/>
              </a:gs>
              <a:gs pos="75000">
                <a:srgbClr val="63E14F"/>
              </a:gs>
              <a:gs pos="100000">
                <a:srgbClr val="63E14F"/>
              </a:gs>
            </a:gsLst>
            <a:lin ang="5400000" scaled="0"/>
          </a:gradFill>
          <a:ln/>
        </p:spPr>
      </p:sp>
      <p:sp>
        <p:nvSpPr>
          <p:cNvPr id="3" name="Text 1"/>
          <p:cNvSpPr/>
          <p:nvPr/>
        </p:nvSpPr>
        <p:spPr>
          <a:xfrm>
            <a:off x="812800" y="711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3E14F"/>
                </a:solidFill>
                <a:latin typeface="DM Mono" pitchFamily="49" charset="0"/>
                <a:ea typeface="DM Mono" pitchFamily="49" charset="-122"/>
                <a:cs typeface="DM Mono" pitchFamily="49" charset="-120"/>
              </a:rPr>
              <a:t>[ ARC 2 RECAP ]</a:t>
            </a:r>
            <a:endParaRPr lang="en-US" sz="1400" dirty="0"/>
          </a:p>
        </p:txBody>
      </p:sp>
      <p:sp>
        <p:nvSpPr>
          <p:cNvPr id="4" name="Text 2"/>
          <p:cNvSpPr/>
          <p:nvPr>
            <p:ph type="title"/>
          </p:nvPr>
        </p:nvSpPr>
        <p:spPr>
          <a:xfrm>
            <a:off x="812800" y="121409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7"/>
                </a:solidFill>
                <a:latin typeface="Host Grotesk" pitchFamily="34" charset="0"/>
                <a:ea typeface="Host Grotesk" pitchFamily="34" charset="-122"/>
                <a:cs typeface="Host Grotesk" pitchFamily="34" charset="-120"/>
              </a:rPr>
              <a:t>Five levels, </a:t>
            </a:r>
            <a:r>
              <a:rPr lang="en-US" sz="3200" b="1" i="0" dirty="0">
                <a:solidFill>
                  <a:srgbClr val="63E14F"/>
                </a:solidFill>
                <a:latin typeface="Host Grotesk" pitchFamily="34" charset="0"/>
                <a:ea typeface="Host Grotesk" pitchFamily="34" charset="-122"/>
                <a:cs typeface="Host Grotesk" pitchFamily="34" charset="-120"/>
              </a:rPr>
              <a:t>how to do each.</a:t>
            </a:r>
            <a:endParaRPr lang="en-US" sz="3200" dirty="0"/>
          </a:p>
        </p:txBody>
      </p:sp>
      <p:sp>
        <p:nvSpPr>
          <p:cNvPr id="5" name="Shape 3"/>
          <p:cNvSpPr/>
          <p:nvPr/>
        </p:nvSpPr>
        <p:spPr>
          <a:xfrm>
            <a:off x="819150" y="1921470"/>
            <a:ext cx="10553700" cy="688330"/>
          </a:xfrm>
          <a:prstGeom prst="roundRect">
            <a:avLst>
              <a:gd name="adj" fmla="val 13838"/>
            </a:avLst>
          </a:prstGeom>
          <a:solidFill>
            <a:srgbClr val="1A1A1A"/>
          </a:solidFill>
          <a:ln w="12700">
            <a:solidFill>
              <a:srgbClr val="2B2B2B"/>
            </a:solidFill>
            <a:prstDash val="solid"/>
          </a:ln>
        </p:spPr>
      </p:sp>
      <p:sp>
        <p:nvSpPr>
          <p:cNvPr id="6" name="Text 4"/>
          <p:cNvSpPr/>
          <p:nvPr/>
        </p:nvSpPr>
        <p:spPr>
          <a:xfrm>
            <a:off x="1003300" y="2150070"/>
            <a:ext cx="558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L1</a:t>
            </a:r>
            <a:endParaRPr lang="en-US" sz="1300" dirty="0"/>
          </a:p>
        </p:txBody>
      </p:sp>
      <p:sp>
        <p:nvSpPr>
          <p:cNvPr id="7" name="Text 5"/>
          <p:cNvSpPr/>
          <p:nvPr/>
        </p:nvSpPr>
        <p:spPr>
          <a:xfrm>
            <a:off x="1663700" y="2105620"/>
            <a:ext cx="1701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9ECEF"/>
                </a:solidFill>
                <a:latin typeface="Host Grotesk" pitchFamily="34" charset="0"/>
                <a:ea typeface="Host Grotesk" pitchFamily="34" charset="-122"/>
                <a:cs typeface="Host Grotesk" pitchFamily="34" charset="-120"/>
              </a:rPr>
              <a:t>Competence</a:t>
            </a:r>
            <a:endParaRPr lang="en-US" sz="1800" dirty="0"/>
          </a:p>
        </p:txBody>
      </p:sp>
      <p:sp>
        <p:nvSpPr>
          <p:cNvPr id="8" name="Text 6"/>
          <p:cNvSpPr/>
          <p:nvPr/>
        </p:nvSpPr>
        <p:spPr>
          <a:xfrm>
            <a:off x="3467100" y="2128490"/>
            <a:ext cx="795324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Adapt to the candidate: standard questions, live problems, or their past work.</a:t>
            </a:r>
            <a:endParaRPr lang="en-US" sz="1600" dirty="0"/>
          </a:p>
        </p:txBody>
      </p:sp>
      <p:sp>
        <p:nvSpPr>
          <p:cNvPr id="9" name="Shape 7"/>
          <p:cNvSpPr/>
          <p:nvPr/>
        </p:nvSpPr>
        <p:spPr>
          <a:xfrm>
            <a:off x="819150" y="2724100"/>
            <a:ext cx="10553700" cy="688330"/>
          </a:xfrm>
          <a:prstGeom prst="roundRect">
            <a:avLst>
              <a:gd name="adj" fmla="val 13838"/>
            </a:avLst>
          </a:prstGeom>
          <a:solidFill>
            <a:srgbClr val="1A1A1A"/>
          </a:solidFill>
          <a:ln w="12700">
            <a:solidFill>
              <a:srgbClr val="2B2B2B"/>
            </a:solidFill>
            <a:prstDash val="solid"/>
          </a:ln>
        </p:spPr>
      </p:sp>
      <p:sp>
        <p:nvSpPr>
          <p:cNvPr id="10" name="Text 8"/>
          <p:cNvSpPr/>
          <p:nvPr/>
        </p:nvSpPr>
        <p:spPr>
          <a:xfrm>
            <a:off x="1003300" y="2952700"/>
            <a:ext cx="558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L2</a:t>
            </a:r>
            <a:endParaRPr lang="en-US" sz="1300" dirty="0"/>
          </a:p>
        </p:txBody>
      </p:sp>
      <p:sp>
        <p:nvSpPr>
          <p:cNvPr id="11" name="Text 9"/>
          <p:cNvSpPr/>
          <p:nvPr/>
        </p:nvSpPr>
        <p:spPr>
          <a:xfrm>
            <a:off x="1663700" y="2908250"/>
            <a:ext cx="1701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9ECEF"/>
                </a:solidFill>
                <a:latin typeface="Host Grotesk" pitchFamily="34" charset="0"/>
                <a:ea typeface="Host Grotesk" pitchFamily="34" charset="-122"/>
                <a:cs typeface="Host Grotesk" pitchFamily="34" charset="-120"/>
              </a:rPr>
              <a:t>Potential</a:t>
            </a:r>
            <a:endParaRPr lang="en-US" sz="1800" dirty="0"/>
          </a:p>
        </p:txBody>
      </p:sp>
      <p:sp>
        <p:nvSpPr>
          <p:cNvPr id="12" name="Text 10"/>
          <p:cNvSpPr/>
          <p:nvPr/>
        </p:nvSpPr>
        <p:spPr>
          <a:xfrm>
            <a:off x="3467100" y="2931120"/>
            <a:ext cx="795324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Find repeated high-potential behavior, then probe for the blind spots.</a:t>
            </a:r>
            <a:endParaRPr lang="en-US" sz="1600" dirty="0"/>
          </a:p>
        </p:txBody>
      </p:sp>
      <p:sp>
        <p:nvSpPr>
          <p:cNvPr id="13" name="Shape 11"/>
          <p:cNvSpPr/>
          <p:nvPr/>
        </p:nvSpPr>
        <p:spPr>
          <a:xfrm>
            <a:off x="819150" y="3526730"/>
            <a:ext cx="10553700" cy="688330"/>
          </a:xfrm>
          <a:prstGeom prst="roundRect">
            <a:avLst>
              <a:gd name="adj" fmla="val 13838"/>
            </a:avLst>
          </a:prstGeom>
          <a:solidFill>
            <a:srgbClr val="1A1A1A"/>
          </a:solidFill>
          <a:ln w="12700">
            <a:solidFill>
              <a:srgbClr val="2B2B2B"/>
            </a:solidFill>
            <a:prstDash val="solid"/>
          </a:ln>
        </p:spPr>
      </p:sp>
      <p:sp>
        <p:nvSpPr>
          <p:cNvPr id="14" name="Text 12"/>
          <p:cNvSpPr/>
          <p:nvPr/>
        </p:nvSpPr>
        <p:spPr>
          <a:xfrm>
            <a:off x="1003300" y="3755330"/>
            <a:ext cx="558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L3</a:t>
            </a:r>
            <a:endParaRPr lang="en-US" sz="1300" dirty="0"/>
          </a:p>
        </p:txBody>
      </p:sp>
      <p:sp>
        <p:nvSpPr>
          <p:cNvPr id="15" name="Text 13"/>
          <p:cNvSpPr/>
          <p:nvPr/>
        </p:nvSpPr>
        <p:spPr>
          <a:xfrm>
            <a:off x="1663700" y="3710880"/>
            <a:ext cx="1701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9ECEF"/>
                </a:solidFill>
                <a:latin typeface="Host Grotesk" pitchFamily="34" charset="0"/>
                <a:ea typeface="Host Grotesk" pitchFamily="34" charset="-122"/>
                <a:cs typeface="Host Grotesk" pitchFamily="34" charset="-120"/>
              </a:rPr>
              <a:t>Fit</a:t>
            </a:r>
            <a:endParaRPr lang="en-US" sz="1800" dirty="0"/>
          </a:p>
        </p:txBody>
      </p:sp>
      <p:sp>
        <p:nvSpPr>
          <p:cNvPr id="16" name="Text 14"/>
          <p:cNvSpPr/>
          <p:nvPr/>
        </p:nvSpPr>
        <p:spPr>
          <a:xfrm>
            <a:off x="3467100" y="3733750"/>
            <a:ext cx="795324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Lay out the plan, projects and timing, that unlocks them here.</a:t>
            </a:r>
            <a:endParaRPr lang="en-US" sz="1600" dirty="0"/>
          </a:p>
        </p:txBody>
      </p:sp>
      <p:sp>
        <p:nvSpPr>
          <p:cNvPr id="17" name="Shape 15"/>
          <p:cNvSpPr/>
          <p:nvPr/>
        </p:nvSpPr>
        <p:spPr>
          <a:xfrm>
            <a:off x="819150" y="4329361"/>
            <a:ext cx="10553700" cy="688330"/>
          </a:xfrm>
          <a:prstGeom prst="roundRect">
            <a:avLst>
              <a:gd name="adj" fmla="val 13838"/>
            </a:avLst>
          </a:prstGeom>
          <a:solidFill>
            <a:srgbClr val="1A1A1A"/>
          </a:solidFill>
          <a:ln w="12700">
            <a:solidFill>
              <a:srgbClr val="2B2B2B"/>
            </a:solidFill>
            <a:prstDash val="solid"/>
          </a:ln>
        </p:spPr>
      </p:sp>
      <p:sp>
        <p:nvSpPr>
          <p:cNvPr id="18" name="Text 16"/>
          <p:cNvSpPr/>
          <p:nvPr/>
        </p:nvSpPr>
        <p:spPr>
          <a:xfrm>
            <a:off x="1003300" y="4557961"/>
            <a:ext cx="558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L4</a:t>
            </a:r>
            <a:endParaRPr lang="en-US" sz="1300" dirty="0"/>
          </a:p>
        </p:txBody>
      </p:sp>
      <p:sp>
        <p:nvSpPr>
          <p:cNvPr id="19" name="Text 17"/>
          <p:cNvSpPr/>
          <p:nvPr/>
        </p:nvSpPr>
        <p:spPr>
          <a:xfrm>
            <a:off x="1663700" y="4513511"/>
            <a:ext cx="1701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9ECEF"/>
                </a:solidFill>
                <a:latin typeface="Host Grotesk" pitchFamily="34" charset="0"/>
                <a:ea typeface="Host Grotesk" pitchFamily="34" charset="-122"/>
                <a:cs typeface="Host Grotesk" pitchFamily="34" charset="-120"/>
              </a:rPr>
              <a:t>Magnet</a:t>
            </a:r>
            <a:endParaRPr lang="en-US" sz="1800" dirty="0"/>
          </a:p>
        </p:txBody>
      </p:sp>
      <p:sp>
        <p:nvSpPr>
          <p:cNvPr id="20" name="Text 18"/>
          <p:cNvSpPr/>
          <p:nvPr/>
        </p:nvSpPr>
        <p:spPr>
          <a:xfrm>
            <a:off x="3467100" y="4536380"/>
            <a:ext cx="795324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Interview on the real work, and show how you’ll grow them.</a:t>
            </a:r>
            <a:endParaRPr lang="en-US" sz="1600" dirty="0"/>
          </a:p>
        </p:txBody>
      </p:sp>
      <p:sp>
        <p:nvSpPr>
          <p:cNvPr id="21" name="Shape 19"/>
          <p:cNvSpPr/>
          <p:nvPr/>
        </p:nvSpPr>
        <p:spPr>
          <a:xfrm>
            <a:off x="819150" y="5131991"/>
            <a:ext cx="10553700" cy="688330"/>
          </a:xfrm>
          <a:prstGeom prst="roundRect">
            <a:avLst>
              <a:gd name="adj" fmla="val 13838"/>
            </a:avLst>
          </a:prstGeom>
          <a:solidFill>
            <a:srgbClr val="1A1A1A"/>
          </a:solidFill>
          <a:ln w="12700">
            <a:solidFill>
              <a:srgbClr val="2B2B2B"/>
            </a:solidFill>
            <a:prstDash val="solid"/>
          </a:ln>
        </p:spPr>
      </p:sp>
      <p:sp>
        <p:nvSpPr>
          <p:cNvPr id="22" name="Text 20"/>
          <p:cNvSpPr/>
          <p:nvPr/>
        </p:nvSpPr>
        <p:spPr>
          <a:xfrm>
            <a:off x="1003300" y="5360591"/>
            <a:ext cx="558800" cy="25653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63E14F"/>
                </a:solidFill>
                <a:latin typeface="DM Mono" pitchFamily="49" charset="0"/>
                <a:ea typeface="DM Mono" pitchFamily="49" charset="-122"/>
                <a:cs typeface="DM Mono" pitchFamily="49" charset="-120"/>
              </a:rPr>
              <a:t>L5</a:t>
            </a:r>
            <a:endParaRPr lang="en-US" sz="1300" dirty="0"/>
          </a:p>
        </p:txBody>
      </p:sp>
      <p:sp>
        <p:nvSpPr>
          <p:cNvPr id="23" name="Text 21"/>
          <p:cNvSpPr/>
          <p:nvPr/>
        </p:nvSpPr>
        <p:spPr>
          <a:xfrm>
            <a:off x="1663700" y="5316141"/>
            <a:ext cx="1701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9ECEF"/>
                </a:solidFill>
                <a:latin typeface="Host Grotesk" pitchFamily="34" charset="0"/>
                <a:ea typeface="Host Grotesk" pitchFamily="34" charset="-122"/>
                <a:cs typeface="Host Grotesk" pitchFamily="34" charset="-120"/>
              </a:rPr>
              <a:t>Landing</a:t>
            </a:r>
            <a:endParaRPr lang="en-US" sz="1800" dirty="0"/>
          </a:p>
        </p:txBody>
      </p:sp>
      <p:sp>
        <p:nvSpPr>
          <p:cNvPr id="24" name="Text 22"/>
          <p:cNvSpPr/>
          <p:nvPr/>
        </p:nvSpPr>
        <p:spPr>
          <a:xfrm>
            <a:off x="3467100" y="5339011"/>
            <a:ext cx="795324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ECEF"/>
                </a:solidFill>
                <a:latin typeface="Raleway" pitchFamily="34" charset="0"/>
                <a:ea typeface="Raleway" pitchFamily="34" charset="-122"/>
                <a:cs typeface="Raleway" pitchFamily="34" charset="-120"/>
              </a:rPr>
              <a:t>Find what moves them, and show them the path ahead.</a:t>
            </a:r>
            <a:endParaRPr lang="en-US" sz="1600" dirty="0"/>
          </a:p>
        </p:txBody>
      </p:sp>
      <p:pic>
        <p:nvPicPr>
          <p:cNvPr id="25" name="Image 0" descr="Mashgin">    </p:cNvPr>
          <p:cNvPicPr>
            <a:picLocks noChangeAspect="1"/>
          </p:cNvPicPr>
          <p:nvPr/>
        </p:nvPicPr>
        <p:blipFill>
          <a:blip r:embed="rId1"/>
          <a:srcRect l="-284" r="-284" t="0" b="0"/>
          <a:stretch/>
        </p:blipFill>
        <p:spPr>
          <a:xfrm>
            <a:off x="10121900" y="406400"/>
            <a:ext cx="1460500" cy="298450"/>
          </a:xfrm>
          <a:prstGeom prst="rect">
            <a:avLst/>
          </a:prstGeom>
        </p:spPr>
      </p:pic>
      <p:sp>
        <p:nvSpPr>
          <p:cNvPr id="26" name="Text 2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7"/>
                </a:solidFill>
                <a:latin typeface="DM Mono" pitchFamily="49" charset="0"/>
                <a:ea typeface="DM Mono" pitchFamily="49" charset="-122"/>
                <a:cs typeface="DM Mono" pitchFamily="49" charset="-120"/>
              </a:rPr>
              <a:t>Copyright Dobromir Montauk, 2026</a:t>
            </a:r>
            <a:endParaRPr lang="en-US" sz="1200" dirty="0"/>
          </a:p>
        </p:txBody>
      </p:sp>
      <p:sp>
        <p:nvSpPr>
          <p:cNvPr id="27" name="Text 24"/>
          <p:cNvSpPr/>
          <p:nvPr/>
        </p:nvSpPr>
        <p:spPr>
          <a:xfrm>
            <a:off x="10261600" y="6169670"/>
            <a:ext cx="1320800"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63E14F"/>
                </a:solidFill>
                <a:latin typeface="DM Mono" pitchFamily="49" charset="0"/>
                <a:ea typeface="DM Mono" pitchFamily="49" charset="-122"/>
                <a:cs typeface="DM Mono" pitchFamily="49" charset="-120"/>
              </a:rPr>
              <a:t>[ 25 ]</a:t>
            </a:r>
            <a:endParaRPr lang="en-US" sz="1800" dirty="0"/>
          </a:p>
        </p:txBody>
      </p:sp>
    </p:spTree>
  </p:cSld>
  <p:clrMapOvr>
    <a:masterClrMapping/>
  </p:clrMapOvr>
</p:sld>
</file>

<file path=ppt/theme/theme1.xml><?xml version="1.0" encoding="utf-8"?>
<a:theme xmlns:a="http://schemas.openxmlformats.org/drawingml/2006/main" name="The Art of Hiring — Arc 2">
  <a:themeElements>
    <a:clrScheme name="The Art of Hiring — Arc 2">
      <a:dk1>
        <a:srgbClr val="060607"/>
      </a:dk1>
      <a:lt1>
        <a:srgbClr val="F4F5F7"/>
      </a:lt1>
      <a:dk2>
        <a:srgbClr val="1E1E1F"/>
      </a:dk2>
      <a:lt2>
        <a:srgbClr val="B9B9BB"/>
      </a:lt2>
      <a:accent1>
        <a:srgbClr val="63E14F"/>
      </a:accent1>
      <a:accent2>
        <a:srgbClr val="FF832A"/>
      </a:accent2>
      <a:accent3>
        <a:srgbClr val="8B9097"/>
      </a:accent3>
      <a:accent4>
        <a:srgbClr val="A3A8B0"/>
      </a:accent4>
      <a:accent5>
        <a:srgbClr val="1C2619"/>
      </a:accent5>
      <a:accent6>
        <a:srgbClr val="1F2130"/>
      </a:accent6>
      <a:hlink>
        <a:srgbClr val="0563C1"/>
      </a:hlink>
      <a:folHlink>
        <a:srgbClr val="954F72"/>
      </a:folHlink>
    </a:clrScheme>
    <a:fontScheme name="The Art of Hiring — Arc 2">
      <a:majorFont>
        <a:latin typeface="Host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Art of Hiring — Arc 2</dc:title>
  <dc:subject/>
  <dc:creator/>
  <cp:lastModifiedBy/>
  <cp:revision>1</cp:revision>
  <dcterms:created xsi:type="dcterms:W3CDTF">2026-10-16T00:20:02Z</dcterms:created>
  <dcterms:modified xsi:type="dcterms:W3CDTF">2026-10-16T00:20:02Z</dcterms:modified>
</cp:coreProperties>
</file>