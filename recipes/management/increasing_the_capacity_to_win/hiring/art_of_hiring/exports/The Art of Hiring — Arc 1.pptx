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34.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9" r:id="rId35"/>
  </p:sldIdLst>
  <p:notesMasterIdLst>
    <p:notesMasterId r:id="rId3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Philosophy, content and process borrowed heavily from TellApart, Twitter, Wade Chambers, and "Who: The A Method for Hiring". Three arcs, about 30 minutes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talk on one slide. Arc 1: how we evaluate candidates, on two axes: Strength and Fit. Arc 2: how we train interviewers, through five levels from Competence to Landing. Arc 3: how we build the process, in three stages: getting to the interview, the interview, the close. Philosophy, content and process borrowed heavily from TellApart, Twitter, Wade Chambers, and "Who: The A Method for Hiring".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Hiring is a SALES FUNNEL. Explain the basic concept: source, screen, onsite, offer, accept. Every stage converts some candidates and loses others.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But it's very messy. Sales funnels look linear, but people bounce around in them. False negatives and positives: candidates might need to go BACKWARDS to avoid mishiring, or missing out on a great person. Time is a friendly foe: isn't it crazy that we make decisions that affect us for years after just a few hours with the team? We are all busy, so we optimize for less time in this part, often wrongly so. Don't be afraid to INCREASE the amount of time in each stage to make a candidate feel valued, comfortable, familiar with us, etc.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part of the funnel is a different filter, and each person in the process needs to know which filter they are. Source: are they on the market? Recruiter screen: would they ever even choose us? EM screen: will they be excited about us? Technical screen: are they likely to be a good engineer? Onsite: are they a GREAT engineer, and will they thrive at Mashgin? Offer: will they choose US over the competition?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else is hiring? Matchmaking. Dating. It runs both ways: we choose them, and they choose us. Why would they choose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funnel, opposite direction. At every stage the candidate is running their own filter on us. Source: Does Mashgin seem like an interesting company / problem / technology / team / whatever I care about…? Recruiter screen: who are these people? What is their “culture”? EM screen: would I want to work for this person? Tech screen: are these engineers sharp? Onsite: will I learn from these people, will I grow here? Offer: is this the best bet for my career?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dimensions: Strength and Fit. We want top-right candidates. Candidates want top-right companies. Both sides never define this, and choose on "vibes". The rest of this arc defines each axis.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player: 90% likely to solve the problems you throw at them; attracts other A players. B: 75% likely; can irritate A players. C: 60% likely to FAIL, so why risk it? Drives away A players. D: lowers team productivity, drives away key talent, degrades the codebase; gets you fired. The "affect others" row is from the Who book: A players attract A players, B players irritate them, C players drive them away, D players get you fired for reducing productivity, driving away key talent, and reducing codebase quality.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Fit runs three ways: employee, company, role. Employee perspective: what will I learn? What can I teach? What value can I add? How will this advance my career? Do I like the culture, the product, the team? Company perspective: is there a 90% chance they can do what only the top 10% can do in the role? Do they fit culturally? Do they exhibit the company's key values? What is the value, what is the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Imagine 100 similarly difficult problems given to 100 different people. Pick the 10% with the best solutions: that's the bar. "90% chance of achieving outcomes" guarantees consistency instead of randomness. Someone might come up with a great solution to one of those 100 problems. Can they do it 9 times out of 10, across the other problems? If not, they just got lucky. So look for a track record of winning, not just one home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Strength is one axis; Fit is the other. Fit runs from −10 (unaligned, mercenary) through 0 (ambivalent) to +10 (aligned, missionary). It's about alignment in both directions: do they want what we need, and do we offer what they want? The next slides explain why fit matters so much for us, and what it sounds 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Mercenary. "Pay me." Fixed mindset, defending, me, extrinsics, activity over impact, participant, apathetic, victim. It's a job. In engineers: résumé-driven development (picking tech because it looks good on a CV, not because it fits the problem), chasing titles, counting down to the vesting cliff, asking about comp before the problem, "not my job", taking tickets instead of owning outcomes. At Mashgin: cargo-culting, offer-shopping, hotness-chasing.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Missionary. "Grow me." Growth mindset, learning, we, intrinsics, impact, owner, empathetic, determined, career. Then ask the room: what does a MASHGIN missionary look like? Collect their answers before revealing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the Mashgin missionary attributes. Scrappy? Loves hardware. Efficiency. First principles. Build, don't buy. Compare with what the room said.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fit SO important for us? Risk: at Google there are lots of teams, so someone can switch if it doesn't work out. At Mashgin they must fit on THIS team, otherwise they get fired. Conversion: at Google people are OK being a small part of something BIG. At Mashgin they want to be the HERO in their thing. (That difference is what converts a candidate.) Maslow motivation: Big Tech candidates want $ / esteem; Mashgin candidates are seeking self-actualization. When I joined TellApart and learned they evaluated candidates on FIT, not just technical skill, I was surprised: Google didn't, and it worked fine for them. It took time to realize Google != TellApart. Candidates can feel fit too: they often choose a company where they are a unique fit that unlocks their needs. People want to be heroes. That's the main lever startups can pull better than big companies.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 the two axes together. A and B players who are aligned: hire at all costs (Unicorn, Team Player). Strong but unaligned: Mercenary or Consultant. C and D players: no, whatever the fit. D players will get you fired.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middle of the fit axis is where most of the hard calls live: Confused, Ambivalent, the Rock Star who can be acclimated. This is where interviewers disagree.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Confusion and ambivalence: resolve before you hire (red arrows). Moving up a strength level, B to A: you can coach that in the first 90-180 days (yellow). A Rock Star becoming a Unicorn, fully aligned: you can coach that over the first 2 years (green). 90-day reviews let you cut the B players if you made a mistake. Hold yourself accountable to coaching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Tools to identify MERCENARIES/CONSULTANTS: give them some pain they won't accept. Challenge their world view. Make it real: lower pay. Cold splash: title shrink. How they react will tell you a lot about how they are thinking about the role. You can always walk it back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writing someone off as a B player, check whether it was them or their environment. Interview process failure: we didn't find their strengths, so re-interview for the strengths we missed. Lacked opportunity: give them a challenging onboarding. Wrong mentorship: pair them with your best. Some of our Mashgin Brazil team were B players because of OPPORTUNITY and PREVIOUS COACHING.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Tools to identify B players (grit + intelligence): they never pushed themselves before, and in 90 days they don't adjust their behavior.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Candidates see the process, but they judge the culture. Who we are in the interview process should reflect our core values. The candidate is evaluating us the whole time. Three things they see.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Speed matters. We lose candidates when we move slowly. One candidate never even got to the onsite. Another was held back for weeks, then took a competing offer. We can control our speed. How do we create a sense of urgency on the candidate side? If we succeed, we can control their speed to some degree too. We never want to lie ("I only have 2 roles open"). Move slow, then fast: we lose if they think about it for months; schedule onsites when they are ready to decide. Missionary zeal: we expect people to make quick decisions on incomplete information, and that includes the interview. No pressure selling: we don't take important decisions lightly; give people the space to think and decide, without any fake urgency.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interview has two interviewers in the room. The dynamic should be a conversation between three people, not two people grilling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recruiters, to the EM, to the engineers: every touchpoint shows real interest in the candidate's growth. That's how they learn we're a growth factory before they ever join.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Gandalf: the best recruiter in fiction. Bilbo wanted his comfort; Gandalf knew he had a Took's taste for adventure and signed him up before he could refuse (The Hobbit, ch. 1: the mark on the door, the Dwarves arriving). Thorin's company wanted their treasure and homeland back; Gandalf backed them, while his real goal was removing Smaug as a threat (Unfinished Tales, 'The Quest of Erebor'). Aragorn was the heir of Isildur living as a Ranger; Gandalf was his long-time friend and ally. Frodo volunteered at the Council of Elrond, 'I will take the Ring, though I do not know the way.' Real motives. Bilbo: his Tookish side; the dwarves' song woke a longing to see the mountains and wear a sword instead of a walking-stick, and Gloin's jab that he looked more like a grocer than a burglar stung his pride into saying yes. Gandalf had told the dwarves there was more in Bilbo than he had any idea of himself. Aragorn: to claim the crown of Gondor and Arnor, the condition Elrond set for marrying Arwen (Appendix A); Gandalf was his long-time ally and vouched for him in his letter at Bree. Frodo: love of the Shire; he said he wanted to save it. Note: in The Lord of the Rings, Elrond formally chose the Nine; Gandalf's recruiting shows most in The Hobbit.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060607"/>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214090"/>
            <a:ext cx="10566400" cy="502890"/>
          </a:xfrm>
          <a:prstGeom prst="rect">
            <a:avLst/>
          </a:prstGeom>
          <a:noFill/>
          <a:ln/>
        </p:spPr>
        <p:txBody>
          <a:bodyPr wrap="square" lIns="0" tIns="0" rIns="0" bIns="0" rtlCol="0" anchor="t"/>
          <a:lstStyle>
            <a:lvl1pPr algn="l" indent="0" marL="0">
              <a:lnSpc>
                <a:spcPct val="115000"/>
              </a:lnSpc>
              <a:buNone/>
              <a:defRPr lang="en-US" sz="3600" dirty="0">
                <a:solidFill>
                  <a:srgbClr val="F4F5F7"/>
                </a:solidFill>
                <a:latin typeface="Host Grotesk" pitchFamily="34" charset="0"/>
                <a:ea typeface="Host Grotesk" pitchFamily="34" charset="-122"/>
                <a:cs typeface="Host Grotesk"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2021780"/>
            <a:ext cx="10566400" cy="4023420"/>
          </a:xfrm>
          <a:prstGeom prst="rect">
            <a:avLst/>
          </a:prstGeom>
          <a:noFill/>
          <a:ln/>
        </p:spPr>
        <p:txBody>
          <a:bodyPr wrap="square" lIns="0" tIns="0" rIns="0" bIns="0" rtlCol="0" anchor="t"/>
          <a:lstStyle>
            <a:lvl1pPr algn="l" indent="0" marL="0">
              <a:lnSpc>
                <a:spcPct val="140000"/>
              </a:lnSpc>
              <a:buNone/>
              <a:defRPr lang="en-US" sz="1600" dirty="0">
                <a:solidFill>
                  <a:srgbClr val="F4F5F7"/>
                </a:solidFill>
                <a:latin typeface="Raleway" pitchFamily="34" charset="0"/>
                <a:ea typeface="Raleway" pitchFamily="34" charset="-122"/>
                <a:cs typeface="Raleway"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60607"/>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214090"/>
            <a:ext cx="10566400" cy="502890"/>
          </a:xfrm>
          <a:prstGeom prst="rect">
            <a:avLst/>
          </a:prstGeom>
          <a:noFill/>
          <a:ln/>
        </p:spPr>
        <p:txBody>
          <a:bodyPr wrap="square" lIns="0" tIns="0" rIns="0" bIns="0" rtlCol="0" anchor="t"/>
          <a:lstStyle>
            <a:lvl1pPr algn="l" indent="0" marL="0">
              <a:lnSpc>
                <a:spcPct val="115000"/>
              </a:lnSpc>
              <a:buNone/>
              <a:defRPr lang="en-US" sz="3600" dirty="0">
                <a:solidFill>
                  <a:srgbClr val="F4F5F7"/>
                </a:solidFill>
                <a:latin typeface="Host Grotesk" pitchFamily="34" charset="0"/>
                <a:ea typeface="Host Grotesk" pitchFamily="34" charset="-122"/>
                <a:cs typeface="Host Grotesk"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2021780"/>
            <a:ext cx="10566400" cy="4023420"/>
          </a:xfrm>
          <a:prstGeom prst="rect">
            <a:avLst/>
          </a:prstGeom>
          <a:noFill/>
          <a:ln/>
        </p:spPr>
        <p:txBody>
          <a:bodyPr wrap="square" lIns="0" tIns="0" rIns="0" bIns="0" rtlCol="0" anchor="t"/>
          <a:lstStyle>
            <a:lvl1pPr algn="l" indent="0" marL="0">
              <a:lnSpc>
                <a:spcPct val="140000"/>
              </a:lnSpc>
              <a:buNone/>
              <a:defRPr lang="en-US" sz="1600" dirty="0">
                <a:solidFill>
                  <a:srgbClr val="F4F5F7"/>
                </a:solidFill>
                <a:latin typeface="Raleway" pitchFamily="34" charset="0"/>
                <a:ea typeface="Raleway" pitchFamily="34" charset="-122"/>
                <a:cs typeface="Raleway" pitchFamily="34" charset="-120"/>
              </a:defRPr>
            </a:lvl1pPr>
          </a:lstStyle>
          <a:p>
            <a:pPr algn="l" indent="0" marL="0">
              <a:lnSpc>
                <a:spcPct val="140000"/>
              </a:lnSpc>
              <a:buNone/>
            </a:pPr>
            <a:endParaRPr lang="en-US" sz="1600"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2.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2.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2.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2.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2.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2.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2.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2.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slideLayout" Target="../slideLayouts/slideLayout2.xml"/><Relationship Id="rId8"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slideLayout" Target="../slideLayouts/slideLayout2.xml"/><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slideLayout" Target="../slideLayouts/slideLayout2.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2.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slideLayout" Target="../slideLayouts/slideLayout2.xml"/><Relationship Id="rId6"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slideLayout" Target="../slideLayouts/slideLayout2.xml"/><Relationship Id="rId5"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34.xml.rels><?xml version='1.0' encoding='UTF-8' standalone='yes'?>
<Relationships xmlns="http://schemas.openxmlformats.org/package/2006/relationships"><Relationship Id="rId1" Type="http://schemas.openxmlformats.org/officeDocument/2006/relationships/image" Target="../media/image-34-1.jpeg"/><Relationship Id="rId2" Type="http://schemas.openxmlformats.org/officeDocument/2006/relationships/image" Target="../media/image-34-2.png"/><Relationship Id="rId3" Type="http://schemas.openxmlformats.org/officeDocument/2006/relationships/slideLayout" Target="../slideLayouts/slideLayout2.xml"/><Relationship Id="rId4"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2130"/>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1F2130"/>
              </a:gs>
              <a:gs pos="55000">
                <a:srgbClr val="272A37"/>
              </a:gs>
              <a:gs pos="100000">
                <a:srgbClr val="3B3F4D"/>
              </a:gs>
            </a:gsLst>
            <a:lin ang="1500000" scaled="0"/>
          </a:gradFill>
          <a:ln/>
        </p:spPr>
      </p:sp>
      <p:sp>
        <p:nvSpPr>
          <p:cNvPr id="3" name="Shape 1"/>
          <p:cNvSpPr/>
          <p:nvPr/>
        </p:nvSpPr>
        <p:spPr>
          <a:xfrm>
            <a:off x="6350000" y="0"/>
            <a:ext cx="3302000" cy="6858000"/>
          </a:xfrm>
          <a:prstGeom prst="rect">
            <a:avLst/>
          </a:prstGeom>
          <a:gradFill rotWithShape="1">
            <a:gsLst>
              <a:gs pos="0">
                <a:srgbClr val="FFFFFF">
                  <a:alpha val="0"/>
                </a:srgbClr>
              </a:gs>
              <a:gs pos="50000">
                <a:srgbClr val="FFFFFF">
                  <a:alpha val="7000"/>
                </a:srgbClr>
              </a:gs>
              <a:gs pos="100000">
                <a:srgbClr val="FFFFFF">
                  <a:alpha val="0"/>
                </a:srgbClr>
              </a:gs>
            </a:gsLst>
            <a:lin ang="1500000" scaled="0"/>
          </a:gradFill>
          <a:ln/>
        </p:spPr>
      </p:sp>
      <p:sp>
        <p:nvSpPr>
          <p:cNvPr id="4" name="Text 2"/>
          <p:cNvSpPr/>
          <p:nvPr/>
        </p:nvSpPr>
        <p:spPr>
          <a:xfrm>
            <a:off x="812800" y="1285230"/>
            <a:ext cx="5624830" cy="274290"/>
          </a:xfrm>
          <a:prstGeom prst="rect">
            <a:avLst/>
          </a:prstGeom>
          <a:noFill/>
          <a:ln/>
        </p:spPr>
        <p:txBody>
          <a:bodyPr wrap="square" lIns="0" tIns="0" rIns="0" bIns="0" rtlCol="0" anchor="t">
            <a:normAutofit/>
          </a:bodyPr>
          <a:lstStyle/>
          <a:p>
            <a:pPr algn="l" indent="0" marL="0">
              <a:lnSpc>
                <a:spcPts val="1960"/>
              </a:lnSpc>
              <a:buNone/>
            </a:pPr>
            <a:r>
              <a:rPr lang="en-US" sz="1400" spc="150" kern="0" dirty="0">
                <a:solidFill>
                  <a:srgbClr val="63E14F"/>
                </a:solidFill>
                <a:latin typeface="DM Mono" pitchFamily="49" charset="0"/>
                <a:ea typeface="DM Mono" pitchFamily="49" charset="-122"/>
                <a:cs typeface="DM Mono" pitchFamily="49" charset="-120"/>
              </a:rPr>
              <a:t>EVALUATE · TRAIN · BUILD</a:t>
            </a:r>
            <a:endParaRPr lang="en-US" sz="1400" dirty="0"/>
          </a:p>
        </p:txBody>
      </p:sp>
      <p:sp>
        <p:nvSpPr>
          <p:cNvPr id="5" name="Text 3"/>
          <p:cNvSpPr/>
          <p:nvPr/>
        </p:nvSpPr>
        <p:spPr>
          <a:xfrm>
            <a:off x="812800" y="1686520"/>
            <a:ext cx="5624830" cy="2514600"/>
          </a:xfrm>
          <a:prstGeom prst="rect">
            <a:avLst/>
          </a:prstGeom>
          <a:noFill/>
          <a:ln/>
        </p:spPr>
        <p:txBody>
          <a:bodyPr wrap="square" lIns="0" tIns="0" rIns="0" bIns="0" rtlCol="0" anchor="t">
            <a:normAutofit/>
          </a:bodyPr>
          <a:lstStyle/>
          <a:p>
            <a:pPr algn="l" indent="0" marL="0">
              <a:lnSpc>
                <a:spcPts val="9800"/>
              </a:lnSpc>
              <a:buNone/>
            </a:pPr>
            <a:r>
              <a:rPr lang="en-US" sz="10000" dirty="0">
                <a:solidFill>
                  <a:srgbClr val="F4F5F7"/>
                </a:solidFill>
                <a:latin typeface="Host Grotesk" pitchFamily="34" charset="0"/>
                <a:ea typeface="Host Grotesk" pitchFamily="34" charset="-122"/>
                <a:cs typeface="Host Grotesk" pitchFamily="34" charset="-120"/>
              </a:rPr>
              <a:t>The </a:t>
            </a:r>
            <a:r>
              <a:rPr lang="en-US" sz="10000" b="1" dirty="0">
                <a:solidFill>
                  <a:srgbClr val="F4F5F7"/>
                </a:solidFill>
                <a:latin typeface="Host Grotesk" pitchFamily="34" charset="0"/>
                <a:ea typeface="Host Grotesk" pitchFamily="34" charset="-122"/>
                <a:cs typeface="Host Grotesk" pitchFamily="34" charset="-120"/>
              </a:rPr>
              <a:t>Art</a:t>
            </a:r>
            <a:r>
              <a:rPr lang="en-US" sz="10000" dirty="0">
                <a:solidFill>
                  <a:srgbClr val="F4F5F7"/>
                </a:solidFill>
                <a:latin typeface="Host Grotesk" pitchFamily="34" charset="0"/>
                <a:ea typeface="Host Grotesk" pitchFamily="34" charset="-122"/>
                <a:cs typeface="Host Grotesk" pitchFamily="34" charset="-120"/>
              </a:rPr>
              <a:t> of</a:t>
            </a:r>
            <a:endParaRPr lang="en-US" sz="10000" dirty="0"/>
          </a:p>
        </p:txBody>
      </p:sp>
      <p:sp>
        <p:nvSpPr>
          <p:cNvPr id="6" name="Text 4"/>
          <p:cNvSpPr/>
          <p:nvPr/>
        </p:nvSpPr>
        <p:spPr>
          <a:xfrm>
            <a:off x="812800" y="4328120"/>
            <a:ext cx="5624830" cy="1270000"/>
          </a:xfrm>
          <a:prstGeom prst="rect">
            <a:avLst/>
          </a:prstGeom>
          <a:noFill/>
          <a:ln/>
        </p:spPr>
        <p:txBody>
          <a:bodyPr wrap="square" lIns="0" tIns="0" rIns="0" bIns="0" rtlCol="0" anchor="t">
            <a:normAutofit/>
          </a:bodyPr>
          <a:lstStyle/>
          <a:p>
            <a:pPr algn="l" indent="0" marL="0">
              <a:lnSpc>
                <a:spcPts val="9800"/>
              </a:lnSpc>
              <a:buNone/>
            </a:pPr>
            <a:r>
              <a:rPr lang="en-US" sz="10000" dirty="0">
                <a:solidFill>
                  <a:srgbClr val="F4F5F7"/>
                </a:solidFill>
                <a:latin typeface="Host Grotesk" pitchFamily="34" charset="0"/>
                <a:ea typeface="Host Grotesk" pitchFamily="34" charset="-122"/>
                <a:cs typeface="Host Grotesk" pitchFamily="34" charset="-120"/>
              </a:rPr>
              <a:t>Hiring</a:t>
            </a:r>
            <a:endParaRPr lang="en-US" sz="10000" dirty="0"/>
          </a:p>
        </p:txBody>
      </p:sp>
      <p:sp>
        <p:nvSpPr>
          <p:cNvPr id="7" name="Shape 5"/>
          <p:cNvSpPr/>
          <p:nvPr/>
        </p:nvSpPr>
        <p:spPr>
          <a:xfrm>
            <a:off x="7448550" y="2208560"/>
            <a:ext cx="3924300" cy="703560"/>
          </a:xfrm>
          <a:prstGeom prst="roundRect">
            <a:avLst>
              <a:gd name="adj" fmla="val 17149"/>
            </a:avLst>
          </a:prstGeom>
          <a:solidFill>
            <a:srgbClr val="14151B">
              <a:alpha val="75000"/>
            </a:srgbClr>
          </a:solidFill>
          <a:ln w="12700">
            <a:solidFill>
              <a:srgbClr val="34363F"/>
            </a:solidFill>
            <a:prstDash val="solid"/>
          </a:ln>
        </p:spPr>
      </p:sp>
      <p:sp>
        <p:nvSpPr>
          <p:cNvPr id="8" name="Text 6"/>
          <p:cNvSpPr/>
          <p:nvPr/>
        </p:nvSpPr>
        <p:spPr>
          <a:xfrm>
            <a:off x="7683500" y="2418110"/>
            <a:ext cx="2300734"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E9ECEF"/>
                </a:solidFill>
                <a:latin typeface="Raleway" pitchFamily="34" charset="0"/>
                <a:ea typeface="Raleway" pitchFamily="34" charset="-122"/>
                <a:cs typeface="Raleway" pitchFamily="34" charset="-120"/>
              </a:rPr>
              <a:t>Evaluating candidates</a:t>
            </a:r>
            <a:endParaRPr lang="en-US" sz="1600" dirty="0"/>
          </a:p>
        </p:txBody>
      </p:sp>
      <p:sp>
        <p:nvSpPr>
          <p:cNvPr id="9" name="Text 7"/>
          <p:cNvSpPr/>
          <p:nvPr/>
        </p:nvSpPr>
        <p:spPr>
          <a:xfrm>
            <a:off x="10040620" y="2453680"/>
            <a:ext cx="109728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3E14F"/>
                </a:solidFill>
                <a:latin typeface="DM Mono" pitchFamily="49" charset="0"/>
                <a:ea typeface="DM Mono" pitchFamily="49" charset="-122"/>
                <a:cs typeface="DM Mono" pitchFamily="49" charset="-120"/>
              </a:rPr>
              <a:t>[ 30 MIN ]</a:t>
            </a:r>
            <a:endParaRPr lang="en-US" sz="1200" dirty="0"/>
          </a:p>
        </p:txBody>
      </p:sp>
      <p:sp>
        <p:nvSpPr>
          <p:cNvPr id="10" name="Shape 8"/>
          <p:cNvSpPr/>
          <p:nvPr/>
        </p:nvSpPr>
        <p:spPr>
          <a:xfrm>
            <a:off x="7448550" y="3077220"/>
            <a:ext cx="3924300" cy="703560"/>
          </a:xfrm>
          <a:prstGeom prst="roundRect">
            <a:avLst>
              <a:gd name="adj" fmla="val 17149"/>
            </a:avLst>
          </a:prstGeom>
          <a:solidFill>
            <a:srgbClr val="14151B">
              <a:alpha val="75000"/>
            </a:srgbClr>
          </a:solidFill>
          <a:ln w="12700">
            <a:solidFill>
              <a:srgbClr val="34363F"/>
            </a:solidFill>
            <a:prstDash val="solid"/>
          </a:ln>
        </p:spPr>
      </p:sp>
      <p:sp>
        <p:nvSpPr>
          <p:cNvPr id="11" name="Text 9"/>
          <p:cNvSpPr/>
          <p:nvPr/>
        </p:nvSpPr>
        <p:spPr>
          <a:xfrm>
            <a:off x="7683500" y="3286770"/>
            <a:ext cx="1985655"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E9ECEF"/>
                </a:solidFill>
                <a:latin typeface="Raleway" pitchFamily="34" charset="0"/>
                <a:ea typeface="Raleway" pitchFamily="34" charset="-122"/>
                <a:cs typeface="Raleway" pitchFamily="34" charset="-120"/>
              </a:rPr>
              <a:t>Training interviewers</a:t>
            </a:r>
            <a:endParaRPr lang="en-US" sz="1600" dirty="0"/>
          </a:p>
        </p:txBody>
      </p:sp>
      <p:sp>
        <p:nvSpPr>
          <p:cNvPr id="12" name="Text 10"/>
          <p:cNvSpPr/>
          <p:nvPr/>
        </p:nvSpPr>
        <p:spPr>
          <a:xfrm>
            <a:off x="10040620" y="3322340"/>
            <a:ext cx="109728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3E14F"/>
                </a:solidFill>
                <a:latin typeface="DM Mono" pitchFamily="49" charset="0"/>
                <a:ea typeface="DM Mono" pitchFamily="49" charset="-122"/>
                <a:cs typeface="DM Mono" pitchFamily="49" charset="-120"/>
              </a:rPr>
              <a:t>[ 30 MIN ]</a:t>
            </a:r>
            <a:endParaRPr lang="en-US" sz="1200" dirty="0"/>
          </a:p>
        </p:txBody>
      </p:sp>
      <p:sp>
        <p:nvSpPr>
          <p:cNvPr id="13" name="Shape 11"/>
          <p:cNvSpPr/>
          <p:nvPr/>
        </p:nvSpPr>
        <p:spPr>
          <a:xfrm>
            <a:off x="7448550" y="3945880"/>
            <a:ext cx="3924300" cy="703560"/>
          </a:xfrm>
          <a:prstGeom prst="roundRect">
            <a:avLst>
              <a:gd name="adj" fmla="val 17149"/>
            </a:avLst>
          </a:prstGeom>
          <a:solidFill>
            <a:srgbClr val="14151B">
              <a:alpha val="75000"/>
            </a:srgbClr>
          </a:solidFill>
          <a:ln w="12700">
            <a:solidFill>
              <a:srgbClr val="34363F"/>
            </a:solidFill>
            <a:prstDash val="solid"/>
          </a:ln>
        </p:spPr>
      </p:sp>
      <p:sp>
        <p:nvSpPr>
          <p:cNvPr id="14" name="Text 12"/>
          <p:cNvSpPr/>
          <p:nvPr/>
        </p:nvSpPr>
        <p:spPr>
          <a:xfrm>
            <a:off x="7683500" y="4155430"/>
            <a:ext cx="1977581"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E9ECEF"/>
                </a:solidFill>
                <a:latin typeface="Raleway" pitchFamily="34" charset="0"/>
                <a:ea typeface="Raleway" pitchFamily="34" charset="-122"/>
                <a:cs typeface="Raleway" pitchFamily="34" charset="-120"/>
              </a:rPr>
              <a:t>Building the process</a:t>
            </a:r>
            <a:endParaRPr lang="en-US" sz="1600" dirty="0"/>
          </a:p>
        </p:txBody>
      </p:sp>
      <p:sp>
        <p:nvSpPr>
          <p:cNvPr id="15" name="Text 13"/>
          <p:cNvSpPr/>
          <p:nvPr/>
        </p:nvSpPr>
        <p:spPr>
          <a:xfrm>
            <a:off x="10040620" y="4191000"/>
            <a:ext cx="109728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3E14F"/>
                </a:solidFill>
                <a:latin typeface="DM Mono" pitchFamily="49" charset="0"/>
                <a:ea typeface="DM Mono" pitchFamily="49" charset="-122"/>
                <a:cs typeface="DM Mono" pitchFamily="49" charset="-120"/>
              </a:rPr>
              <a:t>[ 30 MIN ]</a:t>
            </a:r>
            <a:endParaRPr lang="en-US" sz="1200" dirty="0"/>
          </a:p>
        </p:txBody>
      </p:sp>
      <p:pic>
        <p:nvPicPr>
          <p:cNvPr id="16" name="Image 0" descr="Mashgin">    </p:cNvPr>
          <p:cNvPicPr>
            <a:picLocks noChangeAspect="1"/>
          </p:cNvPicPr>
          <p:nvPr/>
        </p:nvPicPr>
        <p:blipFill>
          <a:blip r:embed="rId1"/>
          <a:srcRect l="-408" r="-408" t="0" b="0"/>
          <a:stretch/>
        </p:blipFill>
        <p:spPr>
          <a:xfrm>
            <a:off x="9931400" y="457200"/>
            <a:ext cx="1651000" cy="3365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60607"/>
        </a:solidFill>
      </p:bgPr>
    </p:bg>
    <p:spTree>
      <p:nvGrpSpPr>
        <p:cNvPr id="1" name=""/>
        <p:cNvGrpSpPr/>
        <p:nvPr/>
      </p:nvGrpSpPr>
      <p:grpSpPr>
        <a:xfrm>
          <a:off x="0" y="0"/>
          <a:ext cx="0" cy="0"/>
          <a:chOff x="0" y="0"/>
          <a:chExt cx="0" cy="0"/>
        </a:xfrm>
      </p:grpSpPr>
      <p:sp>
        <p:nvSpPr>
          <p:cNvPr id="2" name="Shape 0"/>
          <p:cNvSpPr/>
          <p:nvPr/>
        </p:nvSpPr>
        <p:spPr>
          <a:xfrm>
            <a:off x="254000" y="0"/>
            <a:ext cx="25400" cy="6858000"/>
          </a:xfrm>
          <a:prstGeom prst="rect">
            <a:avLst/>
          </a:prstGeom>
          <a:gradFill rotWithShape="1">
            <a:gsLst>
              <a:gs pos="0">
                <a:srgbClr val="FF832A"/>
              </a:gs>
              <a:gs pos="35000">
                <a:srgbClr val="FF832A"/>
              </a:gs>
              <a:gs pos="75000">
                <a:srgbClr val="63E14F"/>
              </a:gs>
              <a:gs pos="100000">
                <a:srgbClr val="63E14F"/>
              </a:gs>
            </a:gsLst>
            <a:lin ang="5400000" scaled="0"/>
          </a:gradFill>
          <a:ln/>
        </p:spPr>
      </p:sp>
      <p:sp>
        <p:nvSpPr>
          <p:cNvPr id="3" name="Text 1"/>
          <p:cNvSpPr/>
          <p:nvPr/>
        </p:nvSpPr>
        <p:spPr>
          <a:xfrm>
            <a:off x="812800" y="7112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spc="100" kern="0" dirty="0">
                <a:solidFill>
                  <a:srgbClr val="63E14F"/>
                </a:solidFill>
                <a:latin typeface="DM Mono" pitchFamily="49" charset="0"/>
                <a:ea typeface="DM Mono" pitchFamily="49" charset="-122"/>
                <a:cs typeface="DM Mono" pitchFamily="49" charset="-120"/>
              </a:rPr>
              <a:t>[ THE WHOLE TALK ]</a:t>
            </a:r>
            <a:endParaRPr lang="en-US" sz="1400" dirty="0"/>
          </a:p>
        </p:txBody>
      </p:sp>
      <p:sp>
        <p:nvSpPr>
          <p:cNvPr id="4" name="Text 2"/>
          <p:cNvSpPr/>
          <p:nvPr>
            <p:ph type="title"/>
          </p:nvPr>
        </p:nvSpPr>
        <p:spPr>
          <a:xfrm>
            <a:off x="812800" y="1214090"/>
            <a:ext cx="10883392" cy="103118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4F5F7"/>
                </a:solidFill>
                <a:latin typeface="Host Grotesk" pitchFamily="34" charset="0"/>
                <a:ea typeface="Host Grotesk" pitchFamily="34" charset="-122"/>
                <a:cs typeface="Host Grotesk" pitchFamily="34" charset="-120"/>
              </a:rPr>
              <a:t>Three arcs.</a:t>
            </a:r>
            <a:endParaRPr lang="en-US" sz="3600" dirty="0"/>
          </a:p>
          <a:p>
            <a:pPr algn="l" indent="0" marL="0">
              <a:lnSpc>
                <a:spcPts val="3960"/>
              </a:lnSpc>
              <a:buNone/>
            </a:pPr>
            <a:r>
              <a:rPr lang="en-US" sz="3600" b="1" i="0" dirty="0">
                <a:solidFill>
                  <a:srgbClr val="63E14F"/>
                </a:solidFill>
                <a:latin typeface="Host Grotesk" pitchFamily="34" charset="0"/>
                <a:ea typeface="Host Grotesk" pitchFamily="34" charset="-122"/>
                <a:cs typeface="Host Grotesk" pitchFamily="34" charset="-120"/>
              </a:rPr>
              <a:t>One team of A players.</a:t>
            </a:r>
            <a:endParaRPr lang="en-US" sz="3600" dirty="0"/>
          </a:p>
        </p:txBody>
      </p:sp>
      <p:sp>
        <p:nvSpPr>
          <p:cNvPr id="5" name="Shape 3"/>
          <p:cNvSpPr/>
          <p:nvPr/>
        </p:nvSpPr>
        <p:spPr>
          <a:xfrm>
            <a:off x="819150" y="2480221"/>
            <a:ext cx="3373934" cy="3257500"/>
          </a:xfrm>
          <a:prstGeom prst="roundRect">
            <a:avLst>
              <a:gd name="adj" fmla="val 2924"/>
            </a:avLst>
          </a:prstGeom>
          <a:solidFill>
            <a:srgbClr val="1A1A1A"/>
          </a:solidFill>
          <a:ln w="12700">
            <a:solidFill>
              <a:srgbClr val="2B2B2B"/>
            </a:solidFill>
            <a:prstDash val="solid"/>
          </a:ln>
        </p:spPr>
      </p:sp>
      <p:sp>
        <p:nvSpPr>
          <p:cNvPr id="6" name="Text 4"/>
          <p:cNvSpPr/>
          <p:nvPr/>
        </p:nvSpPr>
        <p:spPr>
          <a:xfrm>
            <a:off x="1079500" y="2740571"/>
            <a:ext cx="2938831" cy="256530"/>
          </a:xfrm>
          <a:prstGeom prst="rect">
            <a:avLst/>
          </a:prstGeom>
          <a:noFill/>
          <a:ln/>
        </p:spPr>
        <p:txBody>
          <a:bodyPr wrap="square" lIns="0" tIns="0" rIns="0" bIns="0" rtlCol="0" anchor="t">
            <a:normAutofit/>
          </a:bodyPr>
          <a:lstStyle/>
          <a:p>
            <a:pPr algn="l" indent="0" marL="0">
              <a:lnSpc>
                <a:spcPts val="1820"/>
              </a:lnSpc>
              <a:buNone/>
            </a:pPr>
            <a:r>
              <a:rPr lang="en-US" sz="1300" spc="100" kern="0" dirty="0">
                <a:solidFill>
                  <a:srgbClr val="63E14F"/>
                </a:solidFill>
                <a:latin typeface="DM Mono" pitchFamily="49" charset="0"/>
                <a:ea typeface="DM Mono" pitchFamily="49" charset="-122"/>
                <a:cs typeface="DM Mono" pitchFamily="49" charset="-120"/>
              </a:rPr>
              <a:t>01 · EVALUATE</a:t>
            </a:r>
            <a:endParaRPr lang="en-US" sz="1300" dirty="0"/>
          </a:p>
        </p:txBody>
      </p:sp>
      <p:sp>
        <p:nvSpPr>
          <p:cNvPr id="7" name="Text 5"/>
          <p:cNvSpPr/>
          <p:nvPr/>
        </p:nvSpPr>
        <p:spPr>
          <a:xfrm>
            <a:off x="1079500" y="3047901"/>
            <a:ext cx="2938831" cy="391120"/>
          </a:xfrm>
          <a:prstGeom prst="rect">
            <a:avLst/>
          </a:prstGeom>
          <a:noFill/>
          <a:ln/>
        </p:spPr>
        <p:txBody>
          <a:bodyPr wrap="square" lIns="0" tIns="0" rIns="0" bIns="0" rtlCol="0" anchor="t">
            <a:normAutofit/>
          </a:bodyPr>
          <a:lstStyle/>
          <a:p>
            <a:pPr algn="l" indent="0" marL="0">
              <a:lnSpc>
                <a:spcPts val="2880"/>
              </a:lnSpc>
              <a:buNone/>
            </a:pPr>
            <a:r>
              <a:rPr lang="en-US" sz="2400" b="1" dirty="0">
                <a:solidFill>
                  <a:srgbClr val="E9ECEF"/>
                </a:solidFill>
                <a:latin typeface="Host Grotesk" pitchFamily="34" charset="0"/>
                <a:ea typeface="Host Grotesk" pitchFamily="34" charset="-122"/>
                <a:cs typeface="Host Grotesk" pitchFamily="34" charset="-120"/>
              </a:rPr>
              <a:t>Strength × Fit</a:t>
            </a:r>
            <a:endParaRPr lang="en-US" sz="2400" dirty="0"/>
          </a:p>
        </p:txBody>
      </p:sp>
      <p:pic>
        <p:nvPicPr>
          <p:cNvPr id="8" name="Image 0" descr="preencoded.png">    </p:cNvPr>
          <p:cNvPicPr>
            <a:picLocks noChangeAspect="1"/>
          </p:cNvPicPr>
          <p:nvPr/>
        </p:nvPicPr>
        <p:blipFill>
          <a:blip r:embed="rId1"/>
          <a:srcRect l="0" r="0" t="0" b="0"/>
          <a:stretch/>
        </p:blipFill>
        <p:spPr>
          <a:xfrm>
            <a:off x="1079500" y="3489821"/>
            <a:ext cx="1905000" cy="1397000"/>
          </a:xfrm>
          <a:prstGeom prst="rect">
            <a:avLst/>
          </a:prstGeom>
        </p:spPr>
      </p:pic>
      <p:sp>
        <p:nvSpPr>
          <p:cNvPr id="9" name="Text 6"/>
          <p:cNvSpPr/>
          <p:nvPr/>
        </p:nvSpPr>
        <p:spPr>
          <a:xfrm>
            <a:off x="1079500" y="4963021"/>
            <a:ext cx="2938831"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A3A8B0"/>
                </a:solidFill>
                <a:latin typeface="Raleway" pitchFamily="34" charset="0"/>
                <a:ea typeface="Raleway" pitchFamily="34" charset="-122"/>
                <a:cs typeface="Raleway" pitchFamily="34" charset="-120"/>
              </a:rPr>
              <a:t>Who should we hire?</a:t>
            </a:r>
            <a:endParaRPr lang="en-US" sz="1500" dirty="0"/>
          </a:p>
        </p:txBody>
      </p:sp>
      <p:sp>
        <p:nvSpPr>
          <p:cNvPr id="10" name="Shape 7"/>
          <p:cNvSpPr/>
          <p:nvPr/>
        </p:nvSpPr>
        <p:spPr>
          <a:xfrm>
            <a:off x="4408984" y="2480221"/>
            <a:ext cx="3373983" cy="3257500"/>
          </a:xfrm>
          <a:prstGeom prst="roundRect">
            <a:avLst>
              <a:gd name="adj" fmla="val 2924"/>
            </a:avLst>
          </a:prstGeom>
          <a:solidFill>
            <a:srgbClr val="1A1A1A"/>
          </a:solidFill>
          <a:ln w="12700">
            <a:solidFill>
              <a:srgbClr val="2B2B2B"/>
            </a:solidFill>
            <a:prstDash val="solid"/>
          </a:ln>
        </p:spPr>
      </p:sp>
      <p:sp>
        <p:nvSpPr>
          <p:cNvPr id="11" name="Text 8"/>
          <p:cNvSpPr/>
          <p:nvPr/>
        </p:nvSpPr>
        <p:spPr>
          <a:xfrm>
            <a:off x="4669334" y="2740571"/>
            <a:ext cx="2938882" cy="256530"/>
          </a:xfrm>
          <a:prstGeom prst="rect">
            <a:avLst/>
          </a:prstGeom>
          <a:noFill/>
          <a:ln/>
        </p:spPr>
        <p:txBody>
          <a:bodyPr wrap="square" lIns="0" tIns="0" rIns="0" bIns="0" rtlCol="0" anchor="t">
            <a:normAutofit/>
          </a:bodyPr>
          <a:lstStyle/>
          <a:p>
            <a:pPr algn="l" indent="0" marL="0">
              <a:lnSpc>
                <a:spcPts val="1820"/>
              </a:lnSpc>
              <a:buNone/>
            </a:pPr>
            <a:r>
              <a:rPr lang="en-US" sz="1300" spc="100" kern="0" dirty="0">
                <a:solidFill>
                  <a:srgbClr val="63E14F"/>
                </a:solidFill>
                <a:latin typeface="DM Mono" pitchFamily="49" charset="0"/>
                <a:ea typeface="DM Mono" pitchFamily="49" charset="-122"/>
                <a:cs typeface="DM Mono" pitchFamily="49" charset="-120"/>
              </a:rPr>
              <a:t>02 · TRAIN</a:t>
            </a:r>
            <a:endParaRPr lang="en-US" sz="1300" dirty="0"/>
          </a:p>
        </p:txBody>
      </p:sp>
      <p:sp>
        <p:nvSpPr>
          <p:cNvPr id="12" name="Text 9"/>
          <p:cNvSpPr/>
          <p:nvPr/>
        </p:nvSpPr>
        <p:spPr>
          <a:xfrm>
            <a:off x="4669334" y="3047901"/>
            <a:ext cx="2938882" cy="391120"/>
          </a:xfrm>
          <a:prstGeom prst="rect">
            <a:avLst/>
          </a:prstGeom>
          <a:noFill/>
          <a:ln/>
        </p:spPr>
        <p:txBody>
          <a:bodyPr wrap="square" lIns="0" tIns="0" rIns="0" bIns="0" rtlCol="0" anchor="t">
            <a:normAutofit/>
          </a:bodyPr>
          <a:lstStyle/>
          <a:p>
            <a:pPr algn="l" indent="0" marL="0">
              <a:lnSpc>
                <a:spcPts val="2880"/>
              </a:lnSpc>
              <a:buNone/>
            </a:pPr>
            <a:r>
              <a:rPr lang="en-US" sz="2400" b="1" dirty="0">
                <a:solidFill>
                  <a:srgbClr val="E9ECEF"/>
                </a:solidFill>
                <a:latin typeface="Host Grotesk" pitchFamily="34" charset="0"/>
                <a:ea typeface="Host Grotesk" pitchFamily="34" charset="-122"/>
                <a:cs typeface="Host Grotesk" pitchFamily="34" charset="-120"/>
              </a:rPr>
              <a:t>Five levels</a:t>
            </a:r>
            <a:endParaRPr lang="en-US" sz="2400" dirty="0"/>
          </a:p>
        </p:txBody>
      </p:sp>
      <p:pic>
        <p:nvPicPr>
          <p:cNvPr id="13" name="Image 1" descr="preencoded.png">    </p:cNvPr>
          <p:cNvPicPr>
            <a:picLocks noChangeAspect="1"/>
          </p:cNvPicPr>
          <p:nvPr/>
        </p:nvPicPr>
        <p:blipFill>
          <a:blip r:embed="rId2"/>
          <a:srcRect l="0" r="0" t="0" b="0"/>
          <a:stretch/>
        </p:blipFill>
        <p:spPr>
          <a:xfrm>
            <a:off x="4669334" y="3489821"/>
            <a:ext cx="1905000" cy="1397000"/>
          </a:xfrm>
          <a:prstGeom prst="rect">
            <a:avLst/>
          </a:prstGeom>
        </p:spPr>
      </p:pic>
      <p:sp>
        <p:nvSpPr>
          <p:cNvPr id="14" name="Text 10"/>
          <p:cNvSpPr/>
          <p:nvPr/>
        </p:nvSpPr>
        <p:spPr>
          <a:xfrm>
            <a:off x="4669334" y="4963021"/>
            <a:ext cx="2938882"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A3A8B0"/>
                </a:solidFill>
                <a:latin typeface="Raleway" pitchFamily="34" charset="0"/>
                <a:ea typeface="Raleway" pitchFamily="34" charset="-122"/>
                <a:cs typeface="Raleway" pitchFamily="34" charset="-120"/>
              </a:rPr>
              <a:t>What makes an interviewer great?</a:t>
            </a:r>
            <a:endParaRPr lang="en-US" sz="1500" dirty="0"/>
          </a:p>
        </p:txBody>
      </p:sp>
      <p:sp>
        <p:nvSpPr>
          <p:cNvPr id="15" name="Shape 11"/>
          <p:cNvSpPr/>
          <p:nvPr/>
        </p:nvSpPr>
        <p:spPr>
          <a:xfrm>
            <a:off x="7998867" y="2480221"/>
            <a:ext cx="3373983" cy="3257500"/>
          </a:xfrm>
          <a:prstGeom prst="roundRect">
            <a:avLst>
              <a:gd name="adj" fmla="val 2924"/>
            </a:avLst>
          </a:prstGeom>
          <a:solidFill>
            <a:srgbClr val="1A1A1A"/>
          </a:solidFill>
          <a:ln w="12700">
            <a:solidFill>
              <a:srgbClr val="2B2B2B"/>
            </a:solidFill>
            <a:prstDash val="solid"/>
          </a:ln>
        </p:spPr>
      </p:sp>
      <p:sp>
        <p:nvSpPr>
          <p:cNvPr id="16" name="Text 12"/>
          <p:cNvSpPr/>
          <p:nvPr/>
        </p:nvSpPr>
        <p:spPr>
          <a:xfrm>
            <a:off x="8259217" y="2740571"/>
            <a:ext cx="2938882" cy="256530"/>
          </a:xfrm>
          <a:prstGeom prst="rect">
            <a:avLst/>
          </a:prstGeom>
          <a:noFill/>
          <a:ln/>
        </p:spPr>
        <p:txBody>
          <a:bodyPr wrap="square" lIns="0" tIns="0" rIns="0" bIns="0" rtlCol="0" anchor="t">
            <a:normAutofit/>
          </a:bodyPr>
          <a:lstStyle/>
          <a:p>
            <a:pPr algn="l" indent="0" marL="0">
              <a:lnSpc>
                <a:spcPts val="1820"/>
              </a:lnSpc>
              <a:buNone/>
            </a:pPr>
            <a:r>
              <a:rPr lang="en-US" sz="1300" spc="100" kern="0" dirty="0">
                <a:solidFill>
                  <a:srgbClr val="63E14F"/>
                </a:solidFill>
                <a:latin typeface="DM Mono" pitchFamily="49" charset="0"/>
                <a:ea typeface="DM Mono" pitchFamily="49" charset="-122"/>
                <a:cs typeface="DM Mono" pitchFamily="49" charset="-120"/>
              </a:rPr>
              <a:t>03 · BUILD</a:t>
            </a:r>
            <a:endParaRPr lang="en-US" sz="1300" dirty="0"/>
          </a:p>
        </p:txBody>
      </p:sp>
      <p:sp>
        <p:nvSpPr>
          <p:cNvPr id="17" name="Text 13"/>
          <p:cNvSpPr/>
          <p:nvPr/>
        </p:nvSpPr>
        <p:spPr>
          <a:xfrm>
            <a:off x="8259217" y="3047901"/>
            <a:ext cx="2938882" cy="391120"/>
          </a:xfrm>
          <a:prstGeom prst="rect">
            <a:avLst/>
          </a:prstGeom>
          <a:noFill/>
          <a:ln/>
        </p:spPr>
        <p:txBody>
          <a:bodyPr wrap="square" lIns="0" tIns="0" rIns="0" bIns="0" rtlCol="0" anchor="t">
            <a:normAutofit/>
          </a:bodyPr>
          <a:lstStyle/>
          <a:p>
            <a:pPr algn="l" indent="0" marL="0">
              <a:lnSpc>
                <a:spcPts val="2880"/>
              </a:lnSpc>
              <a:buNone/>
            </a:pPr>
            <a:r>
              <a:rPr lang="en-US" sz="2400" b="1" dirty="0">
                <a:solidFill>
                  <a:srgbClr val="E9ECEF"/>
                </a:solidFill>
                <a:latin typeface="Host Grotesk" pitchFamily="34" charset="0"/>
                <a:ea typeface="Host Grotesk" pitchFamily="34" charset="-122"/>
                <a:cs typeface="Host Grotesk" pitchFamily="34" charset="-120"/>
              </a:rPr>
              <a:t>3-stage process</a:t>
            </a:r>
            <a:endParaRPr lang="en-US" sz="2400" dirty="0"/>
          </a:p>
        </p:txBody>
      </p:sp>
      <p:pic>
        <p:nvPicPr>
          <p:cNvPr id="18" name="Image 2" descr="preencoded.png">    </p:cNvPr>
          <p:cNvPicPr>
            <a:picLocks noChangeAspect="1"/>
          </p:cNvPicPr>
          <p:nvPr/>
        </p:nvPicPr>
        <p:blipFill>
          <a:blip r:embed="rId3"/>
          <a:srcRect l="0" r="0" t="0" b="0"/>
          <a:stretch/>
        </p:blipFill>
        <p:spPr>
          <a:xfrm>
            <a:off x="8259217" y="3489821"/>
            <a:ext cx="1905000" cy="1397000"/>
          </a:xfrm>
          <a:prstGeom prst="rect">
            <a:avLst/>
          </a:prstGeom>
        </p:spPr>
      </p:pic>
      <p:sp>
        <p:nvSpPr>
          <p:cNvPr id="19" name="Text 14"/>
          <p:cNvSpPr/>
          <p:nvPr/>
        </p:nvSpPr>
        <p:spPr>
          <a:xfrm>
            <a:off x="8259217" y="4963021"/>
            <a:ext cx="2938882"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A3A8B0"/>
                </a:solidFill>
                <a:latin typeface="Raleway" pitchFamily="34" charset="0"/>
                <a:ea typeface="Raleway" pitchFamily="34" charset="-122"/>
                <a:cs typeface="Raleway" pitchFamily="34" charset="-120"/>
              </a:rPr>
              <a:t>How do we run it?</a:t>
            </a:r>
            <a:endParaRPr lang="en-US" sz="1500" dirty="0"/>
          </a:p>
        </p:txBody>
      </p:sp>
      <p:pic>
        <p:nvPicPr>
          <p:cNvPr id="20" name="Image 3" descr="Mashgin">    </p:cNvPr>
          <p:cNvPicPr>
            <a:picLocks noChangeAspect="1"/>
          </p:cNvPicPr>
          <p:nvPr/>
        </p:nvPicPr>
        <p:blipFill>
          <a:blip r:embed="rId4"/>
          <a:srcRect l="-284" r="-284" t="0" b="0"/>
          <a:stretch/>
        </p:blipFill>
        <p:spPr>
          <a:xfrm>
            <a:off x="10121900" y="406400"/>
            <a:ext cx="1460500" cy="298450"/>
          </a:xfrm>
          <a:prstGeom prst="rect">
            <a:avLst/>
          </a:prstGeom>
        </p:spPr>
      </p:pic>
      <p:sp>
        <p:nvSpPr>
          <p:cNvPr id="21" name="Text 15"/>
          <p:cNvSpPr/>
          <p:nvPr/>
        </p:nvSpPr>
        <p:spPr>
          <a:xfrm>
            <a:off x="812800" y="62382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097"/>
                </a:solidFill>
                <a:latin typeface="DM Mono" pitchFamily="49" charset="0"/>
                <a:ea typeface="DM Mono" pitchFamily="49" charset="-122"/>
                <a:cs typeface="DM Mono" pitchFamily="49" charset="-120"/>
              </a:rPr>
              <a:t>Copyright Dobromir Montauk, 2026</a:t>
            </a:r>
            <a:endParaRPr lang="en-US" sz="1200" dirty="0"/>
          </a:p>
        </p:txBody>
      </p:sp>
      <p:sp>
        <p:nvSpPr>
          <p:cNvPr id="22" name="Text 16"/>
          <p:cNvSpPr/>
          <p:nvPr/>
        </p:nvSpPr>
        <p:spPr>
          <a:xfrm>
            <a:off x="10261600" y="6169670"/>
            <a:ext cx="1320800" cy="345430"/>
          </a:xfrm>
          <a:prstGeom prst="rect">
            <a:avLst/>
          </a:prstGeom>
          <a:noFill/>
          <a:ln/>
        </p:spPr>
        <p:txBody>
          <a:bodyPr wrap="square" lIns="0" tIns="0" rIns="0" bIns="0" rtlCol="0" anchor="t">
            <a:normAutofit/>
          </a:bodyPr>
          <a:lstStyle/>
          <a:p>
            <a:pPr algn="r" indent="0" marL="0">
              <a:lnSpc>
                <a:spcPts val="2520"/>
              </a:lnSpc>
              <a:buNone/>
            </a:pPr>
            <a:r>
              <a:rPr lang="en-US" sz="1800" dirty="0">
                <a:solidFill>
                  <a:srgbClr val="63E14F"/>
                </a:solidFill>
                <a:latin typeface="DM Mono" pitchFamily="49" charset="0"/>
                <a:ea typeface="DM Mono" pitchFamily="49" charset="-122"/>
                <a:cs typeface="DM Mono" pitchFamily="49" charset="-120"/>
              </a:rPr>
              <a:t>[ 2 ]</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60607"/>
        </a:solidFill>
      </p:bgPr>
    </p:bg>
    <p:spTree>
      <p:nvGrpSpPr>
        <p:cNvPr id="1" name=""/>
        <p:cNvGrpSpPr/>
        <p:nvPr/>
      </p:nvGrpSpPr>
      <p:grpSpPr>
        <a:xfrm>
          <a:off x="0" y="0"/>
          <a:ext cx="0" cy="0"/>
          <a:chOff x="0" y="0"/>
          <a:chExt cx="0" cy="0"/>
        </a:xfrm>
      </p:grpSpPr>
      <p:sp>
        <p:nvSpPr>
          <p:cNvPr id="2" name="Shape 0"/>
          <p:cNvSpPr/>
          <p:nvPr/>
        </p:nvSpPr>
        <p:spPr>
          <a:xfrm>
            <a:off x="254000" y="0"/>
            <a:ext cx="25400" cy="6858000"/>
          </a:xfrm>
          <a:prstGeom prst="rect">
            <a:avLst/>
          </a:prstGeom>
          <a:gradFill rotWithShape="1">
            <a:gsLst>
              <a:gs pos="0">
                <a:srgbClr val="FF832A"/>
              </a:gs>
              <a:gs pos="35000">
                <a:srgbClr val="FF832A"/>
              </a:gs>
              <a:gs pos="75000">
                <a:srgbClr val="63E14F"/>
              </a:gs>
              <a:gs pos="100000">
                <a:srgbClr val="63E14F"/>
              </a:gs>
            </a:gsLst>
            <a:lin ang="5400000" scaled="0"/>
          </a:gradFill>
          <a:ln/>
        </p:spPr>
      </p:sp>
      <p:sp>
        <p:nvSpPr>
          <p:cNvPr id="3" name="Text 1"/>
          <p:cNvSpPr/>
          <p:nvPr/>
        </p:nvSpPr>
        <p:spPr>
          <a:xfrm>
            <a:off x="812800" y="7112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spc="100" kern="0" dirty="0">
                <a:solidFill>
                  <a:srgbClr val="63E14F"/>
                </a:solidFill>
                <a:latin typeface="DM Mono" pitchFamily="49" charset="0"/>
                <a:ea typeface="DM Mono" pitchFamily="49" charset="-122"/>
                <a:cs typeface="DM Mono" pitchFamily="49" charset="-120"/>
              </a:rPr>
              <a:t>[ WHAT IS HIRING? ]</a:t>
            </a:r>
            <a:endParaRPr lang="en-US" sz="1400" dirty="0"/>
          </a:p>
        </p:txBody>
      </p:sp>
      <p:sp>
        <p:nvSpPr>
          <p:cNvPr id="4" name="Text 2"/>
          <p:cNvSpPr/>
          <p:nvPr>
            <p:ph type="title"/>
          </p:nvPr>
        </p:nvSpPr>
        <p:spPr>
          <a:xfrm>
            <a:off x="812800" y="121409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4F5F7"/>
                </a:solidFill>
                <a:latin typeface="Host Grotesk" pitchFamily="34" charset="0"/>
                <a:ea typeface="Host Grotesk" pitchFamily="34" charset="-122"/>
                <a:cs typeface="Host Grotesk" pitchFamily="34" charset="-120"/>
              </a:rPr>
              <a:t>Hiring is a </a:t>
            </a:r>
            <a:r>
              <a:rPr lang="en-US" sz="3600" b="1" i="0" dirty="0">
                <a:solidFill>
                  <a:srgbClr val="63E14F"/>
                </a:solidFill>
                <a:latin typeface="Host Grotesk" pitchFamily="34" charset="0"/>
                <a:ea typeface="Host Grotesk" pitchFamily="34" charset="-122"/>
                <a:cs typeface="Host Grotesk" pitchFamily="34" charset="-120"/>
              </a:rPr>
              <a:t>sales funnel.</a:t>
            </a:r>
            <a:endParaRPr lang="en-US" sz="3600" dirty="0"/>
          </a:p>
        </p:txBody>
      </p:sp>
      <p:sp>
        <p:nvSpPr>
          <p:cNvPr id="5" name="Text 3"/>
          <p:cNvSpPr/>
          <p:nvPr/>
        </p:nvSpPr>
        <p:spPr>
          <a:xfrm>
            <a:off x="819150" y="1977330"/>
            <a:ext cx="5702300" cy="515590"/>
          </a:xfrm>
          <a:prstGeom prst="roundRect">
            <a:avLst>
              <a:gd name="adj" fmla="val 18474"/>
            </a:avLst>
          </a:prstGeom>
          <a:solidFill>
            <a:srgbClr val="1A1A1A"/>
          </a:solidFill>
          <a:ln w="12700">
            <a:solidFill>
              <a:srgbClr val="2B2B2B"/>
            </a:solidFill>
            <a:prstDash val="solid"/>
          </a:ln>
        </p:spPr>
        <p:txBody>
          <a:bodyPr wrap="square" lIns="23918" tIns="105452" rIns="23918" bIns="80052" rtlCol="0" anchor="t">
            <a:normAutofit/>
          </a:bodyPr>
          <a:lstStyle/>
          <a:p>
            <a:pPr algn="ctr" indent="0" marL="0">
              <a:lnSpc>
                <a:spcPts val="1960"/>
              </a:lnSpc>
              <a:buNone/>
            </a:pPr>
            <a:r>
              <a:rPr lang="en-US" sz="1400" spc="100" kern="0" dirty="0">
                <a:solidFill>
                  <a:srgbClr val="E9ECEF"/>
                </a:solidFill>
                <a:latin typeface="DM Mono" pitchFamily="49" charset="0"/>
                <a:ea typeface="DM Mono" pitchFamily="49" charset="-122"/>
                <a:cs typeface="DM Mono" pitchFamily="49" charset="-120"/>
              </a:rPr>
              <a:t>SOURCE</a:t>
            </a:r>
            <a:endParaRPr lang="en-US" sz="1400" dirty="0"/>
          </a:p>
        </p:txBody>
      </p:sp>
      <p:sp>
        <p:nvSpPr>
          <p:cNvPr id="6" name="Text 4"/>
          <p:cNvSpPr/>
          <p:nvPr/>
        </p:nvSpPr>
        <p:spPr>
          <a:xfrm>
            <a:off x="1263650" y="2619921"/>
            <a:ext cx="4813300" cy="515590"/>
          </a:xfrm>
          <a:prstGeom prst="roundRect">
            <a:avLst>
              <a:gd name="adj" fmla="val 18474"/>
            </a:avLst>
          </a:prstGeom>
          <a:solidFill>
            <a:srgbClr val="1A1A1A"/>
          </a:solidFill>
          <a:ln w="12700">
            <a:solidFill>
              <a:srgbClr val="2B2B2B"/>
            </a:solidFill>
            <a:prstDash val="solid"/>
          </a:ln>
        </p:spPr>
        <p:txBody>
          <a:bodyPr wrap="square" lIns="37253" tIns="105452" rIns="37253" bIns="80052" rtlCol="0" anchor="t">
            <a:normAutofit/>
          </a:bodyPr>
          <a:lstStyle/>
          <a:p>
            <a:pPr algn="ctr" indent="0" marL="0">
              <a:lnSpc>
                <a:spcPts val="1960"/>
              </a:lnSpc>
              <a:buNone/>
            </a:pPr>
            <a:r>
              <a:rPr lang="en-US" sz="1400" spc="100" kern="0" dirty="0">
                <a:solidFill>
                  <a:srgbClr val="E9ECEF"/>
                </a:solidFill>
                <a:latin typeface="DM Mono" pitchFamily="49" charset="0"/>
                <a:ea typeface="DM Mono" pitchFamily="49" charset="-122"/>
                <a:cs typeface="DM Mono" pitchFamily="49" charset="-120"/>
              </a:rPr>
              <a:t>SCREEN</a:t>
            </a:r>
            <a:endParaRPr lang="en-US" sz="1400" dirty="0"/>
          </a:p>
        </p:txBody>
      </p:sp>
      <p:sp>
        <p:nvSpPr>
          <p:cNvPr id="7" name="Text 5"/>
          <p:cNvSpPr/>
          <p:nvPr/>
        </p:nvSpPr>
        <p:spPr>
          <a:xfrm>
            <a:off x="1708150" y="3262511"/>
            <a:ext cx="3924300" cy="515590"/>
          </a:xfrm>
          <a:prstGeom prst="roundRect">
            <a:avLst>
              <a:gd name="adj" fmla="val 18474"/>
            </a:avLst>
          </a:prstGeom>
          <a:solidFill>
            <a:srgbClr val="1A1A1A"/>
          </a:solidFill>
          <a:ln w="12700">
            <a:solidFill>
              <a:srgbClr val="2B2B2B"/>
            </a:solidFill>
            <a:prstDash val="solid"/>
          </a:ln>
        </p:spPr>
        <p:txBody>
          <a:bodyPr wrap="square" lIns="50588" tIns="105452" rIns="50588" bIns="80052" rtlCol="0" anchor="t">
            <a:normAutofit/>
          </a:bodyPr>
          <a:lstStyle/>
          <a:p>
            <a:pPr algn="ctr" indent="0" marL="0">
              <a:lnSpc>
                <a:spcPts val="1960"/>
              </a:lnSpc>
              <a:buNone/>
            </a:pPr>
            <a:r>
              <a:rPr lang="en-US" sz="1400" spc="100" kern="0" dirty="0">
                <a:solidFill>
                  <a:srgbClr val="E9ECEF"/>
                </a:solidFill>
                <a:latin typeface="DM Mono" pitchFamily="49" charset="0"/>
                <a:ea typeface="DM Mono" pitchFamily="49" charset="-122"/>
                <a:cs typeface="DM Mono" pitchFamily="49" charset="-120"/>
              </a:rPr>
              <a:t>ONSITE</a:t>
            </a:r>
            <a:endParaRPr lang="en-US" sz="1400" dirty="0"/>
          </a:p>
        </p:txBody>
      </p:sp>
      <p:sp>
        <p:nvSpPr>
          <p:cNvPr id="8" name="Text 6"/>
          <p:cNvSpPr/>
          <p:nvPr/>
        </p:nvSpPr>
        <p:spPr>
          <a:xfrm>
            <a:off x="2152650" y="3905101"/>
            <a:ext cx="3035300" cy="515590"/>
          </a:xfrm>
          <a:prstGeom prst="roundRect">
            <a:avLst>
              <a:gd name="adj" fmla="val 18474"/>
            </a:avLst>
          </a:prstGeom>
          <a:solidFill>
            <a:srgbClr val="1A1A1A"/>
          </a:solidFill>
          <a:ln w="12700">
            <a:solidFill>
              <a:srgbClr val="2B2B2B"/>
            </a:solidFill>
            <a:prstDash val="solid"/>
          </a:ln>
        </p:spPr>
        <p:txBody>
          <a:bodyPr wrap="square" lIns="63923" tIns="105452" rIns="63923" bIns="80052" rtlCol="0" anchor="t">
            <a:normAutofit/>
          </a:bodyPr>
          <a:lstStyle/>
          <a:p>
            <a:pPr algn="ctr" indent="0" marL="0">
              <a:lnSpc>
                <a:spcPts val="1960"/>
              </a:lnSpc>
              <a:buNone/>
            </a:pPr>
            <a:r>
              <a:rPr lang="en-US" sz="1400" spc="100" kern="0" dirty="0">
                <a:solidFill>
                  <a:srgbClr val="E9ECEF"/>
                </a:solidFill>
                <a:latin typeface="DM Mono" pitchFamily="49" charset="0"/>
                <a:ea typeface="DM Mono" pitchFamily="49" charset="-122"/>
                <a:cs typeface="DM Mono" pitchFamily="49" charset="-120"/>
              </a:rPr>
              <a:t>OFFER</a:t>
            </a:r>
            <a:endParaRPr lang="en-US" sz="1400" dirty="0"/>
          </a:p>
        </p:txBody>
      </p:sp>
      <p:sp>
        <p:nvSpPr>
          <p:cNvPr id="9" name="Text 7"/>
          <p:cNvSpPr/>
          <p:nvPr/>
        </p:nvSpPr>
        <p:spPr>
          <a:xfrm>
            <a:off x="2597150" y="4547691"/>
            <a:ext cx="2146300" cy="515590"/>
          </a:xfrm>
          <a:prstGeom prst="roundRect">
            <a:avLst>
              <a:gd name="adj" fmla="val 18474"/>
            </a:avLst>
          </a:prstGeom>
          <a:solidFill>
            <a:srgbClr val="1A1A1A"/>
          </a:solidFill>
          <a:ln w="12700">
            <a:solidFill>
              <a:srgbClr val="63E14F"/>
            </a:solidFill>
            <a:prstDash val="solid"/>
          </a:ln>
        </p:spPr>
        <p:txBody>
          <a:bodyPr wrap="square" lIns="77258" tIns="105452" rIns="77258" bIns="80052" rtlCol="0" anchor="t">
            <a:normAutofit/>
          </a:bodyPr>
          <a:lstStyle/>
          <a:p>
            <a:pPr algn="ctr" indent="0" marL="0">
              <a:lnSpc>
                <a:spcPts val="1960"/>
              </a:lnSpc>
              <a:buNone/>
            </a:pPr>
            <a:r>
              <a:rPr lang="en-US" sz="1400" spc="100" kern="0" dirty="0">
                <a:solidFill>
                  <a:srgbClr val="63E14F"/>
                </a:solidFill>
                <a:latin typeface="DM Mono" pitchFamily="49" charset="0"/>
                <a:ea typeface="DM Mono" pitchFamily="49" charset="-122"/>
                <a:cs typeface="DM Mono" pitchFamily="49" charset="-120"/>
              </a:rPr>
              <a:t>ACCEPT</a:t>
            </a:r>
            <a:endParaRPr lang="en-US" sz="1400" dirty="0"/>
          </a:p>
        </p:txBody>
      </p:sp>
      <p:sp>
        <p:nvSpPr>
          <p:cNvPr id="10" name="Text 8"/>
          <p:cNvSpPr/>
          <p:nvPr/>
        </p:nvSpPr>
        <p:spPr>
          <a:xfrm>
            <a:off x="7137400" y="3101181"/>
            <a:ext cx="4369054" cy="368300"/>
          </a:xfrm>
          <a:prstGeom prst="rect">
            <a:avLst/>
          </a:prstGeom>
          <a:noFill/>
          <a:ln/>
        </p:spPr>
        <p:txBody>
          <a:bodyPr wrap="square" lIns="0" tIns="0" rIns="0" bIns="0" rtlCol="0" anchor="t">
            <a:normAutofit/>
          </a:bodyPr>
          <a:lstStyle/>
          <a:p>
            <a:pPr algn="l" indent="0" marL="0">
              <a:lnSpc>
                <a:spcPts val="2700"/>
              </a:lnSpc>
              <a:buNone/>
            </a:pPr>
            <a:r>
              <a:rPr lang="en-US" sz="2000" dirty="0">
                <a:solidFill>
                  <a:srgbClr val="E9ECEF"/>
                </a:solidFill>
                <a:latin typeface="Raleway" pitchFamily="34" charset="0"/>
                <a:ea typeface="Raleway" pitchFamily="34" charset="-122"/>
                <a:cs typeface="Raleway" pitchFamily="34" charset="-120"/>
              </a:rPr>
              <a:t>Every stage converts…</a:t>
            </a:r>
            <a:endParaRPr lang="en-US" sz="2000" dirty="0"/>
          </a:p>
        </p:txBody>
      </p:sp>
      <p:sp>
        <p:nvSpPr>
          <p:cNvPr id="11" name="Text 9"/>
          <p:cNvSpPr/>
          <p:nvPr/>
        </p:nvSpPr>
        <p:spPr>
          <a:xfrm>
            <a:off x="7137400" y="3596481"/>
            <a:ext cx="4369054" cy="368300"/>
          </a:xfrm>
          <a:prstGeom prst="rect">
            <a:avLst/>
          </a:prstGeom>
          <a:noFill/>
          <a:ln/>
        </p:spPr>
        <p:txBody>
          <a:bodyPr wrap="square" lIns="0" tIns="0" rIns="0" bIns="0" rtlCol="0" anchor="t">
            <a:normAutofit/>
          </a:bodyPr>
          <a:lstStyle/>
          <a:p>
            <a:pPr algn="l" indent="0" marL="0">
              <a:lnSpc>
                <a:spcPts val="2700"/>
              </a:lnSpc>
              <a:buNone/>
            </a:pPr>
            <a:r>
              <a:rPr lang="en-US" sz="2000" dirty="0">
                <a:solidFill>
                  <a:srgbClr val="FF832A"/>
                </a:solidFill>
                <a:latin typeface="Raleway" pitchFamily="34" charset="0"/>
                <a:ea typeface="Raleway" pitchFamily="34" charset="-122"/>
                <a:cs typeface="Raleway" pitchFamily="34" charset="-120"/>
              </a:rPr>
              <a:t>…or leaks.</a:t>
            </a:r>
            <a:endParaRPr lang="en-US" sz="2000" dirty="0"/>
          </a:p>
        </p:txBody>
      </p:sp>
      <p:pic>
        <p:nvPicPr>
          <p:cNvPr id="12" name="Image 0" descr="Mashgin">    </p:cNvPr>
          <p:cNvPicPr>
            <a:picLocks noChangeAspect="1"/>
          </p:cNvPicPr>
          <p:nvPr/>
        </p:nvPicPr>
        <p:blipFill>
          <a:blip r:embed="rId1"/>
          <a:srcRect l="-284" r="-284" t="0" b="0"/>
          <a:stretch/>
        </p:blipFill>
        <p:spPr>
          <a:xfrm>
            <a:off x="10121900" y="406400"/>
            <a:ext cx="1460500" cy="298450"/>
          </a:xfrm>
          <a:prstGeom prst="rect">
            <a:avLst/>
          </a:prstGeom>
        </p:spPr>
      </p:pic>
      <p:sp>
        <p:nvSpPr>
          <p:cNvPr id="13" name="Text 10"/>
          <p:cNvSpPr/>
          <p:nvPr/>
        </p:nvSpPr>
        <p:spPr>
          <a:xfrm>
            <a:off x="812800" y="62382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097"/>
                </a:solidFill>
                <a:latin typeface="DM Mono" pitchFamily="49" charset="0"/>
                <a:ea typeface="DM Mono" pitchFamily="49" charset="-122"/>
                <a:cs typeface="DM Mono" pitchFamily="49" charset="-120"/>
              </a:rPr>
              <a:t>Copyright Dobromir Montauk, 2026</a:t>
            </a:r>
            <a:endParaRPr lang="en-US" sz="1200" dirty="0"/>
          </a:p>
        </p:txBody>
      </p:sp>
      <p:sp>
        <p:nvSpPr>
          <p:cNvPr id="14" name="Text 11"/>
          <p:cNvSpPr/>
          <p:nvPr/>
        </p:nvSpPr>
        <p:spPr>
          <a:xfrm>
            <a:off x="10261600" y="6169670"/>
            <a:ext cx="1320800" cy="345430"/>
          </a:xfrm>
          <a:prstGeom prst="rect">
            <a:avLst/>
          </a:prstGeom>
          <a:noFill/>
          <a:ln/>
        </p:spPr>
        <p:txBody>
          <a:bodyPr wrap="square" lIns="0" tIns="0" rIns="0" bIns="0" rtlCol="0" anchor="t">
            <a:normAutofit/>
          </a:bodyPr>
          <a:lstStyle/>
          <a:p>
            <a:pPr algn="r" indent="0" marL="0">
              <a:lnSpc>
                <a:spcPts val="2520"/>
              </a:lnSpc>
              <a:buNone/>
            </a:pPr>
            <a:r>
              <a:rPr lang="en-US" sz="1800" dirty="0">
                <a:solidFill>
                  <a:srgbClr val="63E14F"/>
                </a:solidFill>
                <a:latin typeface="DM Mono" pitchFamily="49" charset="0"/>
                <a:ea typeface="DM Mono" pitchFamily="49" charset="-122"/>
                <a:cs typeface="DM Mono" pitchFamily="49" charset="-120"/>
              </a:rPr>
              <a:t>[ 3 ]</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60607"/>
        </a:solidFill>
      </p:bgPr>
    </p:bg>
    <p:spTree>
      <p:nvGrpSpPr>
        <p:cNvPr id="1" name=""/>
        <p:cNvGrpSpPr/>
        <p:nvPr/>
      </p:nvGrpSpPr>
      <p:grpSpPr>
        <a:xfrm>
          <a:off x="0" y="0"/>
          <a:ext cx="0" cy="0"/>
          <a:chOff x="0" y="0"/>
          <a:chExt cx="0" cy="0"/>
        </a:xfrm>
      </p:grpSpPr>
      <p:sp>
        <p:nvSpPr>
          <p:cNvPr id="2" name="Shape 0"/>
          <p:cNvSpPr/>
          <p:nvPr/>
        </p:nvSpPr>
        <p:spPr>
          <a:xfrm>
            <a:off x="254000" y="0"/>
            <a:ext cx="25400" cy="6858000"/>
          </a:xfrm>
          <a:prstGeom prst="rect">
            <a:avLst/>
          </a:prstGeom>
          <a:gradFill rotWithShape="1">
            <a:gsLst>
              <a:gs pos="0">
                <a:srgbClr val="FF832A"/>
              </a:gs>
              <a:gs pos="35000">
                <a:srgbClr val="FF832A"/>
              </a:gs>
              <a:gs pos="75000">
                <a:srgbClr val="63E14F"/>
              </a:gs>
              <a:gs pos="100000">
                <a:srgbClr val="63E14F"/>
              </a:gs>
            </a:gsLst>
            <a:lin ang="5400000" scaled="0"/>
          </a:gradFill>
          <a:ln/>
        </p:spPr>
      </p:sp>
      <p:sp>
        <p:nvSpPr>
          <p:cNvPr id="3" name="Text 1"/>
          <p:cNvSpPr/>
          <p:nvPr/>
        </p:nvSpPr>
        <p:spPr>
          <a:xfrm>
            <a:off x="812800" y="7112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spc="100" kern="0" dirty="0">
                <a:solidFill>
                  <a:srgbClr val="63E14F"/>
                </a:solidFill>
                <a:latin typeface="DM Mono" pitchFamily="49" charset="0"/>
                <a:ea typeface="DM Mono" pitchFamily="49" charset="-122"/>
                <a:cs typeface="DM Mono" pitchFamily="49" charset="-120"/>
              </a:rPr>
              <a:t>[ WHAT IS HIRING? ]</a:t>
            </a:r>
            <a:endParaRPr lang="en-US" sz="1400" dirty="0"/>
          </a:p>
        </p:txBody>
      </p:sp>
      <p:sp>
        <p:nvSpPr>
          <p:cNvPr id="4" name="Text 2"/>
          <p:cNvSpPr/>
          <p:nvPr>
            <p:ph type="title"/>
          </p:nvPr>
        </p:nvSpPr>
        <p:spPr>
          <a:xfrm>
            <a:off x="812800" y="121409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4F5F7"/>
                </a:solidFill>
                <a:latin typeface="Host Grotesk" pitchFamily="34" charset="0"/>
                <a:ea typeface="Host Grotesk" pitchFamily="34" charset="-122"/>
                <a:cs typeface="Host Grotesk" pitchFamily="34" charset="-120"/>
              </a:rPr>
              <a:t>…but nobody moves through it </a:t>
            </a:r>
            <a:r>
              <a:rPr lang="en-US" sz="3600" b="1" i="0" dirty="0">
                <a:solidFill>
                  <a:srgbClr val="63E14F"/>
                </a:solidFill>
                <a:latin typeface="Host Grotesk" pitchFamily="34" charset="0"/>
                <a:ea typeface="Host Grotesk" pitchFamily="34" charset="-122"/>
                <a:cs typeface="Host Grotesk" pitchFamily="34" charset="-120"/>
              </a:rPr>
              <a:t>in a line.</a:t>
            </a:r>
            <a:endParaRPr lang="en-US" sz="3600" dirty="0"/>
          </a:p>
        </p:txBody>
      </p:sp>
      <p:sp>
        <p:nvSpPr>
          <p:cNvPr id="5" name="Text 3"/>
          <p:cNvSpPr/>
          <p:nvPr/>
        </p:nvSpPr>
        <p:spPr>
          <a:xfrm>
            <a:off x="819150" y="2358330"/>
            <a:ext cx="5702300" cy="515590"/>
          </a:xfrm>
          <a:prstGeom prst="roundRect">
            <a:avLst>
              <a:gd name="adj" fmla="val 18474"/>
            </a:avLst>
          </a:prstGeom>
          <a:solidFill>
            <a:srgbClr val="1A1A1A"/>
          </a:solidFill>
          <a:ln w="12700">
            <a:solidFill>
              <a:srgbClr val="2B2B2B"/>
            </a:solidFill>
            <a:prstDash val="solid"/>
          </a:ln>
        </p:spPr>
        <p:txBody>
          <a:bodyPr wrap="square" lIns="23918" tIns="105452" rIns="23918" bIns="80052" rtlCol="0" anchor="t">
            <a:normAutofit/>
          </a:bodyPr>
          <a:lstStyle/>
          <a:p>
            <a:pPr algn="ctr" indent="0" marL="0">
              <a:lnSpc>
                <a:spcPts val="1960"/>
              </a:lnSpc>
              <a:buNone/>
            </a:pPr>
            <a:r>
              <a:rPr lang="en-US" sz="1400" spc="100" kern="0" dirty="0">
                <a:solidFill>
                  <a:srgbClr val="8B9097"/>
                </a:solidFill>
                <a:latin typeface="DM Mono" pitchFamily="49" charset="0"/>
                <a:ea typeface="DM Mono" pitchFamily="49" charset="-122"/>
                <a:cs typeface="DM Mono" pitchFamily="49" charset="-120"/>
              </a:rPr>
              <a:t>SOURCE</a:t>
            </a:r>
            <a:endParaRPr lang="en-US" sz="1400" dirty="0"/>
          </a:p>
        </p:txBody>
      </p:sp>
      <p:sp>
        <p:nvSpPr>
          <p:cNvPr id="6" name="Text 4"/>
          <p:cNvSpPr/>
          <p:nvPr/>
        </p:nvSpPr>
        <p:spPr>
          <a:xfrm>
            <a:off x="1263650" y="3000921"/>
            <a:ext cx="4813300" cy="515590"/>
          </a:xfrm>
          <a:prstGeom prst="roundRect">
            <a:avLst>
              <a:gd name="adj" fmla="val 18474"/>
            </a:avLst>
          </a:prstGeom>
          <a:solidFill>
            <a:srgbClr val="1A1A1A"/>
          </a:solidFill>
          <a:ln w="12700">
            <a:solidFill>
              <a:srgbClr val="2B2B2B"/>
            </a:solidFill>
            <a:prstDash val="solid"/>
          </a:ln>
        </p:spPr>
        <p:txBody>
          <a:bodyPr wrap="square" lIns="37253" tIns="105452" rIns="37253" bIns="80052" rtlCol="0" anchor="t">
            <a:normAutofit/>
          </a:bodyPr>
          <a:lstStyle/>
          <a:p>
            <a:pPr algn="ctr" indent="0" marL="0">
              <a:lnSpc>
                <a:spcPts val="1960"/>
              </a:lnSpc>
              <a:buNone/>
            </a:pPr>
            <a:r>
              <a:rPr lang="en-US" sz="1400" spc="100" kern="0" dirty="0">
                <a:solidFill>
                  <a:srgbClr val="8B9097"/>
                </a:solidFill>
                <a:latin typeface="DM Mono" pitchFamily="49" charset="0"/>
                <a:ea typeface="DM Mono" pitchFamily="49" charset="-122"/>
                <a:cs typeface="DM Mono" pitchFamily="49" charset="-120"/>
              </a:rPr>
              <a:t>SCREEN</a:t>
            </a:r>
            <a:endParaRPr lang="en-US" sz="1400" dirty="0"/>
          </a:p>
        </p:txBody>
      </p:sp>
      <p:sp>
        <p:nvSpPr>
          <p:cNvPr id="7" name="Text 5"/>
          <p:cNvSpPr/>
          <p:nvPr/>
        </p:nvSpPr>
        <p:spPr>
          <a:xfrm>
            <a:off x="1708150" y="3643511"/>
            <a:ext cx="3924300" cy="515590"/>
          </a:xfrm>
          <a:prstGeom prst="roundRect">
            <a:avLst>
              <a:gd name="adj" fmla="val 18474"/>
            </a:avLst>
          </a:prstGeom>
          <a:solidFill>
            <a:srgbClr val="1A1A1A"/>
          </a:solidFill>
          <a:ln w="12700">
            <a:solidFill>
              <a:srgbClr val="2B2B2B"/>
            </a:solidFill>
            <a:prstDash val="solid"/>
          </a:ln>
        </p:spPr>
        <p:txBody>
          <a:bodyPr wrap="square" lIns="50588" tIns="105452" rIns="50588" bIns="80052" rtlCol="0" anchor="t">
            <a:normAutofit/>
          </a:bodyPr>
          <a:lstStyle/>
          <a:p>
            <a:pPr algn="ctr" indent="0" marL="0">
              <a:lnSpc>
                <a:spcPts val="1960"/>
              </a:lnSpc>
              <a:buNone/>
            </a:pPr>
            <a:r>
              <a:rPr lang="en-US" sz="1400" spc="100" kern="0" dirty="0">
                <a:solidFill>
                  <a:srgbClr val="8B9097"/>
                </a:solidFill>
                <a:latin typeface="DM Mono" pitchFamily="49" charset="0"/>
                <a:ea typeface="DM Mono" pitchFamily="49" charset="-122"/>
                <a:cs typeface="DM Mono" pitchFamily="49" charset="-120"/>
              </a:rPr>
              <a:t>ONSITE</a:t>
            </a:r>
            <a:endParaRPr lang="en-US" sz="1400" dirty="0"/>
          </a:p>
        </p:txBody>
      </p:sp>
      <p:sp>
        <p:nvSpPr>
          <p:cNvPr id="8" name="Text 6"/>
          <p:cNvSpPr/>
          <p:nvPr/>
        </p:nvSpPr>
        <p:spPr>
          <a:xfrm>
            <a:off x="2152650" y="4286101"/>
            <a:ext cx="3035300" cy="515590"/>
          </a:xfrm>
          <a:prstGeom prst="roundRect">
            <a:avLst>
              <a:gd name="adj" fmla="val 18474"/>
            </a:avLst>
          </a:prstGeom>
          <a:solidFill>
            <a:srgbClr val="1A1A1A"/>
          </a:solidFill>
          <a:ln w="12700">
            <a:solidFill>
              <a:srgbClr val="2B2B2B"/>
            </a:solidFill>
            <a:prstDash val="solid"/>
          </a:ln>
        </p:spPr>
        <p:txBody>
          <a:bodyPr wrap="square" lIns="63923" tIns="105452" rIns="63923" bIns="80052" rtlCol="0" anchor="t">
            <a:normAutofit/>
          </a:bodyPr>
          <a:lstStyle/>
          <a:p>
            <a:pPr algn="ctr" indent="0" marL="0">
              <a:lnSpc>
                <a:spcPts val="1960"/>
              </a:lnSpc>
              <a:buNone/>
            </a:pPr>
            <a:r>
              <a:rPr lang="en-US" sz="1400" spc="100" kern="0" dirty="0">
                <a:solidFill>
                  <a:srgbClr val="8B9097"/>
                </a:solidFill>
                <a:latin typeface="DM Mono" pitchFamily="49" charset="0"/>
                <a:ea typeface="DM Mono" pitchFamily="49" charset="-122"/>
                <a:cs typeface="DM Mono" pitchFamily="49" charset="-120"/>
              </a:rPr>
              <a:t>OFFER</a:t>
            </a:r>
            <a:endParaRPr lang="en-US" sz="1400" dirty="0"/>
          </a:p>
        </p:txBody>
      </p:sp>
      <p:sp>
        <p:nvSpPr>
          <p:cNvPr id="9" name="Text 7"/>
          <p:cNvSpPr/>
          <p:nvPr/>
        </p:nvSpPr>
        <p:spPr>
          <a:xfrm>
            <a:off x="2597150" y="4928691"/>
            <a:ext cx="2146300" cy="515590"/>
          </a:xfrm>
          <a:prstGeom prst="roundRect">
            <a:avLst>
              <a:gd name="adj" fmla="val 18474"/>
            </a:avLst>
          </a:prstGeom>
          <a:solidFill>
            <a:srgbClr val="1A1A1A"/>
          </a:solidFill>
          <a:ln w="12700">
            <a:solidFill>
              <a:srgbClr val="2B2B2B"/>
            </a:solidFill>
            <a:prstDash val="solid"/>
          </a:ln>
        </p:spPr>
        <p:txBody>
          <a:bodyPr wrap="square" lIns="77258" tIns="105452" rIns="77258" bIns="80052" rtlCol="0" anchor="t">
            <a:normAutofit/>
          </a:bodyPr>
          <a:lstStyle/>
          <a:p>
            <a:pPr algn="ctr" indent="0" marL="0">
              <a:lnSpc>
                <a:spcPts val="1960"/>
              </a:lnSpc>
              <a:buNone/>
            </a:pPr>
            <a:r>
              <a:rPr lang="en-US" sz="1400" spc="100" kern="0" dirty="0">
                <a:solidFill>
                  <a:srgbClr val="63E14F"/>
                </a:solidFill>
                <a:latin typeface="DM Mono" pitchFamily="49" charset="0"/>
                <a:ea typeface="DM Mono" pitchFamily="49" charset="-122"/>
                <a:cs typeface="DM Mono" pitchFamily="49" charset="-120"/>
              </a:rPr>
              <a:t>ACCEPT</a:t>
            </a:r>
            <a:endParaRPr lang="en-US" sz="1400" dirty="0"/>
          </a:p>
        </p:txBody>
      </p:sp>
      <p:pic>
        <p:nvPicPr>
          <p:cNvPr id="10" name="Image 0" descr="preencoded.png">    </p:cNvPr>
          <p:cNvPicPr>
            <a:picLocks noChangeAspect="1"/>
          </p:cNvPicPr>
          <p:nvPr/>
        </p:nvPicPr>
        <p:blipFill>
          <a:blip r:embed="rId1"/>
          <a:srcRect l="0" r="0" t="0" b="0"/>
          <a:stretch/>
        </p:blipFill>
        <p:spPr>
          <a:xfrm>
            <a:off x="812800" y="2351980"/>
            <a:ext cx="5715000" cy="3048000"/>
          </a:xfrm>
          <a:prstGeom prst="rect">
            <a:avLst/>
          </a:prstGeom>
        </p:spPr>
      </p:pic>
      <p:sp>
        <p:nvSpPr>
          <p:cNvPr id="11" name="Shape 8"/>
          <p:cNvSpPr/>
          <p:nvPr/>
        </p:nvSpPr>
        <p:spPr>
          <a:xfrm>
            <a:off x="6991350" y="1977330"/>
            <a:ext cx="4381500" cy="1000720"/>
          </a:xfrm>
          <a:prstGeom prst="roundRect">
            <a:avLst>
              <a:gd name="adj" fmla="val 9518"/>
            </a:avLst>
          </a:prstGeom>
          <a:solidFill>
            <a:srgbClr val="1A1A1A"/>
          </a:solidFill>
          <a:ln w="12700">
            <a:solidFill>
              <a:srgbClr val="2B2B2B"/>
            </a:solidFill>
            <a:prstDash val="solid"/>
          </a:ln>
        </p:spPr>
      </p:sp>
      <p:sp>
        <p:nvSpPr>
          <p:cNvPr id="12" name="Text 9"/>
          <p:cNvSpPr/>
          <p:nvPr/>
        </p:nvSpPr>
        <p:spPr>
          <a:xfrm>
            <a:off x="7150100" y="2136080"/>
            <a:ext cx="4185920" cy="220960"/>
          </a:xfrm>
          <a:prstGeom prst="rect">
            <a:avLst/>
          </a:prstGeom>
          <a:noFill/>
          <a:ln/>
        </p:spPr>
        <p:txBody>
          <a:bodyPr wrap="square" lIns="0" tIns="0" rIns="0" bIns="0" rtlCol="0" anchor="t">
            <a:normAutofit/>
          </a:bodyPr>
          <a:lstStyle/>
          <a:p>
            <a:pPr algn="l" indent="0" marL="0">
              <a:lnSpc>
                <a:spcPts val="1540"/>
              </a:lnSpc>
              <a:buNone/>
            </a:pPr>
            <a:r>
              <a:rPr lang="en-US" sz="1100" spc="100" kern="0" dirty="0">
                <a:solidFill>
                  <a:srgbClr val="FF832A"/>
                </a:solidFill>
                <a:latin typeface="DM Mono" pitchFamily="49" charset="0"/>
                <a:ea typeface="DM Mono" pitchFamily="49" charset="-122"/>
                <a:cs typeface="DM Mono" pitchFamily="49" charset="-120"/>
              </a:rPr>
              <a:t>BOUNCE</a:t>
            </a:r>
            <a:endParaRPr lang="en-US" sz="1100" dirty="0"/>
          </a:p>
        </p:txBody>
      </p:sp>
      <p:sp>
        <p:nvSpPr>
          <p:cNvPr id="13" name="Text 10"/>
          <p:cNvSpPr/>
          <p:nvPr/>
        </p:nvSpPr>
        <p:spPr>
          <a:xfrm>
            <a:off x="7150100" y="2407841"/>
            <a:ext cx="4185920"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E9ECEF"/>
                </a:solidFill>
                <a:latin typeface="Raleway" pitchFamily="34" charset="0"/>
                <a:ea typeface="Raleway" pitchFamily="34" charset="-122"/>
                <a:cs typeface="Raleway" pitchFamily="34" charset="-120"/>
              </a:rPr>
              <a:t>Candidates skip ahead, stall for weeks, and drop out at every stage.</a:t>
            </a:r>
            <a:endParaRPr lang="en-US" sz="1200" dirty="0"/>
          </a:p>
        </p:txBody>
      </p:sp>
      <p:sp>
        <p:nvSpPr>
          <p:cNvPr id="14" name="Shape 11"/>
          <p:cNvSpPr/>
          <p:nvPr/>
        </p:nvSpPr>
        <p:spPr>
          <a:xfrm>
            <a:off x="6991350" y="3092351"/>
            <a:ext cx="4381500" cy="1000720"/>
          </a:xfrm>
          <a:prstGeom prst="roundRect">
            <a:avLst>
              <a:gd name="adj" fmla="val 9518"/>
            </a:avLst>
          </a:prstGeom>
          <a:solidFill>
            <a:srgbClr val="1A1A1A"/>
          </a:solidFill>
          <a:ln w="12700">
            <a:solidFill>
              <a:srgbClr val="2B2B2B"/>
            </a:solidFill>
            <a:prstDash val="solid"/>
          </a:ln>
        </p:spPr>
      </p:sp>
      <p:sp>
        <p:nvSpPr>
          <p:cNvPr id="15" name="Text 12"/>
          <p:cNvSpPr/>
          <p:nvPr/>
        </p:nvSpPr>
        <p:spPr>
          <a:xfrm>
            <a:off x="7150100" y="3251101"/>
            <a:ext cx="4185920" cy="220960"/>
          </a:xfrm>
          <a:prstGeom prst="rect">
            <a:avLst/>
          </a:prstGeom>
          <a:noFill/>
          <a:ln/>
        </p:spPr>
        <p:txBody>
          <a:bodyPr wrap="square" lIns="0" tIns="0" rIns="0" bIns="0" rtlCol="0" anchor="t">
            <a:normAutofit/>
          </a:bodyPr>
          <a:lstStyle/>
          <a:p>
            <a:pPr algn="l" indent="0" marL="0">
              <a:lnSpc>
                <a:spcPts val="1540"/>
              </a:lnSpc>
              <a:buNone/>
            </a:pPr>
            <a:r>
              <a:rPr lang="en-US" sz="1100" spc="100" kern="0" dirty="0">
                <a:solidFill>
                  <a:srgbClr val="FF832A"/>
                </a:solidFill>
                <a:latin typeface="DM Mono" pitchFamily="49" charset="0"/>
                <a:ea typeface="DM Mono" pitchFamily="49" charset="-122"/>
                <a:cs typeface="DM Mono" pitchFamily="49" charset="-120"/>
              </a:rPr>
              <a:t>FALSE NEGATIVES / POSITIVES</a:t>
            </a:r>
            <a:endParaRPr lang="en-US" sz="1100" dirty="0"/>
          </a:p>
        </p:txBody>
      </p:sp>
      <p:sp>
        <p:nvSpPr>
          <p:cNvPr id="16" name="Text 13"/>
          <p:cNvSpPr/>
          <p:nvPr/>
        </p:nvSpPr>
        <p:spPr>
          <a:xfrm>
            <a:off x="7150100" y="3522861"/>
            <a:ext cx="4185920"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E9ECEF"/>
                </a:solidFill>
                <a:latin typeface="Raleway" pitchFamily="34" charset="0"/>
                <a:ea typeface="Raleway" pitchFamily="34" charset="-122"/>
                <a:cs typeface="Raleway" pitchFamily="34" charset="-120"/>
              </a:rPr>
              <a:t>Candidates might need to go </a:t>
            </a:r>
            <a:r>
              <a:rPr lang="en-US" sz="1200" b="1" dirty="0">
                <a:solidFill>
                  <a:srgbClr val="E9ECEF"/>
                </a:solidFill>
                <a:latin typeface="Raleway" pitchFamily="34" charset="0"/>
                <a:ea typeface="Raleway" pitchFamily="34" charset="-122"/>
                <a:cs typeface="Raleway" pitchFamily="34" charset="-120"/>
              </a:rPr>
              <a:t>backwards</a:t>
            </a:r>
            <a:r>
              <a:rPr lang="en-US" sz="1200" dirty="0">
                <a:solidFill>
                  <a:srgbClr val="E9ECEF"/>
                </a:solidFill>
                <a:latin typeface="Raleway" pitchFamily="34" charset="0"/>
                <a:ea typeface="Raleway" pitchFamily="34" charset="-122"/>
                <a:cs typeface="Raleway" pitchFamily="34" charset="-120"/>
              </a:rPr>
              <a:t> to avoid mishiring… or missing out on a great person.</a:t>
            </a:r>
            <a:endParaRPr lang="en-US" sz="1200" dirty="0"/>
          </a:p>
        </p:txBody>
      </p:sp>
      <p:sp>
        <p:nvSpPr>
          <p:cNvPr id="17" name="Shape 14"/>
          <p:cNvSpPr/>
          <p:nvPr/>
        </p:nvSpPr>
        <p:spPr>
          <a:xfrm>
            <a:off x="6991350" y="4207371"/>
            <a:ext cx="4381500" cy="1617911"/>
          </a:xfrm>
          <a:prstGeom prst="roundRect">
            <a:avLst>
              <a:gd name="adj" fmla="val 5887"/>
            </a:avLst>
          </a:prstGeom>
          <a:solidFill>
            <a:srgbClr val="1A1A1A"/>
          </a:solidFill>
          <a:ln w="12700">
            <a:solidFill>
              <a:srgbClr val="63E14F"/>
            </a:solidFill>
            <a:prstDash val="solid"/>
          </a:ln>
        </p:spPr>
      </p:sp>
      <p:sp>
        <p:nvSpPr>
          <p:cNvPr id="18" name="Text 15"/>
          <p:cNvSpPr/>
          <p:nvPr/>
        </p:nvSpPr>
        <p:spPr>
          <a:xfrm>
            <a:off x="7150100" y="4366121"/>
            <a:ext cx="4185920" cy="220960"/>
          </a:xfrm>
          <a:prstGeom prst="rect">
            <a:avLst/>
          </a:prstGeom>
          <a:noFill/>
          <a:ln/>
        </p:spPr>
        <p:txBody>
          <a:bodyPr wrap="square" lIns="0" tIns="0" rIns="0" bIns="0" rtlCol="0" anchor="t">
            <a:normAutofit/>
          </a:bodyPr>
          <a:lstStyle/>
          <a:p>
            <a:pPr algn="l" indent="0" marL="0">
              <a:lnSpc>
                <a:spcPts val="1540"/>
              </a:lnSpc>
              <a:buNone/>
            </a:pPr>
            <a:r>
              <a:rPr lang="en-US" sz="1100" spc="100" kern="0" dirty="0">
                <a:solidFill>
                  <a:srgbClr val="63E14F"/>
                </a:solidFill>
                <a:latin typeface="DM Mono" pitchFamily="49" charset="0"/>
                <a:ea typeface="DM Mono" pitchFamily="49" charset="-122"/>
                <a:cs typeface="DM Mono" pitchFamily="49" charset="-120"/>
              </a:rPr>
              <a:t>TIME IS A FRIENDLY FOE</a:t>
            </a:r>
            <a:endParaRPr lang="en-US" sz="1100" dirty="0"/>
          </a:p>
        </p:txBody>
      </p:sp>
      <p:sp>
        <p:nvSpPr>
          <p:cNvPr id="19" name="Text 16"/>
          <p:cNvSpPr/>
          <p:nvPr/>
        </p:nvSpPr>
        <p:spPr>
          <a:xfrm>
            <a:off x="7150100" y="4637881"/>
            <a:ext cx="4185920" cy="105405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E9ECEF"/>
                </a:solidFill>
                <a:latin typeface="Raleway" pitchFamily="34" charset="0"/>
                <a:ea typeface="Raleway" pitchFamily="34" charset="-122"/>
                <a:cs typeface="Raleway" pitchFamily="34" charset="-120"/>
              </a:rPr>
              <a:t>Isn't it crazy that we make decisions that affect us for years after just a few hours with the team? We are all busy, so we optimize for less time here… often wrongly. Don't be afraid to </a:t>
            </a:r>
            <a:r>
              <a:rPr lang="en-US" sz="1200" b="1" dirty="0">
                <a:solidFill>
                  <a:srgbClr val="E9ECEF"/>
                </a:solidFill>
                <a:latin typeface="Raleway" pitchFamily="34" charset="0"/>
                <a:ea typeface="Raleway" pitchFamily="34" charset="-122"/>
                <a:cs typeface="Raleway" pitchFamily="34" charset="-120"/>
              </a:rPr>
              <a:t>increase</a:t>
            </a:r>
            <a:r>
              <a:rPr lang="en-US" sz="1200" dirty="0">
                <a:solidFill>
                  <a:srgbClr val="E9ECEF"/>
                </a:solidFill>
                <a:latin typeface="Raleway" pitchFamily="34" charset="0"/>
                <a:ea typeface="Raleway" pitchFamily="34" charset="-122"/>
                <a:cs typeface="Raleway" pitchFamily="34" charset="-120"/>
              </a:rPr>
              <a:t> time in each stage so a candidate feels valued, comfortable, and familiar with us.</a:t>
            </a:r>
            <a:endParaRPr lang="en-US" sz="1200" dirty="0"/>
          </a:p>
        </p:txBody>
      </p:sp>
      <p:pic>
        <p:nvPicPr>
          <p:cNvPr id="20" name="Image 1" descr="Mashgin">    </p:cNvPr>
          <p:cNvPicPr>
            <a:picLocks noChangeAspect="1"/>
          </p:cNvPicPr>
          <p:nvPr/>
        </p:nvPicPr>
        <p:blipFill>
          <a:blip r:embed="rId2"/>
          <a:srcRect l="-284" r="-284" t="0" b="0"/>
          <a:stretch/>
        </p:blipFill>
        <p:spPr>
          <a:xfrm>
            <a:off x="10121900" y="406400"/>
            <a:ext cx="1460500" cy="298450"/>
          </a:xfrm>
          <a:prstGeom prst="rect">
            <a:avLst/>
          </a:prstGeom>
        </p:spPr>
      </p:pic>
      <p:sp>
        <p:nvSpPr>
          <p:cNvPr id="21" name="Text 17"/>
          <p:cNvSpPr/>
          <p:nvPr/>
        </p:nvSpPr>
        <p:spPr>
          <a:xfrm>
            <a:off x="812800" y="62382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097"/>
                </a:solidFill>
                <a:latin typeface="DM Mono" pitchFamily="49" charset="0"/>
                <a:ea typeface="DM Mono" pitchFamily="49" charset="-122"/>
                <a:cs typeface="DM Mono" pitchFamily="49" charset="-120"/>
              </a:rPr>
              <a:t>Copyright Dobromir Montauk, 2026</a:t>
            </a:r>
            <a:endParaRPr lang="en-US" sz="1200" dirty="0"/>
          </a:p>
        </p:txBody>
      </p:sp>
      <p:sp>
        <p:nvSpPr>
          <p:cNvPr id="22" name="Text 18"/>
          <p:cNvSpPr/>
          <p:nvPr/>
        </p:nvSpPr>
        <p:spPr>
          <a:xfrm>
            <a:off x="10261600" y="6169670"/>
            <a:ext cx="1320800" cy="345430"/>
          </a:xfrm>
          <a:prstGeom prst="rect">
            <a:avLst/>
          </a:prstGeom>
          <a:noFill/>
          <a:ln/>
        </p:spPr>
        <p:txBody>
          <a:bodyPr wrap="square" lIns="0" tIns="0" rIns="0" bIns="0" rtlCol="0" anchor="t">
            <a:normAutofit/>
          </a:bodyPr>
          <a:lstStyle/>
          <a:p>
            <a:pPr algn="r" indent="0" marL="0">
              <a:lnSpc>
                <a:spcPts val="2520"/>
              </a:lnSpc>
              <a:buNone/>
            </a:pPr>
            <a:r>
              <a:rPr lang="en-US" sz="1800" dirty="0">
                <a:solidFill>
                  <a:srgbClr val="63E14F"/>
                </a:solidFill>
                <a:latin typeface="DM Mono" pitchFamily="49" charset="0"/>
                <a:ea typeface="DM Mono" pitchFamily="49" charset="-122"/>
                <a:cs typeface="DM Mono" pitchFamily="49" charset="-120"/>
              </a:rPr>
              <a:t>[ 4 ]</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60607"/>
        </a:solidFill>
      </p:bgPr>
    </p:bg>
    <p:spTree>
      <p:nvGrpSpPr>
        <p:cNvPr id="1" name=""/>
        <p:cNvGrpSpPr/>
        <p:nvPr/>
      </p:nvGrpSpPr>
      <p:grpSpPr>
        <a:xfrm>
          <a:off x="0" y="0"/>
          <a:ext cx="0" cy="0"/>
          <a:chOff x="0" y="0"/>
          <a:chExt cx="0" cy="0"/>
        </a:xfrm>
      </p:grpSpPr>
      <p:sp>
        <p:nvSpPr>
          <p:cNvPr id="2" name="Shape 0"/>
          <p:cNvSpPr/>
          <p:nvPr/>
        </p:nvSpPr>
        <p:spPr>
          <a:xfrm>
            <a:off x="254000" y="0"/>
            <a:ext cx="25400" cy="6858000"/>
          </a:xfrm>
          <a:prstGeom prst="rect">
            <a:avLst/>
          </a:prstGeom>
          <a:gradFill rotWithShape="1">
            <a:gsLst>
              <a:gs pos="0">
                <a:srgbClr val="FF832A"/>
              </a:gs>
              <a:gs pos="35000">
                <a:srgbClr val="FF832A"/>
              </a:gs>
              <a:gs pos="75000">
                <a:srgbClr val="63E14F"/>
              </a:gs>
              <a:gs pos="100000">
                <a:srgbClr val="63E14F"/>
              </a:gs>
            </a:gsLst>
            <a:lin ang="5400000" scaled="0"/>
          </a:gradFill>
          <a:ln/>
        </p:spPr>
      </p:sp>
      <p:sp>
        <p:nvSpPr>
          <p:cNvPr id="3" name="Text 1"/>
          <p:cNvSpPr/>
          <p:nvPr/>
        </p:nvSpPr>
        <p:spPr>
          <a:xfrm>
            <a:off x="812800" y="711200"/>
            <a:ext cx="10883392" cy="261392"/>
          </a:xfrm>
          <a:prstGeom prst="rect">
            <a:avLst/>
          </a:prstGeom>
          <a:noFill/>
          <a:ln/>
        </p:spPr>
        <p:txBody>
          <a:bodyPr wrap="square" lIns="0" tIns="0" rIns="0" bIns="0" rtlCol="0" anchor="t">
            <a:normAutofit/>
          </a:bodyPr>
          <a:lstStyle/>
          <a:p>
            <a:pPr algn="l" indent="0" marL="0">
              <a:lnSpc>
                <a:spcPts val="1874"/>
              </a:lnSpc>
              <a:buNone/>
            </a:pPr>
            <a:r>
              <a:rPr lang="en-US" sz="1339" spc="100" kern="0" dirty="0">
                <a:solidFill>
                  <a:srgbClr val="63E14F"/>
                </a:solidFill>
                <a:latin typeface="DM Mono" pitchFamily="49" charset="0"/>
                <a:ea typeface="DM Mono" pitchFamily="49" charset="-122"/>
                <a:cs typeface="DM Mono" pitchFamily="49" charset="-120"/>
              </a:rPr>
              <a:t>[ WHAT IS HIRING? ]</a:t>
            </a:r>
            <a:endParaRPr lang="en-US" sz="1339" dirty="0"/>
          </a:p>
        </p:txBody>
      </p:sp>
      <p:sp>
        <p:nvSpPr>
          <p:cNvPr id="4" name="Text 2"/>
          <p:cNvSpPr/>
          <p:nvPr>
            <p:ph type="title"/>
          </p:nvPr>
        </p:nvSpPr>
        <p:spPr>
          <a:xfrm>
            <a:off x="812800" y="1201192"/>
            <a:ext cx="10883392" cy="449362"/>
          </a:xfrm>
          <a:prstGeom prst="rect">
            <a:avLst/>
          </a:prstGeom>
          <a:noFill/>
          <a:ln/>
        </p:spPr>
        <p:txBody>
          <a:bodyPr wrap="square" lIns="0" tIns="0" rIns="0" bIns="0" rtlCol="0" anchor="t">
            <a:normAutofit/>
          </a:bodyPr>
          <a:lstStyle/>
          <a:p>
            <a:pPr algn="l" indent="0" marL="0">
              <a:lnSpc>
                <a:spcPts val="3366"/>
              </a:lnSpc>
              <a:buNone/>
            </a:pPr>
            <a:r>
              <a:rPr lang="en-US" sz="3060" b="1" i="0" dirty="0">
                <a:solidFill>
                  <a:srgbClr val="F4F5F7"/>
                </a:solidFill>
                <a:latin typeface="Host Grotesk" pitchFamily="34" charset="0"/>
                <a:ea typeface="Host Grotesk" pitchFamily="34" charset="-122"/>
                <a:cs typeface="Host Grotesk" pitchFamily="34" charset="-120"/>
              </a:rPr>
              <a:t>Every part of the funnel is </a:t>
            </a:r>
            <a:r>
              <a:rPr lang="en-US" sz="3060" b="1" i="0" dirty="0">
                <a:solidFill>
                  <a:srgbClr val="63E14F"/>
                </a:solidFill>
                <a:latin typeface="Host Grotesk" pitchFamily="34" charset="0"/>
                <a:ea typeface="Host Grotesk" pitchFamily="34" charset="-122"/>
                <a:cs typeface="Host Grotesk" pitchFamily="34" charset="-120"/>
              </a:rPr>
              <a:t>a different filter.</a:t>
            </a:r>
            <a:endParaRPr lang="en-US" sz="3060" dirty="0"/>
          </a:p>
        </p:txBody>
      </p:sp>
      <p:sp>
        <p:nvSpPr>
          <p:cNvPr id="5" name="Text 3"/>
          <p:cNvSpPr/>
          <p:nvPr/>
        </p:nvSpPr>
        <p:spPr>
          <a:xfrm>
            <a:off x="819150" y="1871762"/>
            <a:ext cx="5448300" cy="447030"/>
          </a:xfrm>
          <a:prstGeom prst="roundRect">
            <a:avLst>
              <a:gd name="adj" fmla="val 21307"/>
            </a:avLst>
          </a:prstGeom>
          <a:solidFill>
            <a:srgbClr val="1A1A1A"/>
          </a:solidFill>
          <a:ln w="12700">
            <a:solidFill>
              <a:srgbClr val="2B2B2B"/>
            </a:solidFill>
            <a:prstDash val="solid"/>
          </a:ln>
        </p:spPr>
        <p:txBody>
          <a:bodyPr wrap="square" lIns="1566" tIns="80052" rIns="1566" bIns="54652" rtlCol="0" anchor="t">
            <a:normAutofit/>
          </a:bodyPr>
          <a:lstStyle/>
          <a:p>
            <a:pPr algn="ctr" indent="0" marL="0">
              <a:lnSpc>
                <a:spcPts val="1820"/>
              </a:lnSpc>
              <a:buNone/>
            </a:pPr>
            <a:r>
              <a:rPr lang="en-US" sz="1300" spc="100" kern="0" dirty="0">
                <a:solidFill>
                  <a:srgbClr val="E9ECEF"/>
                </a:solidFill>
                <a:latin typeface="DM Mono" pitchFamily="49" charset="0"/>
                <a:ea typeface="DM Mono" pitchFamily="49" charset="-122"/>
                <a:cs typeface="DM Mono" pitchFamily="49" charset="-120"/>
              </a:rPr>
              <a:t>SOURCE</a:t>
            </a:r>
            <a:endParaRPr lang="en-US" sz="1300" dirty="0"/>
          </a:p>
        </p:txBody>
      </p:sp>
      <p:sp>
        <p:nvSpPr>
          <p:cNvPr id="6" name="Text 4"/>
          <p:cNvSpPr/>
          <p:nvPr/>
        </p:nvSpPr>
        <p:spPr>
          <a:xfrm>
            <a:off x="6527800" y="1968252"/>
            <a:ext cx="2985195" cy="279400"/>
          </a:xfrm>
          <a:prstGeom prst="rect">
            <a:avLst/>
          </a:prstGeom>
          <a:noFill/>
          <a:ln/>
        </p:spPr>
        <p:txBody>
          <a:bodyPr wrap="square" lIns="0" tIns="0" rIns="0" bIns="0" rtlCol="0" anchor="t">
            <a:normAutofit/>
          </a:bodyPr>
          <a:lstStyle/>
          <a:p>
            <a:pPr algn="l" indent="0" marL="0">
              <a:lnSpc>
                <a:spcPts val="2000"/>
              </a:lnSpc>
              <a:buNone/>
            </a:pPr>
            <a:r>
              <a:rPr lang="en-US" sz="1600" dirty="0">
                <a:solidFill>
                  <a:srgbClr val="FF832A"/>
                </a:solidFill>
                <a:latin typeface="Raleway" pitchFamily="34" charset="0"/>
                <a:ea typeface="Raleway" pitchFamily="34" charset="-122"/>
                <a:cs typeface="Raleway" pitchFamily="34" charset="-120"/>
              </a:rPr>
              <a:t>→</a:t>
            </a:r>
            <a:r>
              <a:rPr lang="en-US" sz="1600" dirty="0">
                <a:solidFill>
                  <a:srgbClr val="E9ECEF"/>
                </a:solidFill>
                <a:latin typeface="Raleway" pitchFamily="34" charset="0"/>
                <a:ea typeface="Raleway" pitchFamily="34" charset="-122"/>
                <a:cs typeface="Raleway" pitchFamily="34" charset="-120"/>
              </a:rPr>
              <a:t> Are they on the market?</a:t>
            </a:r>
            <a:endParaRPr lang="en-US" sz="1600" dirty="0"/>
          </a:p>
        </p:txBody>
      </p:sp>
      <p:sp>
        <p:nvSpPr>
          <p:cNvPr id="7" name="Text 5"/>
          <p:cNvSpPr/>
          <p:nvPr/>
        </p:nvSpPr>
        <p:spPr>
          <a:xfrm>
            <a:off x="1136650" y="2392809"/>
            <a:ext cx="4813300" cy="447030"/>
          </a:xfrm>
          <a:prstGeom prst="roundRect">
            <a:avLst>
              <a:gd name="adj" fmla="val 21307"/>
            </a:avLst>
          </a:prstGeom>
          <a:solidFill>
            <a:srgbClr val="1A1A1A"/>
          </a:solidFill>
          <a:ln w="12700">
            <a:solidFill>
              <a:srgbClr val="2B2B2B"/>
            </a:solidFill>
            <a:prstDash val="solid"/>
          </a:ln>
        </p:spPr>
        <p:txBody>
          <a:bodyPr wrap="square" lIns="11091" tIns="80052" rIns="11091" bIns="54652" rtlCol="0" anchor="t">
            <a:normAutofit/>
          </a:bodyPr>
          <a:lstStyle/>
          <a:p>
            <a:pPr algn="ctr" indent="0" marL="0">
              <a:lnSpc>
                <a:spcPts val="1820"/>
              </a:lnSpc>
              <a:buNone/>
            </a:pPr>
            <a:r>
              <a:rPr lang="en-US" sz="1300" spc="100" kern="0" dirty="0">
                <a:solidFill>
                  <a:srgbClr val="E9ECEF"/>
                </a:solidFill>
                <a:latin typeface="DM Mono" pitchFamily="49" charset="0"/>
                <a:ea typeface="DM Mono" pitchFamily="49" charset="-122"/>
                <a:cs typeface="DM Mono" pitchFamily="49" charset="-120"/>
              </a:rPr>
              <a:t>RECRUITER SCREEN</a:t>
            </a:r>
            <a:endParaRPr lang="en-US" sz="1300" dirty="0"/>
          </a:p>
        </p:txBody>
      </p:sp>
      <p:sp>
        <p:nvSpPr>
          <p:cNvPr id="8" name="Text 6"/>
          <p:cNvSpPr/>
          <p:nvPr/>
        </p:nvSpPr>
        <p:spPr>
          <a:xfrm>
            <a:off x="6527800" y="2489299"/>
            <a:ext cx="4088666" cy="279400"/>
          </a:xfrm>
          <a:prstGeom prst="rect">
            <a:avLst/>
          </a:prstGeom>
          <a:noFill/>
          <a:ln/>
        </p:spPr>
        <p:txBody>
          <a:bodyPr wrap="square" lIns="0" tIns="0" rIns="0" bIns="0" rtlCol="0" anchor="t">
            <a:normAutofit/>
          </a:bodyPr>
          <a:lstStyle/>
          <a:p>
            <a:pPr algn="l" indent="0" marL="0">
              <a:lnSpc>
                <a:spcPts val="2000"/>
              </a:lnSpc>
              <a:buNone/>
            </a:pPr>
            <a:r>
              <a:rPr lang="en-US" sz="1600" dirty="0">
                <a:solidFill>
                  <a:srgbClr val="FF832A"/>
                </a:solidFill>
                <a:latin typeface="Raleway" pitchFamily="34" charset="0"/>
                <a:ea typeface="Raleway" pitchFamily="34" charset="-122"/>
                <a:cs typeface="Raleway" pitchFamily="34" charset="-120"/>
              </a:rPr>
              <a:t>→</a:t>
            </a:r>
            <a:r>
              <a:rPr lang="en-US" sz="1600" dirty="0">
                <a:solidFill>
                  <a:srgbClr val="E9ECEF"/>
                </a:solidFill>
                <a:latin typeface="Raleway" pitchFamily="34" charset="0"/>
                <a:ea typeface="Raleway" pitchFamily="34" charset="-122"/>
                <a:cs typeface="Raleway" pitchFamily="34" charset="-120"/>
              </a:rPr>
              <a:t> Would they ever even choose us?</a:t>
            </a:r>
            <a:endParaRPr lang="en-US" sz="1600" dirty="0"/>
          </a:p>
        </p:txBody>
      </p:sp>
      <p:sp>
        <p:nvSpPr>
          <p:cNvPr id="9" name="Text 7"/>
          <p:cNvSpPr/>
          <p:nvPr/>
        </p:nvSpPr>
        <p:spPr>
          <a:xfrm>
            <a:off x="1454150" y="2913906"/>
            <a:ext cx="4178300" cy="447030"/>
          </a:xfrm>
          <a:prstGeom prst="roundRect">
            <a:avLst>
              <a:gd name="adj" fmla="val 21307"/>
            </a:avLst>
          </a:prstGeom>
          <a:solidFill>
            <a:srgbClr val="1A1A1A"/>
          </a:solidFill>
          <a:ln w="12700">
            <a:solidFill>
              <a:srgbClr val="2B2B2B"/>
            </a:solidFill>
            <a:prstDash val="solid"/>
          </a:ln>
        </p:spPr>
        <p:txBody>
          <a:bodyPr wrap="square" lIns="20616" tIns="80052" rIns="20616" bIns="54652" rtlCol="0" anchor="t">
            <a:normAutofit/>
          </a:bodyPr>
          <a:lstStyle/>
          <a:p>
            <a:pPr algn="ctr" indent="0" marL="0">
              <a:lnSpc>
                <a:spcPts val="1820"/>
              </a:lnSpc>
              <a:buNone/>
            </a:pPr>
            <a:r>
              <a:rPr lang="en-US" sz="1300" spc="100" kern="0" dirty="0">
                <a:solidFill>
                  <a:srgbClr val="E9ECEF"/>
                </a:solidFill>
                <a:latin typeface="DM Mono" pitchFamily="49" charset="0"/>
                <a:ea typeface="DM Mono" pitchFamily="49" charset="-122"/>
                <a:cs typeface="DM Mono" pitchFamily="49" charset="-120"/>
              </a:rPr>
              <a:t>EM SCREEN</a:t>
            </a:r>
            <a:endParaRPr lang="en-US" sz="1300" dirty="0"/>
          </a:p>
        </p:txBody>
      </p:sp>
      <p:sp>
        <p:nvSpPr>
          <p:cNvPr id="10" name="Text 8"/>
          <p:cNvSpPr/>
          <p:nvPr/>
        </p:nvSpPr>
        <p:spPr>
          <a:xfrm>
            <a:off x="6527800" y="3010396"/>
            <a:ext cx="3674864" cy="279400"/>
          </a:xfrm>
          <a:prstGeom prst="rect">
            <a:avLst/>
          </a:prstGeom>
          <a:noFill/>
          <a:ln/>
        </p:spPr>
        <p:txBody>
          <a:bodyPr wrap="square" lIns="0" tIns="0" rIns="0" bIns="0" rtlCol="0" anchor="t">
            <a:normAutofit/>
          </a:bodyPr>
          <a:lstStyle/>
          <a:p>
            <a:pPr algn="l" indent="0" marL="0">
              <a:lnSpc>
                <a:spcPts val="2000"/>
              </a:lnSpc>
              <a:buNone/>
            </a:pPr>
            <a:r>
              <a:rPr lang="en-US" sz="1600" dirty="0">
                <a:solidFill>
                  <a:srgbClr val="FF832A"/>
                </a:solidFill>
                <a:latin typeface="Raleway" pitchFamily="34" charset="0"/>
                <a:ea typeface="Raleway" pitchFamily="34" charset="-122"/>
                <a:cs typeface="Raleway" pitchFamily="34" charset="-120"/>
              </a:rPr>
              <a:t>→</a:t>
            </a:r>
            <a:r>
              <a:rPr lang="en-US" sz="1600" dirty="0">
                <a:solidFill>
                  <a:srgbClr val="E9ECEF"/>
                </a:solidFill>
                <a:latin typeface="Raleway" pitchFamily="34" charset="0"/>
                <a:ea typeface="Raleway" pitchFamily="34" charset="-122"/>
                <a:cs typeface="Raleway" pitchFamily="34" charset="-120"/>
              </a:rPr>
              <a:t> Will they be excited about us?</a:t>
            </a:r>
            <a:endParaRPr lang="en-US" sz="1600" dirty="0"/>
          </a:p>
        </p:txBody>
      </p:sp>
      <p:sp>
        <p:nvSpPr>
          <p:cNvPr id="11" name="Text 9"/>
          <p:cNvSpPr/>
          <p:nvPr/>
        </p:nvSpPr>
        <p:spPr>
          <a:xfrm>
            <a:off x="1771650" y="3434953"/>
            <a:ext cx="3543300" cy="447030"/>
          </a:xfrm>
          <a:prstGeom prst="roundRect">
            <a:avLst>
              <a:gd name="adj" fmla="val 21307"/>
            </a:avLst>
          </a:prstGeom>
          <a:solidFill>
            <a:srgbClr val="1A1A1A"/>
          </a:solidFill>
          <a:ln w="12700">
            <a:solidFill>
              <a:srgbClr val="2B2B2B"/>
            </a:solidFill>
            <a:prstDash val="solid"/>
          </a:ln>
        </p:spPr>
        <p:txBody>
          <a:bodyPr wrap="square" lIns="30141" tIns="80052" rIns="30141" bIns="54652" rtlCol="0" anchor="t">
            <a:normAutofit/>
          </a:bodyPr>
          <a:lstStyle/>
          <a:p>
            <a:pPr algn="ctr" indent="0" marL="0">
              <a:lnSpc>
                <a:spcPts val="1820"/>
              </a:lnSpc>
              <a:buNone/>
            </a:pPr>
            <a:r>
              <a:rPr lang="en-US" sz="1300" spc="100" kern="0" dirty="0">
                <a:solidFill>
                  <a:srgbClr val="E9ECEF"/>
                </a:solidFill>
                <a:latin typeface="DM Mono" pitchFamily="49" charset="0"/>
                <a:ea typeface="DM Mono" pitchFamily="49" charset="-122"/>
                <a:cs typeface="DM Mono" pitchFamily="49" charset="-120"/>
              </a:rPr>
              <a:t>TECH SCREEN</a:t>
            </a:r>
            <a:endParaRPr lang="en-US" sz="1300" dirty="0"/>
          </a:p>
        </p:txBody>
      </p:sp>
      <p:sp>
        <p:nvSpPr>
          <p:cNvPr id="12" name="Text 10"/>
          <p:cNvSpPr/>
          <p:nvPr/>
        </p:nvSpPr>
        <p:spPr>
          <a:xfrm>
            <a:off x="6527800" y="3531443"/>
            <a:ext cx="4548128" cy="279400"/>
          </a:xfrm>
          <a:prstGeom prst="rect">
            <a:avLst/>
          </a:prstGeom>
          <a:noFill/>
          <a:ln/>
        </p:spPr>
        <p:txBody>
          <a:bodyPr wrap="square" lIns="0" tIns="0" rIns="0" bIns="0" rtlCol="0" anchor="t">
            <a:normAutofit/>
          </a:bodyPr>
          <a:lstStyle/>
          <a:p>
            <a:pPr algn="l" indent="0" marL="0">
              <a:lnSpc>
                <a:spcPts val="2000"/>
              </a:lnSpc>
              <a:buNone/>
            </a:pPr>
            <a:r>
              <a:rPr lang="en-US" sz="1600" dirty="0">
                <a:solidFill>
                  <a:srgbClr val="FF832A"/>
                </a:solidFill>
                <a:latin typeface="Raleway" pitchFamily="34" charset="0"/>
                <a:ea typeface="Raleway" pitchFamily="34" charset="-122"/>
                <a:cs typeface="Raleway" pitchFamily="34" charset="-120"/>
              </a:rPr>
              <a:t>→</a:t>
            </a:r>
            <a:r>
              <a:rPr lang="en-US" sz="1600" dirty="0">
                <a:solidFill>
                  <a:srgbClr val="E9ECEF"/>
                </a:solidFill>
                <a:latin typeface="Raleway" pitchFamily="34" charset="0"/>
                <a:ea typeface="Raleway" pitchFamily="34" charset="-122"/>
                <a:cs typeface="Raleway" pitchFamily="34" charset="-120"/>
              </a:rPr>
              <a:t> Are they likely to be a good engineer?</a:t>
            </a:r>
            <a:endParaRPr lang="en-US" sz="1600" dirty="0"/>
          </a:p>
        </p:txBody>
      </p:sp>
      <p:sp>
        <p:nvSpPr>
          <p:cNvPr id="13" name="Text 11"/>
          <p:cNvSpPr/>
          <p:nvPr/>
        </p:nvSpPr>
        <p:spPr>
          <a:xfrm>
            <a:off x="2089150" y="3990628"/>
            <a:ext cx="2908300" cy="447030"/>
          </a:xfrm>
          <a:prstGeom prst="roundRect">
            <a:avLst>
              <a:gd name="adj" fmla="val 21307"/>
            </a:avLst>
          </a:prstGeom>
          <a:solidFill>
            <a:srgbClr val="1A1A1A"/>
          </a:solidFill>
          <a:ln w="12700">
            <a:solidFill>
              <a:srgbClr val="2B2B2B"/>
            </a:solidFill>
            <a:prstDash val="solid"/>
          </a:ln>
        </p:spPr>
        <p:txBody>
          <a:bodyPr wrap="square" lIns="39666" tIns="80052" rIns="39666" bIns="54652" rtlCol="0" anchor="t">
            <a:normAutofit/>
          </a:bodyPr>
          <a:lstStyle/>
          <a:p>
            <a:pPr algn="ctr" indent="0" marL="0">
              <a:lnSpc>
                <a:spcPts val="1820"/>
              </a:lnSpc>
              <a:buNone/>
            </a:pPr>
            <a:r>
              <a:rPr lang="en-US" sz="1300" spc="100" kern="0" dirty="0">
                <a:solidFill>
                  <a:srgbClr val="E9ECEF"/>
                </a:solidFill>
                <a:latin typeface="DM Mono" pitchFamily="49" charset="0"/>
                <a:ea typeface="DM Mono" pitchFamily="49" charset="-122"/>
                <a:cs typeface="DM Mono" pitchFamily="49" charset="-120"/>
              </a:rPr>
              <a:t>ONSITE</a:t>
            </a:r>
            <a:endParaRPr lang="en-US" sz="1300" dirty="0"/>
          </a:p>
        </p:txBody>
      </p:sp>
      <p:sp>
        <p:nvSpPr>
          <p:cNvPr id="14" name="Text 12"/>
          <p:cNvSpPr/>
          <p:nvPr/>
        </p:nvSpPr>
        <p:spPr>
          <a:xfrm>
            <a:off x="6527800" y="3947468"/>
            <a:ext cx="3462159" cy="279400"/>
          </a:xfrm>
          <a:prstGeom prst="rect">
            <a:avLst/>
          </a:prstGeom>
          <a:noFill/>
          <a:ln/>
        </p:spPr>
        <p:txBody>
          <a:bodyPr wrap="square" lIns="0" tIns="0" rIns="0" bIns="0" rtlCol="0" anchor="t">
            <a:normAutofit/>
          </a:bodyPr>
          <a:lstStyle/>
          <a:p>
            <a:pPr algn="l" indent="0" marL="0">
              <a:lnSpc>
                <a:spcPts val="2000"/>
              </a:lnSpc>
              <a:buNone/>
            </a:pPr>
            <a:r>
              <a:rPr lang="en-US" sz="1600" dirty="0">
                <a:solidFill>
                  <a:srgbClr val="FF832A"/>
                </a:solidFill>
                <a:latin typeface="Raleway" pitchFamily="34" charset="0"/>
                <a:ea typeface="Raleway" pitchFamily="34" charset="-122"/>
                <a:cs typeface="Raleway" pitchFamily="34" charset="-120"/>
              </a:rPr>
              <a:t>→</a:t>
            </a:r>
            <a:r>
              <a:rPr lang="en-US" sz="1600" dirty="0">
                <a:solidFill>
                  <a:srgbClr val="E9ECEF"/>
                </a:solidFill>
                <a:latin typeface="Raleway" pitchFamily="34" charset="0"/>
                <a:ea typeface="Raleway" pitchFamily="34" charset="-122"/>
                <a:cs typeface="Raleway" pitchFamily="34" charset="-120"/>
              </a:rPr>
              <a:t> Are they a </a:t>
            </a:r>
            <a:r>
              <a:rPr lang="en-US" sz="1600" b="1" dirty="0">
                <a:solidFill>
                  <a:srgbClr val="E9ECEF"/>
                </a:solidFill>
                <a:latin typeface="Raleway" pitchFamily="34" charset="0"/>
                <a:ea typeface="Raleway" pitchFamily="34" charset="-122"/>
                <a:cs typeface="Raleway" pitchFamily="34" charset="-120"/>
              </a:rPr>
              <a:t>GREAT</a:t>
            </a:r>
            <a:r>
              <a:rPr lang="en-US" sz="1600" dirty="0">
                <a:solidFill>
                  <a:srgbClr val="E9ECEF"/>
                </a:solidFill>
                <a:latin typeface="Raleway" pitchFamily="34" charset="0"/>
                <a:ea typeface="Raleway" pitchFamily="34" charset="-122"/>
                <a:cs typeface="Raleway" pitchFamily="34" charset="-120"/>
              </a:rPr>
              <a:t> engineer?</a:t>
            </a:r>
            <a:endParaRPr lang="en-US" sz="1600" dirty="0"/>
          </a:p>
        </p:txBody>
      </p:sp>
      <p:sp>
        <p:nvSpPr>
          <p:cNvPr id="15" name="Text 13"/>
          <p:cNvSpPr/>
          <p:nvPr/>
        </p:nvSpPr>
        <p:spPr>
          <a:xfrm>
            <a:off x="6527800" y="4226868"/>
            <a:ext cx="3462159" cy="279400"/>
          </a:xfrm>
          <a:prstGeom prst="rect">
            <a:avLst/>
          </a:prstGeom>
          <a:noFill/>
          <a:ln/>
        </p:spPr>
        <p:txBody>
          <a:bodyPr wrap="square" lIns="0" tIns="0" rIns="0" bIns="0" rtlCol="0" anchor="t">
            <a:normAutofit/>
          </a:bodyPr>
          <a:lstStyle/>
          <a:p>
            <a:pPr algn="l" indent="0" marL="0">
              <a:lnSpc>
                <a:spcPts val="2000"/>
              </a:lnSpc>
              <a:buNone/>
            </a:pPr>
            <a:r>
              <a:rPr lang="en-US" sz="1600" dirty="0">
                <a:solidFill>
                  <a:srgbClr val="FF832A"/>
                </a:solidFill>
                <a:latin typeface="Raleway" pitchFamily="34" charset="0"/>
                <a:ea typeface="Raleway" pitchFamily="34" charset="-122"/>
                <a:cs typeface="Raleway" pitchFamily="34" charset="-120"/>
              </a:rPr>
              <a:t>→</a:t>
            </a:r>
            <a:r>
              <a:rPr lang="en-US" sz="1600" dirty="0">
                <a:solidFill>
                  <a:srgbClr val="E9ECEF"/>
                </a:solidFill>
                <a:latin typeface="Raleway" pitchFamily="34" charset="0"/>
                <a:ea typeface="Raleway" pitchFamily="34" charset="-122"/>
                <a:cs typeface="Raleway" pitchFamily="34" charset="-120"/>
              </a:rPr>
              <a:t> Will they thrive at Mashgin?</a:t>
            </a:r>
            <a:endParaRPr lang="en-US" sz="1600" dirty="0"/>
          </a:p>
        </p:txBody>
      </p:sp>
      <p:sp>
        <p:nvSpPr>
          <p:cNvPr id="16" name="Text 14"/>
          <p:cNvSpPr/>
          <p:nvPr/>
        </p:nvSpPr>
        <p:spPr>
          <a:xfrm>
            <a:off x="2406650" y="4546402"/>
            <a:ext cx="2273300" cy="447030"/>
          </a:xfrm>
          <a:prstGeom prst="roundRect">
            <a:avLst>
              <a:gd name="adj" fmla="val 21307"/>
            </a:avLst>
          </a:prstGeom>
          <a:solidFill>
            <a:srgbClr val="1A1A1A"/>
          </a:solidFill>
          <a:ln w="12700">
            <a:solidFill>
              <a:srgbClr val="63E14F"/>
            </a:solidFill>
            <a:prstDash val="solid"/>
          </a:ln>
        </p:spPr>
        <p:txBody>
          <a:bodyPr wrap="square" lIns="49191" tIns="80052" rIns="49191" bIns="54652" rtlCol="0" anchor="t">
            <a:normAutofit/>
          </a:bodyPr>
          <a:lstStyle/>
          <a:p>
            <a:pPr algn="ctr" indent="0" marL="0">
              <a:lnSpc>
                <a:spcPts val="1820"/>
              </a:lnSpc>
              <a:buNone/>
            </a:pPr>
            <a:r>
              <a:rPr lang="en-US" sz="1300" spc="100" kern="0" dirty="0">
                <a:solidFill>
                  <a:srgbClr val="63E14F"/>
                </a:solidFill>
                <a:latin typeface="DM Mono" pitchFamily="49" charset="0"/>
                <a:ea typeface="DM Mono" pitchFamily="49" charset="-122"/>
                <a:cs typeface="DM Mono" pitchFamily="49" charset="-120"/>
              </a:rPr>
              <a:t>OFFER</a:t>
            </a:r>
            <a:endParaRPr lang="en-US" sz="1300" dirty="0"/>
          </a:p>
        </p:txBody>
      </p:sp>
      <p:sp>
        <p:nvSpPr>
          <p:cNvPr id="17" name="Text 15"/>
          <p:cNvSpPr/>
          <p:nvPr/>
        </p:nvSpPr>
        <p:spPr>
          <a:xfrm>
            <a:off x="6527800" y="4642892"/>
            <a:ext cx="5072122" cy="279400"/>
          </a:xfrm>
          <a:prstGeom prst="rect">
            <a:avLst/>
          </a:prstGeom>
          <a:noFill/>
          <a:ln/>
        </p:spPr>
        <p:txBody>
          <a:bodyPr wrap="square" lIns="0" tIns="0" rIns="0" bIns="0" rtlCol="0" anchor="t">
            <a:normAutofit/>
          </a:bodyPr>
          <a:lstStyle/>
          <a:p>
            <a:pPr algn="l" indent="0" marL="0">
              <a:lnSpc>
                <a:spcPts val="2000"/>
              </a:lnSpc>
              <a:buNone/>
            </a:pPr>
            <a:r>
              <a:rPr lang="en-US" sz="1600" dirty="0">
                <a:solidFill>
                  <a:srgbClr val="FF832A"/>
                </a:solidFill>
                <a:latin typeface="Raleway" pitchFamily="34" charset="0"/>
                <a:ea typeface="Raleway" pitchFamily="34" charset="-122"/>
                <a:cs typeface="Raleway" pitchFamily="34" charset="-120"/>
              </a:rPr>
              <a:t>→</a:t>
            </a:r>
            <a:r>
              <a:rPr lang="en-US" sz="1600" dirty="0">
                <a:solidFill>
                  <a:srgbClr val="E9ECEF"/>
                </a:solidFill>
                <a:latin typeface="Raleway" pitchFamily="34" charset="0"/>
                <a:ea typeface="Raleway" pitchFamily="34" charset="-122"/>
                <a:cs typeface="Raleway" pitchFamily="34" charset="-120"/>
              </a:rPr>
              <a:t> Will they choose </a:t>
            </a:r>
            <a:r>
              <a:rPr lang="en-US" sz="1600" b="1" dirty="0">
                <a:solidFill>
                  <a:srgbClr val="E9ECEF"/>
                </a:solidFill>
                <a:latin typeface="Raleway" pitchFamily="34" charset="0"/>
                <a:ea typeface="Raleway" pitchFamily="34" charset="-122"/>
                <a:cs typeface="Raleway" pitchFamily="34" charset="-120"/>
              </a:rPr>
              <a:t>US</a:t>
            </a:r>
            <a:r>
              <a:rPr lang="en-US" sz="1600" dirty="0">
                <a:solidFill>
                  <a:srgbClr val="E9ECEF"/>
                </a:solidFill>
                <a:latin typeface="Raleway" pitchFamily="34" charset="0"/>
                <a:ea typeface="Raleway" pitchFamily="34" charset="-122"/>
                <a:cs typeface="Raleway" pitchFamily="34" charset="-120"/>
              </a:rPr>
              <a:t> over the competition?</a:t>
            </a:r>
            <a:endParaRPr lang="en-US" sz="1600" dirty="0"/>
          </a:p>
        </p:txBody>
      </p:sp>
      <p:pic>
        <p:nvPicPr>
          <p:cNvPr id="18" name="Image 0" descr="Two engineers high-fiving">    </p:cNvPr>
          <p:cNvPicPr>
            <a:picLocks noChangeAspect="1"/>
          </p:cNvPicPr>
          <p:nvPr/>
        </p:nvPicPr>
        <p:blipFill>
          <a:blip r:embed="rId1"/>
          <a:srcRect l="0" r="0" t="0" b="0"/>
          <a:stretch/>
        </p:blipFill>
        <p:spPr>
          <a:xfrm>
            <a:off x="2844800" y="5125690"/>
            <a:ext cx="1397000" cy="762000"/>
          </a:xfrm>
          <a:prstGeom prst="rect">
            <a:avLst/>
          </a:prstGeom>
        </p:spPr>
      </p:pic>
      <p:pic>
        <p:nvPicPr>
          <p:cNvPr id="19" name="Image 1" descr="Mashgin">    </p:cNvPr>
          <p:cNvPicPr>
            <a:picLocks noChangeAspect="1"/>
          </p:cNvPicPr>
          <p:nvPr/>
        </p:nvPicPr>
        <p:blipFill>
          <a:blip r:embed="rId2"/>
          <a:srcRect l="-284" r="-284" t="0" b="0"/>
          <a:stretch/>
        </p:blipFill>
        <p:spPr>
          <a:xfrm>
            <a:off x="10121900" y="406400"/>
            <a:ext cx="1460500" cy="298450"/>
          </a:xfrm>
          <a:prstGeom prst="rect">
            <a:avLst/>
          </a:prstGeom>
        </p:spPr>
      </p:pic>
      <p:sp>
        <p:nvSpPr>
          <p:cNvPr id="20" name="Text 16"/>
          <p:cNvSpPr/>
          <p:nvPr/>
        </p:nvSpPr>
        <p:spPr>
          <a:xfrm>
            <a:off x="812800" y="62382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097"/>
                </a:solidFill>
                <a:latin typeface="DM Mono" pitchFamily="49" charset="0"/>
                <a:ea typeface="DM Mono" pitchFamily="49" charset="-122"/>
                <a:cs typeface="DM Mono" pitchFamily="49" charset="-120"/>
              </a:rPr>
              <a:t>Copyright Dobromir Montauk, 2026</a:t>
            </a:r>
            <a:endParaRPr lang="en-US" sz="1200" dirty="0"/>
          </a:p>
        </p:txBody>
      </p:sp>
      <p:sp>
        <p:nvSpPr>
          <p:cNvPr id="21" name="Text 17"/>
          <p:cNvSpPr/>
          <p:nvPr/>
        </p:nvSpPr>
        <p:spPr>
          <a:xfrm>
            <a:off x="10261600" y="6169670"/>
            <a:ext cx="1320800" cy="345430"/>
          </a:xfrm>
          <a:prstGeom prst="rect">
            <a:avLst/>
          </a:prstGeom>
          <a:noFill/>
          <a:ln/>
        </p:spPr>
        <p:txBody>
          <a:bodyPr wrap="square" lIns="0" tIns="0" rIns="0" bIns="0" rtlCol="0" anchor="t">
            <a:normAutofit/>
          </a:bodyPr>
          <a:lstStyle/>
          <a:p>
            <a:pPr algn="r" indent="0" marL="0">
              <a:lnSpc>
                <a:spcPts val="2520"/>
              </a:lnSpc>
              <a:buNone/>
            </a:pPr>
            <a:r>
              <a:rPr lang="en-US" sz="1800" dirty="0">
                <a:solidFill>
                  <a:srgbClr val="63E14F"/>
                </a:solidFill>
                <a:latin typeface="DM Mono" pitchFamily="49" charset="0"/>
                <a:ea typeface="DM Mono" pitchFamily="49" charset="-122"/>
                <a:cs typeface="DM Mono" pitchFamily="49" charset="-120"/>
              </a:rPr>
              <a:t>[ 5 ]</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60607"/>
        </a:solidFill>
      </p:bgPr>
    </p:bg>
    <p:spTree>
      <p:nvGrpSpPr>
        <p:cNvPr id="1" name=""/>
        <p:cNvGrpSpPr/>
        <p:nvPr/>
      </p:nvGrpSpPr>
      <p:grpSpPr>
        <a:xfrm>
          <a:off x="0" y="0"/>
          <a:ext cx="0" cy="0"/>
          <a:chOff x="0" y="0"/>
          <a:chExt cx="0" cy="0"/>
        </a:xfrm>
      </p:grpSpPr>
      <p:sp>
        <p:nvSpPr>
          <p:cNvPr id="2" name="Shape 0"/>
          <p:cNvSpPr/>
          <p:nvPr/>
        </p:nvSpPr>
        <p:spPr>
          <a:xfrm>
            <a:off x="254000" y="0"/>
            <a:ext cx="25400" cy="6858000"/>
          </a:xfrm>
          <a:prstGeom prst="rect">
            <a:avLst/>
          </a:prstGeom>
          <a:gradFill rotWithShape="1">
            <a:gsLst>
              <a:gs pos="0">
                <a:srgbClr val="FF832A"/>
              </a:gs>
              <a:gs pos="35000">
                <a:srgbClr val="FF832A"/>
              </a:gs>
              <a:gs pos="75000">
                <a:srgbClr val="63E14F"/>
              </a:gs>
              <a:gs pos="100000">
                <a:srgbClr val="63E14F"/>
              </a:gs>
            </a:gsLst>
            <a:lin ang="5400000" scaled="0"/>
          </a:gradFill>
          <a:ln/>
        </p:spPr>
      </p:sp>
      <p:sp>
        <p:nvSpPr>
          <p:cNvPr id="3" name="Text 1"/>
          <p:cNvSpPr/>
          <p:nvPr/>
        </p:nvSpPr>
        <p:spPr>
          <a:xfrm>
            <a:off x="812800" y="7112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spc="100" kern="0" dirty="0">
                <a:solidFill>
                  <a:srgbClr val="63E14F"/>
                </a:solidFill>
                <a:latin typeface="DM Mono" pitchFamily="49" charset="0"/>
                <a:ea typeface="DM Mono" pitchFamily="49" charset="-122"/>
                <a:cs typeface="DM Mono" pitchFamily="49" charset="-120"/>
              </a:rPr>
              <a:t>[ WHAT ELSE IS HIRING? ]</a:t>
            </a:r>
            <a:endParaRPr lang="en-US" sz="1400" dirty="0"/>
          </a:p>
        </p:txBody>
      </p:sp>
      <p:sp>
        <p:nvSpPr>
          <p:cNvPr id="4" name="Text 2"/>
          <p:cNvSpPr/>
          <p:nvPr>
            <p:ph type="title"/>
          </p:nvPr>
        </p:nvSpPr>
        <p:spPr>
          <a:xfrm>
            <a:off x="812800" y="1214090"/>
            <a:ext cx="10883392" cy="103118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4F5F7"/>
                </a:solidFill>
                <a:latin typeface="Host Grotesk" pitchFamily="34" charset="0"/>
                <a:ea typeface="Host Grotesk" pitchFamily="34" charset="-122"/>
                <a:cs typeface="Host Grotesk" pitchFamily="34" charset="-120"/>
              </a:rPr>
              <a:t>But it's also matchmaking!</a:t>
            </a:r>
            <a:endParaRPr lang="en-US" sz="3600" dirty="0"/>
          </a:p>
          <a:p>
            <a:pPr algn="l" indent="0" marL="0">
              <a:lnSpc>
                <a:spcPts val="3960"/>
              </a:lnSpc>
              <a:buNone/>
            </a:pPr>
            <a:r>
              <a:rPr lang="en-US" sz="3600" b="1" i="0" dirty="0">
                <a:solidFill>
                  <a:srgbClr val="63E14F"/>
                </a:solidFill>
                <a:latin typeface="Host Grotesk" pitchFamily="34" charset="0"/>
                <a:ea typeface="Host Grotesk" pitchFamily="34" charset="-122"/>
                <a:cs typeface="Host Grotesk" pitchFamily="34" charset="-120"/>
              </a:rPr>
              <a:t>Why would they choose US?</a:t>
            </a:r>
            <a:endParaRPr lang="en-US" sz="3600" dirty="0"/>
          </a:p>
        </p:txBody>
      </p:sp>
      <p:sp>
        <p:nvSpPr>
          <p:cNvPr id="5" name="Text 3"/>
          <p:cNvSpPr/>
          <p:nvPr/>
        </p:nvSpPr>
        <p:spPr>
          <a:xfrm>
            <a:off x="2244725" y="3214936"/>
            <a:ext cx="1885950" cy="1885950"/>
          </a:xfrm>
          <a:prstGeom prst="roundRect">
            <a:avLst>
              <a:gd name="adj" fmla="val 50000"/>
            </a:avLst>
          </a:prstGeom>
          <a:noFill/>
          <a:ln w="19050">
            <a:solidFill>
              <a:srgbClr val="E9ECEF"/>
            </a:solidFill>
            <a:prstDash val="solid"/>
          </a:ln>
        </p:spPr>
        <p:txBody>
          <a:bodyPr wrap="square" lIns="0" tIns="0" rIns="0" bIns="0" rtlCol="0" anchor="ctr">
            <a:normAutofit/>
          </a:bodyPr>
          <a:lstStyle/>
          <a:p>
            <a:pPr algn="ctr" indent="0" marL="0">
              <a:lnSpc>
                <a:spcPts val="3920"/>
              </a:lnSpc>
              <a:buNone/>
            </a:pPr>
            <a:r>
              <a:rPr lang="en-US" sz="2800" b="1" dirty="0">
                <a:solidFill>
                  <a:srgbClr val="E9ECEF"/>
                </a:solidFill>
                <a:latin typeface="Host Grotesk" pitchFamily="34" charset="0"/>
                <a:ea typeface="Host Grotesk" pitchFamily="34" charset="-122"/>
                <a:cs typeface="Host Grotesk" pitchFamily="34" charset="-120"/>
              </a:rPr>
              <a:t>Us</a:t>
            </a:r>
            <a:endParaRPr lang="en-US" sz="2800" dirty="0"/>
          </a:p>
        </p:txBody>
      </p:sp>
      <p:sp>
        <p:nvSpPr>
          <p:cNvPr id="6" name="Text 4"/>
          <p:cNvSpPr/>
          <p:nvPr/>
        </p:nvSpPr>
        <p:spPr>
          <a:xfrm>
            <a:off x="5313660" y="3444180"/>
            <a:ext cx="1877616" cy="256530"/>
          </a:xfrm>
          <a:prstGeom prst="rect">
            <a:avLst/>
          </a:prstGeom>
          <a:noFill/>
          <a:ln/>
        </p:spPr>
        <p:txBody>
          <a:bodyPr wrap="square" lIns="0" tIns="0" rIns="0" bIns="0" rtlCol="0" anchor="t">
            <a:normAutofit/>
          </a:bodyPr>
          <a:lstStyle/>
          <a:p>
            <a:pPr algn="l" indent="0" marL="0">
              <a:lnSpc>
                <a:spcPts val="1820"/>
              </a:lnSpc>
              <a:buNone/>
            </a:pPr>
            <a:r>
              <a:rPr lang="en-US" sz="1300" spc="100" kern="0" dirty="0">
                <a:solidFill>
                  <a:srgbClr val="E9ECEF"/>
                </a:solidFill>
                <a:latin typeface="DM Mono" pitchFamily="49" charset="0"/>
                <a:ea typeface="DM Mono" pitchFamily="49" charset="-122"/>
                <a:cs typeface="DM Mono" pitchFamily="49" charset="-120"/>
              </a:rPr>
              <a:t>WE CHOOSE THEM</a:t>
            </a:r>
            <a:endParaRPr lang="en-US" sz="1300" dirty="0"/>
          </a:p>
        </p:txBody>
      </p:sp>
      <p:pic>
        <p:nvPicPr>
          <p:cNvPr id="7" name="Image 0" descr="preencoded.png">    </p:cNvPr>
          <p:cNvPicPr>
            <a:picLocks noChangeAspect="1"/>
          </p:cNvPicPr>
          <p:nvPr/>
        </p:nvPicPr>
        <p:blipFill>
          <a:blip r:embed="rId1"/>
          <a:srcRect l="0" r="0" t="0" b="0"/>
          <a:stretch/>
        </p:blipFill>
        <p:spPr>
          <a:xfrm>
            <a:off x="4445000" y="3776911"/>
            <a:ext cx="3302000" cy="762000"/>
          </a:xfrm>
          <a:prstGeom prst="rect">
            <a:avLst/>
          </a:prstGeom>
        </p:spPr>
      </p:pic>
      <p:sp>
        <p:nvSpPr>
          <p:cNvPr id="8" name="Text 5"/>
          <p:cNvSpPr/>
          <p:nvPr/>
        </p:nvSpPr>
        <p:spPr>
          <a:xfrm>
            <a:off x="5157192" y="4640511"/>
            <a:ext cx="1877616" cy="256530"/>
          </a:xfrm>
          <a:prstGeom prst="rect">
            <a:avLst/>
          </a:prstGeom>
          <a:noFill/>
          <a:ln/>
        </p:spPr>
        <p:txBody>
          <a:bodyPr wrap="square" lIns="0" tIns="0" rIns="0" bIns="0" rtlCol="0" anchor="t">
            <a:normAutofit/>
          </a:bodyPr>
          <a:lstStyle/>
          <a:p>
            <a:pPr algn="ctr" indent="0" marL="0">
              <a:lnSpc>
                <a:spcPts val="1820"/>
              </a:lnSpc>
              <a:buNone/>
            </a:pPr>
            <a:r>
              <a:rPr lang="en-US" sz="1300" spc="100" kern="0" dirty="0">
                <a:solidFill>
                  <a:srgbClr val="63E14F"/>
                </a:solidFill>
                <a:latin typeface="DM Mono" pitchFamily="49" charset="0"/>
                <a:ea typeface="DM Mono" pitchFamily="49" charset="-122"/>
                <a:cs typeface="DM Mono" pitchFamily="49" charset="-120"/>
              </a:rPr>
              <a:t>THEY CHOOSE US</a:t>
            </a:r>
            <a:endParaRPr lang="en-US" sz="1300" dirty="0"/>
          </a:p>
        </p:txBody>
      </p:sp>
      <p:sp>
        <p:nvSpPr>
          <p:cNvPr id="9" name="Text 6"/>
          <p:cNvSpPr/>
          <p:nvPr/>
        </p:nvSpPr>
        <p:spPr>
          <a:xfrm>
            <a:off x="8061325" y="3214936"/>
            <a:ext cx="1885950" cy="1885950"/>
          </a:xfrm>
          <a:prstGeom prst="roundRect">
            <a:avLst>
              <a:gd name="adj" fmla="val 50000"/>
            </a:avLst>
          </a:prstGeom>
          <a:noFill/>
          <a:ln w="19050">
            <a:solidFill>
              <a:srgbClr val="63E14F"/>
            </a:solidFill>
            <a:prstDash val="solid"/>
          </a:ln>
        </p:spPr>
        <p:txBody>
          <a:bodyPr wrap="square" lIns="0" tIns="0" rIns="0" bIns="0" rtlCol="0" anchor="ctr">
            <a:normAutofit/>
          </a:bodyPr>
          <a:lstStyle/>
          <a:p>
            <a:pPr algn="ctr" indent="0" marL="0">
              <a:lnSpc>
                <a:spcPts val="3920"/>
              </a:lnSpc>
              <a:buNone/>
            </a:pPr>
            <a:r>
              <a:rPr lang="en-US" sz="2800" b="1" dirty="0">
                <a:solidFill>
                  <a:srgbClr val="63E14F"/>
                </a:solidFill>
                <a:latin typeface="Host Grotesk" pitchFamily="34" charset="0"/>
                <a:ea typeface="Host Grotesk" pitchFamily="34" charset="-122"/>
                <a:cs typeface="Host Grotesk" pitchFamily="34" charset="-120"/>
              </a:rPr>
              <a:t>Them</a:t>
            </a:r>
            <a:endParaRPr lang="en-US" sz="2800" dirty="0"/>
          </a:p>
        </p:txBody>
      </p:sp>
      <p:pic>
        <p:nvPicPr>
          <p:cNvPr id="10" name="Image 1" descr="Mashgin">    </p:cNvPr>
          <p:cNvPicPr>
            <a:picLocks noChangeAspect="1"/>
          </p:cNvPicPr>
          <p:nvPr/>
        </p:nvPicPr>
        <p:blipFill>
          <a:blip r:embed="rId2"/>
          <a:srcRect l="-284" r="-284" t="0" b="0"/>
          <a:stretch/>
        </p:blipFill>
        <p:spPr>
          <a:xfrm>
            <a:off x="10121900" y="406400"/>
            <a:ext cx="1460500" cy="298450"/>
          </a:xfrm>
          <a:prstGeom prst="rect">
            <a:avLst/>
          </a:prstGeom>
        </p:spPr>
      </p:pic>
      <p:sp>
        <p:nvSpPr>
          <p:cNvPr id="11" name="Text 7"/>
          <p:cNvSpPr/>
          <p:nvPr/>
        </p:nvSpPr>
        <p:spPr>
          <a:xfrm>
            <a:off x="812800" y="62382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097"/>
                </a:solidFill>
                <a:latin typeface="DM Mono" pitchFamily="49" charset="0"/>
                <a:ea typeface="DM Mono" pitchFamily="49" charset="-122"/>
                <a:cs typeface="DM Mono" pitchFamily="49" charset="-120"/>
              </a:rPr>
              <a:t>Copyright Dobromir Montauk, 2026</a:t>
            </a:r>
            <a:endParaRPr lang="en-US" sz="1200" dirty="0"/>
          </a:p>
        </p:txBody>
      </p:sp>
      <p:sp>
        <p:nvSpPr>
          <p:cNvPr id="12" name="Text 8"/>
          <p:cNvSpPr/>
          <p:nvPr/>
        </p:nvSpPr>
        <p:spPr>
          <a:xfrm>
            <a:off x="10261600" y="6169670"/>
            <a:ext cx="1320800" cy="345430"/>
          </a:xfrm>
          <a:prstGeom prst="rect">
            <a:avLst/>
          </a:prstGeom>
          <a:noFill/>
          <a:ln/>
        </p:spPr>
        <p:txBody>
          <a:bodyPr wrap="square" lIns="0" tIns="0" rIns="0" bIns="0" rtlCol="0" anchor="t">
            <a:normAutofit/>
          </a:bodyPr>
          <a:lstStyle/>
          <a:p>
            <a:pPr algn="r" indent="0" marL="0">
              <a:lnSpc>
                <a:spcPts val="2520"/>
              </a:lnSpc>
              <a:buNone/>
            </a:pPr>
            <a:r>
              <a:rPr lang="en-US" sz="1800" dirty="0">
                <a:solidFill>
                  <a:srgbClr val="63E14F"/>
                </a:solidFill>
                <a:latin typeface="DM Mono" pitchFamily="49" charset="0"/>
                <a:ea typeface="DM Mono" pitchFamily="49" charset="-122"/>
                <a:cs typeface="DM Mono" pitchFamily="49" charset="-120"/>
              </a:rPr>
              <a:t>[ 6 ]</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60607"/>
        </a:solidFill>
      </p:bgPr>
    </p:bg>
    <p:spTree>
      <p:nvGrpSpPr>
        <p:cNvPr id="1" name=""/>
        <p:cNvGrpSpPr/>
        <p:nvPr/>
      </p:nvGrpSpPr>
      <p:grpSpPr>
        <a:xfrm>
          <a:off x="0" y="0"/>
          <a:ext cx="0" cy="0"/>
          <a:chOff x="0" y="0"/>
          <a:chExt cx="0" cy="0"/>
        </a:xfrm>
      </p:grpSpPr>
      <p:sp>
        <p:nvSpPr>
          <p:cNvPr id="2" name="Shape 0"/>
          <p:cNvSpPr/>
          <p:nvPr/>
        </p:nvSpPr>
        <p:spPr>
          <a:xfrm>
            <a:off x="254000" y="0"/>
            <a:ext cx="25400" cy="6858000"/>
          </a:xfrm>
          <a:prstGeom prst="rect">
            <a:avLst/>
          </a:prstGeom>
          <a:gradFill rotWithShape="1">
            <a:gsLst>
              <a:gs pos="0">
                <a:srgbClr val="FF832A"/>
              </a:gs>
              <a:gs pos="35000">
                <a:srgbClr val="FF832A"/>
              </a:gs>
              <a:gs pos="75000">
                <a:srgbClr val="63E14F"/>
              </a:gs>
              <a:gs pos="100000">
                <a:srgbClr val="63E14F"/>
              </a:gs>
            </a:gsLst>
            <a:lin ang="5400000" scaled="0"/>
          </a:gradFill>
          <a:ln/>
        </p:spPr>
      </p:sp>
      <p:sp>
        <p:nvSpPr>
          <p:cNvPr id="3" name="Text 1"/>
          <p:cNvSpPr/>
          <p:nvPr/>
        </p:nvSpPr>
        <p:spPr>
          <a:xfrm>
            <a:off x="812800" y="7112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spc="100" kern="0" dirty="0">
                <a:solidFill>
                  <a:srgbClr val="63E14F"/>
                </a:solidFill>
                <a:latin typeface="DM Mono" pitchFamily="49" charset="0"/>
                <a:ea typeface="DM Mono" pitchFamily="49" charset="-122"/>
                <a:cs typeface="DM Mono" pitchFamily="49" charset="-120"/>
              </a:rPr>
              <a:t>[ THE OTHER DIRECTION ]</a:t>
            </a:r>
            <a:endParaRPr lang="en-US" sz="1400" dirty="0"/>
          </a:p>
        </p:txBody>
      </p:sp>
      <p:sp>
        <p:nvSpPr>
          <p:cNvPr id="4" name="Text 2"/>
          <p:cNvSpPr/>
          <p:nvPr>
            <p:ph type="title"/>
          </p:nvPr>
        </p:nvSpPr>
        <p:spPr>
          <a:xfrm>
            <a:off x="812800" y="121409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4F5F7"/>
                </a:solidFill>
                <a:latin typeface="Host Grotesk" pitchFamily="34" charset="0"/>
                <a:ea typeface="Host Grotesk" pitchFamily="34" charset="-122"/>
                <a:cs typeface="Host Grotesk" pitchFamily="34" charset="-120"/>
              </a:rPr>
              <a:t>How are they </a:t>
            </a:r>
            <a:r>
              <a:rPr lang="en-US" sz="3600" b="1" i="0" dirty="0">
                <a:solidFill>
                  <a:srgbClr val="63E14F"/>
                </a:solidFill>
                <a:latin typeface="Host Grotesk" pitchFamily="34" charset="0"/>
                <a:ea typeface="Host Grotesk" pitchFamily="34" charset="-122"/>
                <a:cs typeface="Host Grotesk" pitchFamily="34" charset="-120"/>
              </a:rPr>
              <a:t>judging US?</a:t>
            </a:r>
            <a:endParaRPr lang="en-US" sz="3600" dirty="0"/>
          </a:p>
        </p:txBody>
      </p:sp>
      <p:sp>
        <p:nvSpPr>
          <p:cNvPr id="5" name="Text 3"/>
          <p:cNvSpPr/>
          <p:nvPr/>
        </p:nvSpPr>
        <p:spPr>
          <a:xfrm>
            <a:off x="819150" y="2128441"/>
            <a:ext cx="5448300" cy="447030"/>
          </a:xfrm>
          <a:prstGeom prst="roundRect">
            <a:avLst>
              <a:gd name="adj" fmla="val 21307"/>
            </a:avLst>
          </a:prstGeom>
          <a:solidFill>
            <a:srgbClr val="1A1A1A"/>
          </a:solidFill>
          <a:ln w="12700">
            <a:solidFill>
              <a:srgbClr val="2B2B2B"/>
            </a:solidFill>
            <a:prstDash val="solid"/>
          </a:ln>
        </p:spPr>
        <p:txBody>
          <a:bodyPr wrap="square" lIns="1566" tIns="80052" rIns="1566" bIns="54652" rtlCol="0" anchor="t">
            <a:normAutofit/>
          </a:bodyPr>
          <a:lstStyle/>
          <a:p>
            <a:pPr algn="ctr" indent="0" marL="0">
              <a:lnSpc>
                <a:spcPts val="1820"/>
              </a:lnSpc>
              <a:buNone/>
            </a:pPr>
            <a:r>
              <a:rPr lang="en-US" sz="1300" spc="100" kern="0" dirty="0">
                <a:solidFill>
                  <a:srgbClr val="E9ECEF"/>
                </a:solidFill>
                <a:latin typeface="DM Mono" pitchFamily="49" charset="0"/>
                <a:ea typeface="DM Mono" pitchFamily="49" charset="-122"/>
                <a:cs typeface="DM Mono" pitchFamily="49" charset="-120"/>
              </a:rPr>
              <a:t>SOURCE</a:t>
            </a:r>
            <a:endParaRPr lang="en-US" sz="1300" dirty="0"/>
          </a:p>
        </p:txBody>
      </p:sp>
      <p:sp>
        <p:nvSpPr>
          <p:cNvPr id="6" name="Text 4"/>
          <p:cNvSpPr/>
          <p:nvPr/>
        </p:nvSpPr>
        <p:spPr>
          <a:xfrm>
            <a:off x="6527800" y="1970980"/>
            <a:ext cx="4996942" cy="787400"/>
          </a:xfrm>
          <a:prstGeom prst="rect">
            <a:avLst/>
          </a:prstGeom>
          <a:noFill/>
          <a:ln/>
        </p:spPr>
        <p:txBody>
          <a:bodyPr wrap="square" lIns="0" tIns="0" rIns="0" bIns="0" rtlCol="0" anchor="t">
            <a:normAutofit/>
          </a:bodyPr>
          <a:lstStyle/>
          <a:p>
            <a:pPr algn="l" indent="0" marL="0">
              <a:lnSpc>
                <a:spcPts val="2000"/>
              </a:lnSpc>
              <a:buNone/>
            </a:pPr>
            <a:r>
              <a:rPr lang="en-US" sz="1600" dirty="0">
                <a:solidFill>
                  <a:srgbClr val="63E14F"/>
                </a:solidFill>
                <a:latin typeface="Raleway" pitchFamily="34" charset="0"/>
                <a:ea typeface="Raleway" pitchFamily="34" charset="-122"/>
                <a:cs typeface="Raleway" pitchFamily="34" charset="-120"/>
              </a:rPr>
              <a:t>←</a:t>
            </a:r>
            <a:r>
              <a:rPr lang="en-US" sz="1600" dirty="0">
                <a:solidFill>
                  <a:srgbClr val="E9ECEF"/>
                </a:solidFill>
                <a:latin typeface="Raleway" pitchFamily="34" charset="0"/>
                <a:ea typeface="Raleway" pitchFamily="34" charset="-122"/>
                <a:cs typeface="Raleway" pitchFamily="34" charset="-120"/>
              </a:rPr>
              <a:t> Does Mashgin seem like an interesting company / problem / technology / team / whatever I care about…?</a:t>
            </a:r>
            <a:endParaRPr lang="en-US" sz="1600" dirty="0"/>
          </a:p>
        </p:txBody>
      </p:sp>
      <p:sp>
        <p:nvSpPr>
          <p:cNvPr id="7" name="Text 5"/>
          <p:cNvSpPr/>
          <p:nvPr/>
        </p:nvSpPr>
        <p:spPr>
          <a:xfrm>
            <a:off x="1136650" y="2828230"/>
            <a:ext cx="4813300" cy="447030"/>
          </a:xfrm>
          <a:prstGeom prst="roundRect">
            <a:avLst>
              <a:gd name="adj" fmla="val 21307"/>
            </a:avLst>
          </a:prstGeom>
          <a:solidFill>
            <a:srgbClr val="1A1A1A"/>
          </a:solidFill>
          <a:ln w="12700">
            <a:solidFill>
              <a:srgbClr val="2B2B2B"/>
            </a:solidFill>
            <a:prstDash val="solid"/>
          </a:ln>
        </p:spPr>
        <p:txBody>
          <a:bodyPr wrap="square" lIns="11091" tIns="80052" rIns="11091" bIns="54652" rtlCol="0" anchor="t">
            <a:normAutofit/>
          </a:bodyPr>
          <a:lstStyle/>
          <a:p>
            <a:pPr algn="ctr" indent="0" marL="0">
              <a:lnSpc>
                <a:spcPts val="1820"/>
              </a:lnSpc>
              <a:buNone/>
            </a:pPr>
            <a:r>
              <a:rPr lang="en-US" sz="1300" spc="100" kern="0" dirty="0">
                <a:solidFill>
                  <a:srgbClr val="E9ECEF"/>
                </a:solidFill>
                <a:latin typeface="DM Mono" pitchFamily="49" charset="0"/>
                <a:ea typeface="DM Mono" pitchFamily="49" charset="-122"/>
                <a:cs typeface="DM Mono" pitchFamily="49" charset="-120"/>
              </a:rPr>
              <a:t>RECRUITER SCREEN</a:t>
            </a:r>
            <a:endParaRPr lang="en-US" sz="1300" dirty="0"/>
          </a:p>
        </p:txBody>
      </p:sp>
      <p:sp>
        <p:nvSpPr>
          <p:cNvPr id="8" name="Text 6"/>
          <p:cNvSpPr/>
          <p:nvPr/>
        </p:nvSpPr>
        <p:spPr>
          <a:xfrm>
            <a:off x="6527800" y="2924721"/>
            <a:ext cx="5502890" cy="279400"/>
          </a:xfrm>
          <a:prstGeom prst="rect">
            <a:avLst/>
          </a:prstGeom>
          <a:noFill/>
          <a:ln/>
        </p:spPr>
        <p:txBody>
          <a:bodyPr wrap="square" lIns="0" tIns="0" rIns="0" bIns="0" rtlCol="0" anchor="t">
            <a:normAutofit/>
          </a:bodyPr>
          <a:lstStyle/>
          <a:p>
            <a:pPr algn="l" indent="0" marL="0">
              <a:lnSpc>
                <a:spcPts val="2000"/>
              </a:lnSpc>
              <a:buNone/>
            </a:pPr>
            <a:r>
              <a:rPr lang="en-US" sz="1600" dirty="0">
                <a:solidFill>
                  <a:srgbClr val="63E14F"/>
                </a:solidFill>
                <a:latin typeface="Raleway" pitchFamily="34" charset="0"/>
                <a:ea typeface="Raleway" pitchFamily="34" charset="-122"/>
                <a:cs typeface="Raleway" pitchFamily="34" charset="-120"/>
              </a:rPr>
              <a:t>←</a:t>
            </a:r>
            <a:r>
              <a:rPr lang="en-US" sz="1600" dirty="0">
                <a:solidFill>
                  <a:srgbClr val="E9ECEF"/>
                </a:solidFill>
                <a:latin typeface="Raleway" pitchFamily="34" charset="0"/>
                <a:ea typeface="Raleway" pitchFamily="34" charset="-122"/>
                <a:cs typeface="Raleway" pitchFamily="34" charset="-120"/>
              </a:rPr>
              <a:t> Who are these people? What is their “culture”?</a:t>
            </a:r>
            <a:endParaRPr lang="en-US" sz="1600" dirty="0"/>
          </a:p>
        </p:txBody>
      </p:sp>
      <p:sp>
        <p:nvSpPr>
          <p:cNvPr id="9" name="Text 7"/>
          <p:cNvSpPr/>
          <p:nvPr/>
        </p:nvSpPr>
        <p:spPr>
          <a:xfrm>
            <a:off x="1454150" y="3376861"/>
            <a:ext cx="4178300" cy="447030"/>
          </a:xfrm>
          <a:prstGeom prst="roundRect">
            <a:avLst>
              <a:gd name="adj" fmla="val 21307"/>
            </a:avLst>
          </a:prstGeom>
          <a:solidFill>
            <a:srgbClr val="1A1A1A"/>
          </a:solidFill>
          <a:ln w="12700">
            <a:solidFill>
              <a:srgbClr val="2B2B2B"/>
            </a:solidFill>
            <a:prstDash val="solid"/>
          </a:ln>
        </p:spPr>
        <p:txBody>
          <a:bodyPr wrap="square" lIns="20616" tIns="80052" rIns="20616" bIns="54652" rtlCol="0" anchor="t">
            <a:normAutofit/>
          </a:bodyPr>
          <a:lstStyle/>
          <a:p>
            <a:pPr algn="ctr" indent="0" marL="0">
              <a:lnSpc>
                <a:spcPts val="1820"/>
              </a:lnSpc>
              <a:buNone/>
            </a:pPr>
            <a:r>
              <a:rPr lang="en-US" sz="1300" spc="100" kern="0" dirty="0">
                <a:solidFill>
                  <a:srgbClr val="E9ECEF"/>
                </a:solidFill>
                <a:latin typeface="DM Mono" pitchFamily="49" charset="0"/>
                <a:ea typeface="DM Mono" pitchFamily="49" charset="-122"/>
                <a:cs typeface="DM Mono" pitchFamily="49" charset="-120"/>
              </a:rPr>
              <a:t>EM SCREEN</a:t>
            </a:r>
            <a:endParaRPr lang="en-US" sz="1300" dirty="0"/>
          </a:p>
        </p:txBody>
      </p:sp>
      <p:sp>
        <p:nvSpPr>
          <p:cNvPr id="10" name="Text 8"/>
          <p:cNvSpPr/>
          <p:nvPr/>
        </p:nvSpPr>
        <p:spPr>
          <a:xfrm>
            <a:off x="6527800" y="3473351"/>
            <a:ext cx="4448413" cy="279400"/>
          </a:xfrm>
          <a:prstGeom prst="rect">
            <a:avLst/>
          </a:prstGeom>
          <a:noFill/>
          <a:ln/>
        </p:spPr>
        <p:txBody>
          <a:bodyPr wrap="square" lIns="0" tIns="0" rIns="0" bIns="0" rtlCol="0" anchor="t">
            <a:normAutofit/>
          </a:bodyPr>
          <a:lstStyle/>
          <a:p>
            <a:pPr algn="l" indent="0" marL="0">
              <a:lnSpc>
                <a:spcPts val="2000"/>
              </a:lnSpc>
              <a:buNone/>
            </a:pPr>
            <a:r>
              <a:rPr lang="en-US" sz="1600" dirty="0">
                <a:solidFill>
                  <a:srgbClr val="63E14F"/>
                </a:solidFill>
                <a:latin typeface="Raleway" pitchFamily="34" charset="0"/>
                <a:ea typeface="Raleway" pitchFamily="34" charset="-122"/>
                <a:cs typeface="Raleway" pitchFamily="34" charset="-120"/>
              </a:rPr>
              <a:t>←</a:t>
            </a:r>
            <a:r>
              <a:rPr lang="en-US" sz="1600" dirty="0">
                <a:solidFill>
                  <a:srgbClr val="E9ECEF"/>
                </a:solidFill>
                <a:latin typeface="Raleway" pitchFamily="34" charset="0"/>
                <a:ea typeface="Raleway" pitchFamily="34" charset="-122"/>
                <a:cs typeface="Raleway" pitchFamily="34" charset="-120"/>
              </a:rPr>
              <a:t> Would I want to work for this person?</a:t>
            </a:r>
            <a:endParaRPr lang="en-US" sz="1600" dirty="0"/>
          </a:p>
        </p:txBody>
      </p:sp>
      <p:sp>
        <p:nvSpPr>
          <p:cNvPr id="11" name="Text 9"/>
          <p:cNvSpPr/>
          <p:nvPr/>
        </p:nvSpPr>
        <p:spPr>
          <a:xfrm>
            <a:off x="1771650" y="3925491"/>
            <a:ext cx="3543300" cy="447030"/>
          </a:xfrm>
          <a:prstGeom prst="roundRect">
            <a:avLst>
              <a:gd name="adj" fmla="val 21307"/>
            </a:avLst>
          </a:prstGeom>
          <a:solidFill>
            <a:srgbClr val="1A1A1A"/>
          </a:solidFill>
          <a:ln w="12700">
            <a:solidFill>
              <a:srgbClr val="2B2B2B"/>
            </a:solidFill>
            <a:prstDash val="solid"/>
          </a:ln>
        </p:spPr>
        <p:txBody>
          <a:bodyPr wrap="square" lIns="30141" tIns="80052" rIns="30141" bIns="54652" rtlCol="0" anchor="t">
            <a:normAutofit/>
          </a:bodyPr>
          <a:lstStyle/>
          <a:p>
            <a:pPr algn="ctr" indent="0" marL="0">
              <a:lnSpc>
                <a:spcPts val="1820"/>
              </a:lnSpc>
              <a:buNone/>
            </a:pPr>
            <a:r>
              <a:rPr lang="en-US" sz="1300" spc="100" kern="0" dirty="0">
                <a:solidFill>
                  <a:srgbClr val="E9ECEF"/>
                </a:solidFill>
                <a:latin typeface="DM Mono" pitchFamily="49" charset="0"/>
                <a:ea typeface="DM Mono" pitchFamily="49" charset="-122"/>
                <a:cs typeface="DM Mono" pitchFamily="49" charset="-120"/>
              </a:rPr>
              <a:t>TECH SCREEN</a:t>
            </a:r>
            <a:endParaRPr lang="en-US" sz="1300" dirty="0"/>
          </a:p>
        </p:txBody>
      </p:sp>
      <p:sp>
        <p:nvSpPr>
          <p:cNvPr id="12" name="Text 10"/>
          <p:cNvSpPr/>
          <p:nvPr/>
        </p:nvSpPr>
        <p:spPr>
          <a:xfrm>
            <a:off x="6527800" y="4021981"/>
            <a:ext cx="3362504" cy="279400"/>
          </a:xfrm>
          <a:prstGeom prst="rect">
            <a:avLst/>
          </a:prstGeom>
          <a:noFill/>
          <a:ln/>
        </p:spPr>
        <p:txBody>
          <a:bodyPr wrap="square" lIns="0" tIns="0" rIns="0" bIns="0" rtlCol="0" anchor="t">
            <a:normAutofit/>
          </a:bodyPr>
          <a:lstStyle/>
          <a:p>
            <a:pPr algn="l" indent="0" marL="0">
              <a:lnSpc>
                <a:spcPts val="2000"/>
              </a:lnSpc>
              <a:buNone/>
            </a:pPr>
            <a:r>
              <a:rPr lang="en-US" sz="1600" dirty="0">
                <a:solidFill>
                  <a:srgbClr val="63E14F"/>
                </a:solidFill>
                <a:latin typeface="Raleway" pitchFamily="34" charset="0"/>
                <a:ea typeface="Raleway" pitchFamily="34" charset="-122"/>
                <a:cs typeface="Raleway" pitchFamily="34" charset="-120"/>
              </a:rPr>
              <a:t>←</a:t>
            </a:r>
            <a:r>
              <a:rPr lang="en-US" sz="1600" dirty="0">
                <a:solidFill>
                  <a:srgbClr val="E9ECEF"/>
                </a:solidFill>
                <a:latin typeface="Raleway" pitchFamily="34" charset="0"/>
                <a:ea typeface="Raleway" pitchFamily="34" charset="-122"/>
                <a:cs typeface="Raleway" pitchFamily="34" charset="-120"/>
              </a:rPr>
              <a:t> Are these engineers sharp?</a:t>
            </a:r>
            <a:endParaRPr lang="en-US" sz="1600" dirty="0"/>
          </a:p>
        </p:txBody>
      </p:sp>
      <p:sp>
        <p:nvSpPr>
          <p:cNvPr id="13" name="Text 11"/>
          <p:cNvSpPr/>
          <p:nvPr/>
        </p:nvSpPr>
        <p:spPr>
          <a:xfrm>
            <a:off x="2089150" y="4510931"/>
            <a:ext cx="2908300" cy="447030"/>
          </a:xfrm>
          <a:prstGeom prst="roundRect">
            <a:avLst>
              <a:gd name="adj" fmla="val 21307"/>
            </a:avLst>
          </a:prstGeom>
          <a:solidFill>
            <a:srgbClr val="1A1A1A"/>
          </a:solidFill>
          <a:ln w="12700">
            <a:solidFill>
              <a:srgbClr val="2B2B2B"/>
            </a:solidFill>
            <a:prstDash val="solid"/>
          </a:ln>
        </p:spPr>
        <p:txBody>
          <a:bodyPr wrap="square" lIns="39666" tIns="80052" rIns="39666" bIns="54652" rtlCol="0" anchor="t">
            <a:normAutofit/>
          </a:bodyPr>
          <a:lstStyle/>
          <a:p>
            <a:pPr algn="ctr" indent="0" marL="0">
              <a:lnSpc>
                <a:spcPts val="1820"/>
              </a:lnSpc>
              <a:buNone/>
            </a:pPr>
            <a:r>
              <a:rPr lang="en-US" sz="1300" spc="100" kern="0" dirty="0">
                <a:solidFill>
                  <a:srgbClr val="E9ECEF"/>
                </a:solidFill>
                <a:latin typeface="DM Mono" pitchFamily="49" charset="0"/>
                <a:ea typeface="DM Mono" pitchFamily="49" charset="-122"/>
                <a:cs typeface="DM Mono" pitchFamily="49" charset="-120"/>
              </a:rPr>
              <a:t>ONSITE</a:t>
            </a:r>
            <a:endParaRPr lang="en-US" sz="1300" dirty="0"/>
          </a:p>
        </p:txBody>
      </p:sp>
      <p:sp>
        <p:nvSpPr>
          <p:cNvPr id="14" name="Text 12"/>
          <p:cNvSpPr/>
          <p:nvPr/>
        </p:nvSpPr>
        <p:spPr>
          <a:xfrm>
            <a:off x="6527800" y="4467771"/>
            <a:ext cx="3742670" cy="279400"/>
          </a:xfrm>
          <a:prstGeom prst="rect">
            <a:avLst/>
          </a:prstGeom>
          <a:noFill/>
          <a:ln/>
        </p:spPr>
        <p:txBody>
          <a:bodyPr wrap="square" lIns="0" tIns="0" rIns="0" bIns="0" rtlCol="0" anchor="t">
            <a:normAutofit/>
          </a:bodyPr>
          <a:lstStyle/>
          <a:p>
            <a:pPr algn="l" indent="0" marL="0">
              <a:lnSpc>
                <a:spcPts val="2000"/>
              </a:lnSpc>
              <a:buNone/>
            </a:pPr>
            <a:r>
              <a:rPr lang="en-US" sz="1600" dirty="0">
                <a:solidFill>
                  <a:srgbClr val="63E14F"/>
                </a:solidFill>
                <a:latin typeface="Raleway" pitchFamily="34" charset="0"/>
                <a:ea typeface="Raleway" pitchFamily="34" charset="-122"/>
                <a:cs typeface="Raleway" pitchFamily="34" charset="-120"/>
              </a:rPr>
              <a:t>←</a:t>
            </a:r>
            <a:r>
              <a:rPr lang="en-US" sz="1600" dirty="0">
                <a:solidFill>
                  <a:srgbClr val="E9ECEF"/>
                </a:solidFill>
                <a:latin typeface="Raleway" pitchFamily="34" charset="0"/>
                <a:ea typeface="Raleway" pitchFamily="34" charset="-122"/>
                <a:cs typeface="Raleway" pitchFamily="34" charset="-120"/>
              </a:rPr>
              <a:t> Will I learn from these people?</a:t>
            </a:r>
            <a:endParaRPr lang="en-US" sz="1600" dirty="0"/>
          </a:p>
        </p:txBody>
      </p:sp>
      <p:sp>
        <p:nvSpPr>
          <p:cNvPr id="15" name="Text 13"/>
          <p:cNvSpPr/>
          <p:nvPr/>
        </p:nvSpPr>
        <p:spPr>
          <a:xfrm>
            <a:off x="6527800" y="4747171"/>
            <a:ext cx="3212459" cy="279400"/>
          </a:xfrm>
          <a:prstGeom prst="rect">
            <a:avLst/>
          </a:prstGeom>
          <a:noFill/>
          <a:ln/>
        </p:spPr>
        <p:txBody>
          <a:bodyPr wrap="square" lIns="0" tIns="0" rIns="0" bIns="0" rtlCol="0" anchor="t">
            <a:normAutofit/>
          </a:bodyPr>
          <a:lstStyle/>
          <a:p>
            <a:pPr algn="l" indent="0" marL="0">
              <a:lnSpc>
                <a:spcPts val="2000"/>
              </a:lnSpc>
              <a:buNone/>
            </a:pPr>
            <a:r>
              <a:rPr lang="en-US" sz="1600" dirty="0">
                <a:solidFill>
                  <a:srgbClr val="63E14F"/>
                </a:solidFill>
                <a:latin typeface="Raleway" pitchFamily="34" charset="0"/>
                <a:ea typeface="Raleway" pitchFamily="34" charset="-122"/>
                <a:cs typeface="Raleway" pitchFamily="34" charset="-120"/>
              </a:rPr>
              <a:t>←</a:t>
            </a:r>
            <a:r>
              <a:rPr lang="en-US" sz="1600" dirty="0">
                <a:solidFill>
                  <a:srgbClr val="E9ECEF"/>
                </a:solidFill>
                <a:latin typeface="Raleway" pitchFamily="34" charset="0"/>
                <a:ea typeface="Raleway" pitchFamily="34" charset="-122"/>
                <a:cs typeface="Raleway" pitchFamily="34" charset="-120"/>
              </a:rPr>
              <a:t> Will I grow here?</a:t>
            </a:r>
            <a:endParaRPr lang="en-US" sz="1600" dirty="0"/>
          </a:p>
        </p:txBody>
      </p:sp>
      <p:sp>
        <p:nvSpPr>
          <p:cNvPr id="16" name="Text 14"/>
          <p:cNvSpPr/>
          <p:nvPr/>
        </p:nvSpPr>
        <p:spPr>
          <a:xfrm>
            <a:off x="2406650" y="5096421"/>
            <a:ext cx="2273300" cy="447030"/>
          </a:xfrm>
          <a:prstGeom prst="roundRect">
            <a:avLst>
              <a:gd name="adj" fmla="val 21307"/>
            </a:avLst>
          </a:prstGeom>
          <a:solidFill>
            <a:srgbClr val="1A1A1A"/>
          </a:solidFill>
          <a:ln w="12700">
            <a:solidFill>
              <a:srgbClr val="63E14F"/>
            </a:solidFill>
            <a:prstDash val="solid"/>
          </a:ln>
        </p:spPr>
        <p:txBody>
          <a:bodyPr wrap="square" lIns="49191" tIns="80052" rIns="49191" bIns="54652" rtlCol="0" anchor="t">
            <a:normAutofit/>
          </a:bodyPr>
          <a:lstStyle/>
          <a:p>
            <a:pPr algn="ctr" indent="0" marL="0">
              <a:lnSpc>
                <a:spcPts val="1820"/>
              </a:lnSpc>
              <a:buNone/>
            </a:pPr>
            <a:r>
              <a:rPr lang="en-US" sz="1300" spc="100" kern="0" dirty="0">
                <a:solidFill>
                  <a:srgbClr val="63E14F"/>
                </a:solidFill>
                <a:latin typeface="DM Mono" pitchFamily="49" charset="0"/>
                <a:ea typeface="DM Mono" pitchFamily="49" charset="-122"/>
                <a:cs typeface="DM Mono" pitchFamily="49" charset="-120"/>
              </a:rPr>
              <a:t>OFFER</a:t>
            </a:r>
            <a:endParaRPr lang="en-US" sz="1300" dirty="0"/>
          </a:p>
        </p:txBody>
      </p:sp>
      <p:sp>
        <p:nvSpPr>
          <p:cNvPr id="17" name="Text 15"/>
          <p:cNvSpPr/>
          <p:nvPr/>
        </p:nvSpPr>
        <p:spPr>
          <a:xfrm>
            <a:off x="6527800" y="5192911"/>
            <a:ext cx="4032766" cy="279400"/>
          </a:xfrm>
          <a:prstGeom prst="rect">
            <a:avLst/>
          </a:prstGeom>
          <a:noFill/>
          <a:ln/>
        </p:spPr>
        <p:txBody>
          <a:bodyPr wrap="square" lIns="0" tIns="0" rIns="0" bIns="0" rtlCol="0" anchor="t">
            <a:normAutofit/>
          </a:bodyPr>
          <a:lstStyle/>
          <a:p>
            <a:pPr algn="l" indent="0" marL="0">
              <a:lnSpc>
                <a:spcPts val="2000"/>
              </a:lnSpc>
              <a:buNone/>
            </a:pPr>
            <a:r>
              <a:rPr lang="en-US" sz="1600" dirty="0">
                <a:solidFill>
                  <a:srgbClr val="63E14F"/>
                </a:solidFill>
                <a:latin typeface="Raleway" pitchFamily="34" charset="0"/>
                <a:ea typeface="Raleway" pitchFamily="34" charset="-122"/>
                <a:cs typeface="Raleway" pitchFamily="34" charset="-120"/>
              </a:rPr>
              <a:t>←</a:t>
            </a:r>
            <a:r>
              <a:rPr lang="en-US" sz="1600" dirty="0">
                <a:solidFill>
                  <a:srgbClr val="E9ECEF"/>
                </a:solidFill>
                <a:latin typeface="Raleway" pitchFamily="34" charset="0"/>
                <a:ea typeface="Raleway" pitchFamily="34" charset="-122"/>
                <a:cs typeface="Raleway" pitchFamily="34" charset="-120"/>
              </a:rPr>
              <a:t> Is this the best bet for my career?</a:t>
            </a:r>
            <a:endParaRPr lang="en-US" sz="1600" dirty="0"/>
          </a:p>
        </p:txBody>
      </p:sp>
      <p:pic>
        <p:nvPicPr>
          <p:cNvPr id="18" name="Image 0" descr="Mashgin">    </p:cNvPr>
          <p:cNvPicPr>
            <a:picLocks noChangeAspect="1"/>
          </p:cNvPicPr>
          <p:nvPr/>
        </p:nvPicPr>
        <p:blipFill>
          <a:blip r:embed="rId1"/>
          <a:srcRect l="-284" r="-284" t="0" b="0"/>
          <a:stretch/>
        </p:blipFill>
        <p:spPr>
          <a:xfrm>
            <a:off x="10121900" y="406400"/>
            <a:ext cx="1460500" cy="298450"/>
          </a:xfrm>
          <a:prstGeom prst="rect">
            <a:avLst/>
          </a:prstGeom>
        </p:spPr>
      </p:pic>
      <p:sp>
        <p:nvSpPr>
          <p:cNvPr id="19" name="Text 16"/>
          <p:cNvSpPr/>
          <p:nvPr/>
        </p:nvSpPr>
        <p:spPr>
          <a:xfrm>
            <a:off x="812800" y="62382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097"/>
                </a:solidFill>
                <a:latin typeface="DM Mono" pitchFamily="49" charset="0"/>
                <a:ea typeface="DM Mono" pitchFamily="49" charset="-122"/>
                <a:cs typeface="DM Mono" pitchFamily="49" charset="-120"/>
              </a:rPr>
              <a:t>Copyright Dobromir Montauk, 2026</a:t>
            </a:r>
            <a:endParaRPr lang="en-US" sz="1200" dirty="0"/>
          </a:p>
        </p:txBody>
      </p:sp>
      <p:sp>
        <p:nvSpPr>
          <p:cNvPr id="20" name="Text 17"/>
          <p:cNvSpPr/>
          <p:nvPr/>
        </p:nvSpPr>
        <p:spPr>
          <a:xfrm>
            <a:off x="10261600" y="6169670"/>
            <a:ext cx="1320800" cy="345430"/>
          </a:xfrm>
          <a:prstGeom prst="rect">
            <a:avLst/>
          </a:prstGeom>
          <a:noFill/>
          <a:ln/>
        </p:spPr>
        <p:txBody>
          <a:bodyPr wrap="square" lIns="0" tIns="0" rIns="0" bIns="0" rtlCol="0" anchor="t">
            <a:normAutofit/>
          </a:bodyPr>
          <a:lstStyle/>
          <a:p>
            <a:pPr algn="r" indent="0" marL="0">
              <a:lnSpc>
                <a:spcPts val="2520"/>
              </a:lnSpc>
              <a:buNone/>
            </a:pPr>
            <a:r>
              <a:rPr lang="en-US" sz="1800" dirty="0">
                <a:solidFill>
                  <a:srgbClr val="63E14F"/>
                </a:solidFill>
                <a:latin typeface="DM Mono" pitchFamily="49" charset="0"/>
                <a:ea typeface="DM Mono" pitchFamily="49" charset="-122"/>
                <a:cs typeface="DM Mono" pitchFamily="49" charset="-120"/>
              </a:rPr>
              <a:t>[ 7 ]</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60607"/>
        </a:solidFill>
      </p:bgPr>
    </p:bg>
    <p:spTree>
      <p:nvGrpSpPr>
        <p:cNvPr id="1" name=""/>
        <p:cNvGrpSpPr/>
        <p:nvPr/>
      </p:nvGrpSpPr>
      <p:grpSpPr>
        <a:xfrm>
          <a:off x="0" y="0"/>
          <a:ext cx="0" cy="0"/>
          <a:chOff x="0" y="0"/>
          <a:chExt cx="0" cy="0"/>
        </a:xfrm>
      </p:grpSpPr>
      <p:sp>
        <p:nvSpPr>
          <p:cNvPr id="2" name="Shape 0"/>
          <p:cNvSpPr/>
          <p:nvPr/>
        </p:nvSpPr>
        <p:spPr>
          <a:xfrm>
            <a:off x="254000" y="0"/>
            <a:ext cx="25400" cy="6858000"/>
          </a:xfrm>
          <a:prstGeom prst="rect">
            <a:avLst/>
          </a:prstGeom>
          <a:gradFill rotWithShape="1">
            <a:gsLst>
              <a:gs pos="0">
                <a:srgbClr val="FF832A"/>
              </a:gs>
              <a:gs pos="35000">
                <a:srgbClr val="FF832A"/>
              </a:gs>
              <a:gs pos="75000">
                <a:srgbClr val="63E14F"/>
              </a:gs>
              <a:gs pos="100000">
                <a:srgbClr val="63E14F"/>
              </a:gs>
            </a:gsLst>
            <a:lin ang="5400000" scaled="0"/>
          </a:gradFill>
          <a:ln/>
        </p:spPr>
      </p:sp>
      <p:sp>
        <p:nvSpPr>
          <p:cNvPr id="3" name="Text 1"/>
          <p:cNvSpPr/>
          <p:nvPr/>
        </p:nvSpPr>
        <p:spPr>
          <a:xfrm>
            <a:off x="812800" y="7112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spc="100" kern="0" dirty="0">
                <a:solidFill>
                  <a:srgbClr val="63E14F"/>
                </a:solidFill>
                <a:latin typeface="DM Mono" pitchFamily="49" charset="0"/>
                <a:ea typeface="DM Mono" pitchFamily="49" charset="-122"/>
                <a:cs typeface="DM Mono" pitchFamily="49" charset="-120"/>
              </a:rPr>
              <a:t>[ TWO DIMENSIONS ]</a:t>
            </a:r>
            <a:endParaRPr lang="en-US" sz="1400" dirty="0"/>
          </a:p>
        </p:txBody>
      </p:sp>
      <p:sp>
        <p:nvSpPr>
          <p:cNvPr id="4" name="Text 2"/>
          <p:cNvSpPr/>
          <p:nvPr>
            <p:ph type="title"/>
          </p:nvPr>
        </p:nvSpPr>
        <p:spPr>
          <a:xfrm>
            <a:off x="812800" y="121409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4F5F7"/>
                </a:solidFill>
                <a:latin typeface="Host Grotesk" pitchFamily="34" charset="0"/>
                <a:ea typeface="Host Grotesk" pitchFamily="34" charset="-122"/>
                <a:cs typeface="Host Grotesk" pitchFamily="34" charset="-120"/>
              </a:rPr>
              <a:t>Strength </a:t>
            </a:r>
            <a:r>
              <a:rPr lang="en-US" sz="3600" b="1" i="0" dirty="0">
                <a:solidFill>
                  <a:srgbClr val="63E14F"/>
                </a:solidFill>
                <a:latin typeface="Host Grotesk" pitchFamily="34" charset="0"/>
                <a:ea typeface="Host Grotesk" pitchFamily="34" charset="-122"/>
                <a:cs typeface="Host Grotesk" pitchFamily="34" charset="-120"/>
              </a:rPr>
              <a:t>× Fit</a:t>
            </a:r>
            <a:endParaRPr lang="en-US" sz="3600" dirty="0"/>
          </a:p>
        </p:txBody>
      </p:sp>
      <p:pic>
        <p:nvPicPr>
          <p:cNvPr id="5" name="Image 0" descr="Two axes, strength up and fit right, with the top-right quadrant lit green">    </p:cNvPr>
          <p:cNvPicPr>
            <a:picLocks noChangeAspect="1"/>
          </p:cNvPicPr>
          <p:nvPr/>
        </p:nvPicPr>
        <p:blipFill>
          <a:blip r:embed="rId1"/>
          <a:srcRect l="0" r="0" t="0" b="0"/>
          <a:stretch/>
        </p:blipFill>
        <p:spPr>
          <a:xfrm>
            <a:off x="812800" y="1970980"/>
            <a:ext cx="4445000" cy="3683000"/>
          </a:xfrm>
          <a:prstGeom prst="rect">
            <a:avLst/>
          </a:prstGeom>
        </p:spPr>
      </p:pic>
      <p:sp>
        <p:nvSpPr>
          <p:cNvPr id="6" name="Text 3"/>
          <p:cNvSpPr/>
          <p:nvPr/>
        </p:nvSpPr>
        <p:spPr>
          <a:xfrm>
            <a:off x="5765800" y="2804120"/>
            <a:ext cx="5781802" cy="402580"/>
          </a:xfrm>
          <a:prstGeom prst="rect">
            <a:avLst/>
          </a:prstGeom>
          <a:noFill/>
          <a:ln/>
        </p:spPr>
        <p:txBody>
          <a:bodyPr wrap="square" lIns="0" tIns="0" rIns="0" bIns="0" rtlCol="0" anchor="t">
            <a:normAutofit/>
          </a:bodyPr>
          <a:lstStyle/>
          <a:p>
            <a:pPr algn="l" indent="0" marL="0">
              <a:lnSpc>
                <a:spcPts val="2970"/>
              </a:lnSpc>
              <a:buNone/>
            </a:pPr>
            <a:r>
              <a:rPr lang="en-US" sz="2200" dirty="0">
                <a:solidFill>
                  <a:srgbClr val="E9ECEF"/>
                </a:solidFill>
                <a:latin typeface="Raleway" pitchFamily="34" charset="0"/>
                <a:ea typeface="Raleway" pitchFamily="34" charset="-122"/>
                <a:cs typeface="Raleway" pitchFamily="34" charset="-120"/>
              </a:rPr>
              <a:t>We want </a:t>
            </a:r>
            <a:r>
              <a:rPr lang="en-US" sz="2200" b="1" dirty="0">
                <a:solidFill>
                  <a:srgbClr val="E9ECEF"/>
                </a:solidFill>
                <a:latin typeface="Raleway" pitchFamily="34" charset="0"/>
                <a:ea typeface="Raleway" pitchFamily="34" charset="-122"/>
                <a:cs typeface="Raleway" pitchFamily="34" charset="-120"/>
              </a:rPr>
              <a:t>top-right</a:t>
            </a:r>
            <a:r>
              <a:rPr lang="en-US" sz="2200" dirty="0">
                <a:solidFill>
                  <a:srgbClr val="E9ECEF"/>
                </a:solidFill>
                <a:latin typeface="Raleway" pitchFamily="34" charset="0"/>
                <a:ea typeface="Raleway" pitchFamily="34" charset="-122"/>
                <a:cs typeface="Raleway" pitchFamily="34" charset="-120"/>
              </a:rPr>
              <a:t> candidates.</a:t>
            </a:r>
            <a:endParaRPr lang="en-US" sz="2200" dirty="0"/>
          </a:p>
        </p:txBody>
      </p:sp>
      <p:sp>
        <p:nvSpPr>
          <p:cNvPr id="7" name="Text 4"/>
          <p:cNvSpPr/>
          <p:nvPr/>
        </p:nvSpPr>
        <p:spPr>
          <a:xfrm>
            <a:off x="5765800" y="3435300"/>
            <a:ext cx="5781802" cy="402580"/>
          </a:xfrm>
          <a:prstGeom prst="rect">
            <a:avLst/>
          </a:prstGeom>
          <a:noFill/>
          <a:ln/>
        </p:spPr>
        <p:txBody>
          <a:bodyPr wrap="square" lIns="0" tIns="0" rIns="0" bIns="0" rtlCol="0" anchor="t">
            <a:normAutofit/>
          </a:bodyPr>
          <a:lstStyle/>
          <a:p>
            <a:pPr algn="l" indent="0" marL="0">
              <a:lnSpc>
                <a:spcPts val="2970"/>
              </a:lnSpc>
              <a:buNone/>
            </a:pPr>
            <a:r>
              <a:rPr lang="en-US" sz="2200" dirty="0">
                <a:solidFill>
                  <a:srgbClr val="E9ECEF"/>
                </a:solidFill>
                <a:latin typeface="Raleway" pitchFamily="34" charset="0"/>
                <a:ea typeface="Raleway" pitchFamily="34" charset="-122"/>
                <a:cs typeface="Raleway" pitchFamily="34" charset="-120"/>
              </a:rPr>
              <a:t>Candidates want </a:t>
            </a:r>
            <a:r>
              <a:rPr lang="en-US" sz="2200" b="1" dirty="0">
                <a:solidFill>
                  <a:srgbClr val="E9ECEF"/>
                </a:solidFill>
                <a:latin typeface="Raleway" pitchFamily="34" charset="0"/>
                <a:ea typeface="Raleway" pitchFamily="34" charset="-122"/>
                <a:cs typeface="Raleway" pitchFamily="34" charset="-120"/>
              </a:rPr>
              <a:t>top-right</a:t>
            </a:r>
            <a:r>
              <a:rPr lang="en-US" sz="2200" dirty="0">
                <a:solidFill>
                  <a:srgbClr val="E9ECEF"/>
                </a:solidFill>
                <a:latin typeface="Raleway" pitchFamily="34" charset="0"/>
                <a:ea typeface="Raleway" pitchFamily="34" charset="-122"/>
                <a:cs typeface="Raleway" pitchFamily="34" charset="-120"/>
              </a:rPr>
              <a:t> companies.</a:t>
            </a:r>
            <a:endParaRPr lang="en-US" sz="2200" dirty="0"/>
          </a:p>
        </p:txBody>
      </p:sp>
      <p:sp>
        <p:nvSpPr>
          <p:cNvPr id="8" name="Text 5"/>
          <p:cNvSpPr/>
          <p:nvPr/>
        </p:nvSpPr>
        <p:spPr>
          <a:xfrm>
            <a:off x="5765800" y="4066480"/>
            <a:ext cx="5781802" cy="779760"/>
          </a:xfrm>
          <a:prstGeom prst="rect">
            <a:avLst/>
          </a:prstGeom>
          <a:noFill/>
          <a:ln/>
        </p:spPr>
        <p:txBody>
          <a:bodyPr wrap="square" lIns="0" tIns="0" rIns="0" bIns="0" rtlCol="0" anchor="t">
            <a:normAutofit/>
          </a:bodyPr>
          <a:lstStyle/>
          <a:p>
            <a:pPr algn="l" indent="0" marL="0">
              <a:lnSpc>
                <a:spcPts val="2970"/>
              </a:lnSpc>
              <a:buNone/>
            </a:pPr>
            <a:r>
              <a:rPr lang="en-US" sz="2200" dirty="0">
                <a:solidFill>
                  <a:srgbClr val="A3A8B0"/>
                </a:solidFill>
                <a:latin typeface="Raleway" pitchFamily="34" charset="0"/>
                <a:ea typeface="Raleway" pitchFamily="34" charset="-122"/>
                <a:cs typeface="Raleway" pitchFamily="34" charset="-120"/>
              </a:rPr>
              <a:t>Neither side ever defines it. Both choose on </a:t>
            </a:r>
            <a:r>
              <a:rPr lang="en-US" sz="2200" dirty="0">
                <a:solidFill>
                  <a:srgbClr val="63E14F"/>
                </a:solidFill>
                <a:latin typeface="Raleway" pitchFamily="34" charset="0"/>
                <a:ea typeface="Raleway" pitchFamily="34" charset="-122"/>
                <a:cs typeface="Raleway" pitchFamily="34" charset="-120"/>
              </a:rPr>
              <a:t>“vibes.”</a:t>
            </a:r>
            <a:endParaRPr lang="en-US" sz="2200" dirty="0"/>
          </a:p>
        </p:txBody>
      </p:sp>
      <p:pic>
        <p:nvPicPr>
          <p:cNvPr id="9" name="Image 1" descr="Mashgin">    </p:cNvPr>
          <p:cNvPicPr>
            <a:picLocks noChangeAspect="1"/>
          </p:cNvPicPr>
          <p:nvPr/>
        </p:nvPicPr>
        <p:blipFill>
          <a:blip r:embed="rId2"/>
          <a:srcRect l="-284" r="-284" t="0" b="0"/>
          <a:stretch/>
        </p:blipFill>
        <p:spPr>
          <a:xfrm>
            <a:off x="10121900" y="406400"/>
            <a:ext cx="1460500" cy="298450"/>
          </a:xfrm>
          <a:prstGeom prst="rect">
            <a:avLst/>
          </a:prstGeom>
        </p:spPr>
      </p:pic>
      <p:sp>
        <p:nvSpPr>
          <p:cNvPr id="10" name="Text 6"/>
          <p:cNvSpPr/>
          <p:nvPr/>
        </p:nvSpPr>
        <p:spPr>
          <a:xfrm>
            <a:off x="812800" y="62382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097"/>
                </a:solidFill>
                <a:latin typeface="DM Mono" pitchFamily="49" charset="0"/>
                <a:ea typeface="DM Mono" pitchFamily="49" charset="-122"/>
                <a:cs typeface="DM Mono" pitchFamily="49" charset="-120"/>
              </a:rPr>
              <a:t>Copyright Dobromir Montauk, 2026</a:t>
            </a:r>
            <a:endParaRPr lang="en-US" sz="1200" dirty="0"/>
          </a:p>
        </p:txBody>
      </p:sp>
      <p:sp>
        <p:nvSpPr>
          <p:cNvPr id="11" name="Text 7"/>
          <p:cNvSpPr/>
          <p:nvPr/>
        </p:nvSpPr>
        <p:spPr>
          <a:xfrm>
            <a:off x="10261600" y="6169670"/>
            <a:ext cx="1320800" cy="345430"/>
          </a:xfrm>
          <a:prstGeom prst="rect">
            <a:avLst/>
          </a:prstGeom>
          <a:noFill/>
          <a:ln/>
        </p:spPr>
        <p:txBody>
          <a:bodyPr wrap="square" lIns="0" tIns="0" rIns="0" bIns="0" rtlCol="0" anchor="t">
            <a:normAutofit/>
          </a:bodyPr>
          <a:lstStyle/>
          <a:p>
            <a:pPr algn="r" indent="0" marL="0">
              <a:lnSpc>
                <a:spcPts val="2520"/>
              </a:lnSpc>
              <a:buNone/>
            </a:pPr>
            <a:r>
              <a:rPr lang="en-US" sz="1800" dirty="0">
                <a:solidFill>
                  <a:srgbClr val="63E14F"/>
                </a:solidFill>
                <a:latin typeface="DM Mono" pitchFamily="49" charset="0"/>
                <a:ea typeface="DM Mono" pitchFamily="49" charset="-122"/>
                <a:cs typeface="DM Mono" pitchFamily="49" charset="-120"/>
              </a:rPr>
              <a:t>[ 8 ]</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60607"/>
        </a:solidFill>
      </p:bgPr>
    </p:bg>
    <p:spTree>
      <p:nvGrpSpPr>
        <p:cNvPr id="1" name=""/>
        <p:cNvGrpSpPr/>
        <p:nvPr/>
      </p:nvGrpSpPr>
      <p:grpSpPr>
        <a:xfrm>
          <a:off x="0" y="0"/>
          <a:ext cx="0" cy="0"/>
          <a:chOff x="0" y="0"/>
          <a:chExt cx="0" cy="0"/>
        </a:xfrm>
      </p:grpSpPr>
      <p:sp>
        <p:nvSpPr>
          <p:cNvPr id="2" name="Shape 0"/>
          <p:cNvSpPr/>
          <p:nvPr/>
        </p:nvSpPr>
        <p:spPr>
          <a:xfrm>
            <a:off x="254000" y="0"/>
            <a:ext cx="25400" cy="6858000"/>
          </a:xfrm>
          <a:prstGeom prst="rect">
            <a:avLst/>
          </a:prstGeom>
          <a:gradFill rotWithShape="1">
            <a:gsLst>
              <a:gs pos="0">
                <a:srgbClr val="FF832A"/>
              </a:gs>
              <a:gs pos="35000">
                <a:srgbClr val="FF832A"/>
              </a:gs>
              <a:gs pos="75000">
                <a:srgbClr val="63E14F"/>
              </a:gs>
              <a:gs pos="100000">
                <a:srgbClr val="63E14F"/>
              </a:gs>
            </a:gsLst>
            <a:lin ang="5400000" scaled="0"/>
          </a:gradFill>
          <a:ln/>
        </p:spPr>
      </p:sp>
      <p:sp>
        <p:nvSpPr>
          <p:cNvPr id="3" name="Text 1"/>
          <p:cNvSpPr/>
          <p:nvPr/>
        </p:nvSpPr>
        <p:spPr>
          <a:xfrm>
            <a:off x="812800" y="711200"/>
            <a:ext cx="10883392" cy="269032"/>
          </a:xfrm>
          <a:prstGeom prst="rect">
            <a:avLst/>
          </a:prstGeom>
          <a:noFill/>
          <a:ln/>
        </p:spPr>
        <p:txBody>
          <a:bodyPr wrap="square" lIns="0" tIns="0" rIns="0" bIns="0" rtlCol="0" anchor="t">
            <a:normAutofit/>
          </a:bodyPr>
          <a:lstStyle/>
          <a:p>
            <a:pPr algn="l" indent="0" marL="0">
              <a:lnSpc>
                <a:spcPts val="1923"/>
              </a:lnSpc>
              <a:buNone/>
            </a:pPr>
            <a:r>
              <a:rPr lang="en-US" sz="1374" spc="100" kern="0" dirty="0">
                <a:solidFill>
                  <a:srgbClr val="63E14F"/>
                </a:solidFill>
                <a:latin typeface="DM Mono" pitchFamily="49" charset="0"/>
                <a:ea typeface="DM Mono" pitchFamily="49" charset="-122"/>
                <a:cs typeface="DM Mono" pitchFamily="49" charset="-120"/>
              </a:rPr>
              <a:t>[ STRENGTH ]</a:t>
            </a:r>
            <a:endParaRPr lang="en-US" sz="1374" dirty="0"/>
          </a:p>
        </p:txBody>
      </p:sp>
      <p:sp>
        <p:nvSpPr>
          <p:cNvPr id="4" name="Text 2"/>
          <p:cNvSpPr/>
          <p:nvPr>
            <p:ph type="title"/>
          </p:nvPr>
        </p:nvSpPr>
        <p:spPr>
          <a:xfrm>
            <a:off x="812800" y="1208832"/>
            <a:ext cx="10883392" cy="517723"/>
          </a:xfrm>
          <a:prstGeom prst="rect">
            <a:avLst/>
          </a:prstGeom>
          <a:noFill/>
          <a:ln/>
        </p:spPr>
        <p:txBody>
          <a:bodyPr wrap="square" lIns="0" tIns="0" rIns="0" bIns="0" rtlCol="0" anchor="t">
            <a:normAutofit/>
          </a:bodyPr>
          <a:lstStyle/>
          <a:p>
            <a:pPr algn="l" indent="0" marL="0">
              <a:lnSpc>
                <a:spcPts val="3923"/>
              </a:lnSpc>
              <a:buNone/>
            </a:pPr>
            <a:r>
              <a:rPr lang="en-US" sz="3566" b="1" i="0" dirty="0">
                <a:solidFill>
                  <a:srgbClr val="F4F5F7"/>
                </a:solidFill>
                <a:latin typeface="Host Grotesk" pitchFamily="34" charset="0"/>
                <a:ea typeface="Host Grotesk" pitchFamily="34" charset="-122"/>
                <a:cs typeface="Host Grotesk" pitchFamily="34" charset="-120"/>
              </a:rPr>
              <a:t>Defining “Strength”: </a:t>
            </a:r>
            <a:r>
              <a:rPr lang="en-US" sz="3566" b="1" i="0" dirty="0">
                <a:solidFill>
                  <a:srgbClr val="63E14F"/>
                </a:solidFill>
                <a:latin typeface="Host Grotesk" pitchFamily="34" charset="0"/>
                <a:ea typeface="Host Grotesk" pitchFamily="34" charset="-122"/>
                <a:cs typeface="Host Grotesk" pitchFamily="34" charset="-120"/>
              </a:rPr>
              <a:t>A</a:t>
            </a:r>
            <a:r>
              <a:rPr lang="en-US" sz="3566" b="1" i="0" dirty="0">
                <a:solidFill>
                  <a:srgbClr val="F4F5F7"/>
                </a:solidFill>
                <a:latin typeface="Host Grotesk" pitchFamily="34" charset="0"/>
                <a:ea typeface="Host Grotesk" pitchFamily="34" charset="-122"/>
                <a:cs typeface="Host Grotesk" pitchFamily="34" charset="-120"/>
              </a:rPr>
              <a:t>, B, C, D players</a:t>
            </a:r>
            <a:endParaRPr lang="en-US" sz="3566" dirty="0"/>
          </a:p>
        </p:txBody>
      </p:sp>
      <p:sp>
        <p:nvSpPr>
          <p:cNvPr id="5" name="Text 3"/>
          <p:cNvSpPr/>
          <p:nvPr/>
        </p:nvSpPr>
        <p:spPr>
          <a:xfrm>
            <a:off x="812800" y="1955155"/>
            <a:ext cx="2603119" cy="520948"/>
          </a:xfrm>
          <a:prstGeom prst="rect">
            <a:avLst/>
          </a:prstGeom>
          <a:noFill/>
          <a:ln/>
        </p:spPr>
        <p:txBody>
          <a:bodyPr wrap="square" lIns="0" tIns="0" rIns="0" bIns="0" rtlCol="0" anchor="t">
            <a:normAutofit/>
          </a:bodyPr>
          <a:lstStyle/>
          <a:p>
            <a:pPr algn="l" indent="0" marL="0">
              <a:lnSpc>
                <a:spcPts val="4000"/>
              </a:lnSpc>
              <a:buNone/>
            </a:pPr>
            <a:r>
              <a:rPr lang="en-US" sz="4000" b="1" dirty="0">
                <a:solidFill>
                  <a:srgbClr val="63E14F"/>
                </a:solidFill>
                <a:latin typeface="Host Grotesk" pitchFamily="34" charset="0"/>
                <a:ea typeface="Host Grotesk" pitchFamily="34" charset="-122"/>
                <a:cs typeface="Host Grotesk" pitchFamily="34" charset="-120"/>
              </a:rPr>
              <a:t>A</a:t>
            </a:r>
            <a:endParaRPr lang="en-US" sz="4000" dirty="0"/>
          </a:p>
        </p:txBody>
      </p:sp>
      <p:sp>
        <p:nvSpPr>
          <p:cNvPr id="6" name="Text 4"/>
          <p:cNvSpPr/>
          <p:nvPr/>
        </p:nvSpPr>
        <p:spPr>
          <a:xfrm>
            <a:off x="3492500" y="1955155"/>
            <a:ext cx="2603119" cy="520948"/>
          </a:xfrm>
          <a:prstGeom prst="rect">
            <a:avLst/>
          </a:prstGeom>
          <a:noFill/>
          <a:ln/>
        </p:spPr>
        <p:txBody>
          <a:bodyPr wrap="square" lIns="0" tIns="0" rIns="0" bIns="0" rtlCol="0" anchor="t">
            <a:normAutofit/>
          </a:bodyPr>
          <a:lstStyle/>
          <a:p>
            <a:pPr algn="l" indent="0" marL="0">
              <a:lnSpc>
                <a:spcPts val="4000"/>
              </a:lnSpc>
              <a:buNone/>
            </a:pPr>
            <a:r>
              <a:rPr lang="en-US" sz="4000" b="1" dirty="0">
                <a:solidFill>
                  <a:srgbClr val="E9ECEF"/>
                </a:solidFill>
                <a:latin typeface="Host Grotesk" pitchFamily="34" charset="0"/>
                <a:ea typeface="Host Grotesk" pitchFamily="34" charset="-122"/>
                <a:cs typeface="Host Grotesk" pitchFamily="34" charset="-120"/>
              </a:rPr>
              <a:t>B</a:t>
            </a:r>
            <a:endParaRPr lang="en-US" sz="4000" dirty="0"/>
          </a:p>
        </p:txBody>
      </p:sp>
      <p:sp>
        <p:nvSpPr>
          <p:cNvPr id="7" name="Text 5"/>
          <p:cNvSpPr/>
          <p:nvPr/>
        </p:nvSpPr>
        <p:spPr>
          <a:xfrm>
            <a:off x="6172200" y="1955155"/>
            <a:ext cx="2603119" cy="520948"/>
          </a:xfrm>
          <a:prstGeom prst="rect">
            <a:avLst/>
          </a:prstGeom>
          <a:noFill/>
          <a:ln/>
        </p:spPr>
        <p:txBody>
          <a:bodyPr wrap="square" lIns="0" tIns="0" rIns="0" bIns="0" rtlCol="0" anchor="t">
            <a:normAutofit/>
          </a:bodyPr>
          <a:lstStyle/>
          <a:p>
            <a:pPr algn="l" indent="0" marL="0">
              <a:lnSpc>
                <a:spcPts val="4000"/>
              </a:lnSpc>
              <a:buNone/>
            </a:pPr>
            <a:r>
              <a:rPr lang="en-US" sz="4000" b="1" dirty="0">
                <a:solidFill>
                  <a:srgbClr val="A3A8B0"/>
                </a:solidFill>
                <a:latin typeface="Host Grotesk" pitchFamily="34" charset="0"/>
                <a:ea typeface="Host Grotesk" pitchFamily="34" charset="-122"/>
                <a:cs typeface="Host Grotesk" pitchFamily="34" charset="-120"/>
              </a:rPr>
              <a:t>C</a:t>
            </a:r>
            <a:endParaRPr lang="en-US" sz="4000" dirty="0"/>
          </a:p>
        </p:txBody>
      </p:sp>
      <p:sp>
        <p:nvSpPr>
          <p:cNvPr id="8" name="Text 6"/>
          <p:cNvSpPr/>
          <p:nvPr/>
        </p:nvSpPr>
        <p:spPr>
          <a:xfrm>
            <a:off x="8851900" y="1955155"/>
            <a:ext cx="2603119" cy="520948"/>
          </a:xfrm>
          <a:prstGeom prst="rect">
            <a:avLst/>
          </a:prstGeom>
          <a:noFill/>
          <a:ln/>
        </p:spPr>
        <p:txBody>
          <a:bodyPr wrap="square" lIns="0" tIns="0" rIns="0" bIns="0" rtlCol="0" anchor="t">
            <a:normAutofit/>
          </a:bodyPr>
          <a:lstStyle/>
          <a:p>
            <a:pPr algn="l" indent="0" marL="0">
              <a:lnSpc>
                <a:spcPts val="4000"/>
              </a:lnSpc>
              <a:buNone/>
            </a:pPr>
            <a:r>
              <a:rPr lang="en-US" sz="4000" b="1" dirty="0">
                <a:solidFill>
                  <a:srgbClr val="FF832A"/>
                </a:solidFill>
                <a:latin typeface="Host Grotesk" pitchFamily="34" charset="0"/>
                <a:ea typeface="Host Grotesk" pitchFamily="34" charset="-122"/>
                <a:cs typeface="Host Grotesk" pitchFamily="34" charset="-120"/>
              </a:rPr>
              <a:t>D</a:t>
            </a:r>
            <a:endParaRPr lang="en-US" sz="4000" dirty="0"/>
          </a:p>
        </p:txBody>
      </p:sp>
      <p:sp>
        <p:nvSpPr>
          <p:cNvPr id="9" name="Text 7"/>
          <p:cNvSpPr/>
          <p:nvPr/>
        </p:nvSpPr>
        <p:spPr>
          <a:xfrm>
            <a:off x="819150" y="2584053"/>
            <a:ext cx="2514600" cy="1696839"/>
          </a:xfrm>
          <a:prstGeom prst="roundRect">
            <a:avLst>
              <a:gd name="adj" fmla="val 5613"/>
            </a:avLst>
          </a:prstGeom>
          <a:solidFill>
            <a:srgbClr val="1A1A1A"/>
          </a:solidFill>
          <a:ln w="12700">
            <a:solidFill>
              <a:srgbClr val="63E14F"/>
            </a:solidFill>
            <a:prstDash val="solid"/>
          </a:ln>
        </p:spPr>
        <p:txBody>
          <a:bodyPr wrap="square" lIns="156252" tIns="156252" rIns="91863" bIns="156252" rtlCol="0" anchor="t">
            <a:normAutofit/>
          </a:bodyPr>
          <a:lstStyle/>
          <a:p>
            <a:pPr algn="l" indent="0" marL="0">
              <a:lnSpc>
                <a:spcPts val="2160"/>
              </a:lnSpc>
              <a:buNone/>
            </a:pPr>
            <a:r>
              <a:rPr lang="en-US" sz="1600" b="1" dirty="0">
                <a:solidFill>
                  <a:srgbClr val="E9ECEF"/>
                </a:solidFill>
                <a:latin typeface="Raleway" pitchFamily="34" charset="0"/>
                <a:ea typeface="Raleway" pitchFamily="34" charset="-122"/>
                <a:cs typeface="Raleway" pitchFamily="34" charset="-120"/>
              </a:rPr>
              <a:t>90%</a:t>
            </a:r>
            <a:r>
              <a:rPr lang="en-US" sz="1600" dirty="0">
                <a:solidFill>
                  <a:srgbClr val="E9ECEF"/>
                </a:solidFill>
                <a:latin typeface="Raleway" pitchFamily="34" charset="0"/>
                <a:ea typeface="Raleway" pitchFamily="34" charset="-122"/>
                <a:cs typeface="Raleway" pitchFamily="34" charset="-120"/>
              </a:rPr>
              <a:t> likely to solve the problems you throw at them.</a:t>
            </a:r>
            <a:endParaRPr lang="en-US" sz="1600" dirty="0"/>
          </a:p>
        </p:txBody>
      </p:sp>
      <p:sp>
        <p:nvSpPr>
          <p:cNvPr id="10" name="Text 8"/>
          <p:cNvSpPr/>
          <p:nvPr/>
        </p:nvSpPr>
        <p:spPr>
          <a:xfrm>
            <a:off x="3498850" y="2584053"/>
            <a:ext cx="2514600" cy="1696839"/>
          </a:xfrm>
          <a:prstGeom prst="roundRect">
            <a:avLst>
              <a:gd name="adj" fmla="val 5613"/>
            </a:avLst>
          </a:prstGeom>
          <a:solidFill>
            <a:srgbClr val="1A1A1A"/>
          </a:solidFill>
          <a:ln w="12700">
            <a:solidFill>
              <a:srgbClr val="2B2B2B"/>
            </a:solidFill>
            <a:prstDash val="solid"/>
          </a:ln>
        </p:spPr>
        <p:txBody>
          <a:bodyPr wrap="square" lIns="156252" tIns="156252" rIns="91863" bIns="156252" rtlCol="0" anchor="t">
            <a:normAutofit/>
          </a:bodyPr>
          <a:lstStyle/>
          <a:p>
            <a:pPr algn="l" indent="0" marL="0">
              <a:lnSpc>
                <a:spcPts val="2160"/>
              </a:lnSpc>
              <a:buNone/>
            </a:pPr>
            <a:r>
              <a:rPr lang="en-US" sz="1600" b="1" dirty="0">
                <a:solidFill>
                  <a:srgbClr val="E9ECEF"/>
                </a:solidFill>
                <a:latin typeface="Raleway" pitchFamily="34" charset="0"/>
                <a:ea typeface="Raleway" pitchFamily="34" charset="-122"/>
                <a:cs typeface="Raleway" pitchFamily="34" charset="-120"/>
              </a:rPr>
              <a:t>75%</a:t>
            </a:r>
            <a:r>
              <a:rPr lang="en-US" sz="1600" dirty="0">
                <a:solidFill>
                  <a:srgbClr val="E9ECEF"/>
                </a:solidFill>
                <a:latin typeface="Raleway" pitchFamily="34" charset="0"/>
                <a:ea typeface="Raleway" pitchFamily="34" charset="-122"/>
                <a:cs typeface="Raleway" pitchFamily="34" charset="-120"/>
              </a:rPr>
              <a:t> likely to solve the problems you throw at them.</a:t>
            </a:r>
            <a:endParaRPr lang="en-US" sz="1600" dirty="0"/>
          </a:p>
        </p:txBody>
      </p:sp>
      <p:sp>
        <p:nvSpPr>
          <p:cNvPr id="11" name="Text 9"/>
          <p:cNvSpPr/>
          <p:nvPr/>
        </p:nvSpPr>
        <p:spPr>
          <a:xfrm>
            <a:off x="6178550" y="2584053"/>
            <a:ext cx="2514600" cy="1696839"/>
          </a:xfrm>
          <a:prstGeom prst="roundRect">
            <a:avLst>
              <a:gd name="adj" fmla="val 5613"/>
            </a:avLst>
          </a:prstGeom>
          <a:solidFill>
            <a:srgbClr val="1A1A1A"/>
          </a:solidFill>
          <a:ln w="12700">
            <a:solidFill>
              <a:srgbClr val="2B2B2B"/>
            </a:solidFill>
            <a:prstDash val="solid"/>
          </a:ln>
        </p:spPr>
        <p:txBody>
          <a:bodyPr wrap="square" lIns="156252" tIns="156252" rIns="91863" bIns="156252" rtlCol="0" anchor="t">
            <a:normAutofit/>
          </a:bodyPr>
          <a:lstStyle/>
          <a:p>
            <a:pPr algn="l" indent="0" marL="0">
              <a:lnSpc>
                <a:spcPts val="2160"/>
              </a:lnSpc>
              <a:buNone/>
            </a:pPr>
            <a:r>
              <a:rPr lang="en-US" sz="1600" b="1" dirty="0">
                <a:solidFill>
                  <a:srgbClr val="E9ECEF"/>
                </a:solidFill>
                <a:latin typeface="Raleway" pitchFamily="34" charset="0"/>
                <a:ea typeface="Raleway" pitchFamily="34" charset="-122"/>
                <a:cs typeface="Raleway" pitchFamily="34" charset="-120"/>
              </a:rPr>
              <a:t>60%</a:t>
            </a:r>
            <a:r>
              <a:rPr lang="en-US" sz="1600" dirty="0">
                <a:solidFill>
                  <a:srgbClr val="E9ECEF"/>
                </a:solidFill>
                <a:latin typeface="Raleway" pitchFamily="34" charset="0"/>
                <a:ea typeface="Raleway" pitchFamily="34" charset="-122"/>
                <a:cs typeface="Raleway" pitchFamily="34" charset="-120"/>
              </a:rPr>
              <a:t> likely to </a:t>
            </a:r>
            <a:r>
              <a:rPr lang="en-US" sz="1600" b="1" dirty="0">
                <a:solidFill>
                  <a:srgbClr val="E9ECEF"/>
                </a:solidFill>
                <a:latin typeface="Raleway" pitchFamily="34" charset="0"/>
                <a:ea typeface="Raleway" pitchFamily="34" charset="-122"/>
                <a:cs typeface="Raleway" pitchFamily="34" charset="-120"/>
              </a:rPr>
              <a:t>FAIL</a:t>
            </a:r>
            <a:r>
              <a:rPr lang="en-US" sz="1600" dirty="0">
                <a:solidFill>
                  <a:srgbClr val="E9ECEF"/>
                </a:solidFill>
                <a:latin typeface="Raleway" pitchFamily="34" charset="0"/>
                <a:ea typeface="Raleway" pitchFamily="34" charset="-122"/>
                <a:cs typeface="Raleway" pitchFamily="34" charset="-120"/>
              </a:rPr>
              <a:t>. Why risk it?</a:t>
            </a:r>
            <a:endParaRPr lang="en-US" sz="1600" dirty="0"/>
          </a:p>
        </p:txBody>
      </p:sp>
      <p:sp>
        <p:nvSpPr>
          <p:cNvPr id="12" name="Text 10"/>
          <p:cNvSpPr/>
          <p:nvPr/>
        </p:nvSpPr>
        <p:spPr>
          <a:xfrm>
            <a:off x="8858250" y="2584053"/>
            <a:ext cx="2514600" cy="1696839"/>
          </a:xfrm>
          <a:prstGeom prst="roundRect">
            <a:avLst>
              <a:gd name="adj" fmla="val 5613"/>
            </a:avLst>
          </a:prstGeom>
          <a:solidFill>
            <a:srgbClr val="1A1A1A"/>
          </a:solidFill>
          <a:ln w="12700">
            <a:solidFill>
              <a:srgbClr val="2B2B2B"/>
            </a:solidFill>
            <a:prstDash val="solid"/>
          </a:ln>
        </p:spPr>
        <p:txBody>
          <a:bodyPr wrap="square" lIns="156252" tIns="156252" rIns="91863" bIns="130852" rtlCol="0" anchor="t">
            <a:normAutofit/>
          </a:bodyPr>
          <a:lstStyle/>
          <a:p>
            <a:pPr algn="l" indent="0" marL="0">
              <a:lnSpc>
                <a:spcPts val="2093"/>
              </a:lnSpc>
              <a:buNone/>
            </a:pPr>
            <a:r>
              <a:rPr lang="en-US" sz="1550" dirty="0">
                <a:solidFill>
                  <a:srgbClr val="E9ECEF"/>
                </a:solidFill>
                <a:latin typeface="Raleway" pitchFamily="34" charset="0"/>
                <a:ea typeface="Raleway" pitchFamily="34" charset="-122"/>
                <a:cs typeface="Raleway" pitchFamily="34" charset="-120"/>
              </a:rPr>
              <a:t>Lowers team productivity, drives away key talent, degrades the codebase.</a:t>
            </a:r>
            <a:endParaRPr lang="en-US" sz="1550" dirty="0"/>
          </a:p>
        </p:txBody>
      </p:sp>
      <p:sp>
        <p:nvSpPr>
          <p:cNvPr id="13" name="Text 11"/>
          <p:cNvSpPr/>
          <p:nvPr/>
        </p:nvSpPr>
        <p:spPr>
          <a:xfrm>
            <a:off x="812800" y="4414242"/>
            <a:ext cx="10883392" cy="216148"/>
          </a:xfrm>
          <a:prstGeom prst="rect">
            <a:avLst/>
          </a:prstGeom>
          <a:noFill/>
          <a:ln/>
        </p:spPr>
        <p:txBody>
          <a:bodyPr wrap="square" lIns="0" tIns="0" rIns="0" bIns="0" rtlCol="0" anchor="t">
            <a:normAutofit/>
          </a:bodyPr>
          <a:lstStyle/>
          <a:p>
            <a:pPr algn="l" indent="0" marL="0">
              <a:lnSpc>
                <a:spcPts val="1521"/>
              </a:lnSpc>
              <a:buNone/>
            </a:pPr>
            <a:r>
              <a:rPr lang="en-US" sz="1086" spc="100" kern="0" dirty="0">
                <a:solidFill>
                  <a:srgbClr val="8B9097"/>
                </a:solidFill>
                <a:latin typeface="DM Mono" pitchFamily="49" charset="0"/>
                <a:ea typeface="DM Mono" pitchFamily="49" charset="-122"/>
                <a:cs typeface="DM Mono" pitchFamily="49" charset="-120"/>
              </a:rPr>
              <a:t>HOW THEY AFFECT OTHERS ↓</a:t>
            </a:r>
            <a:endParaRPr lang="en-US" sz="1086" dirty="0"/>
          </a:p>
        </p:txBody>
      </p:sp>
      <p:sp>
        <p:nvSpPr>
          <p:cNvPr id="14" name="Text 12"/>
          <p:cNvSpPr/>
          <p:nvPr/>
        </p:nvSpPr>
        <p:spPr>
          <a:xfrm>
            <a:off x="819150" y="4738340"/>
            <a:ext cx="2514600" cy="609848"/>
          </a:xfrm>
          <a:prstGeom prst="roundRect">
            <a:avLst>
              <a:gd name="adj" fmla="val 15619"/>
            </a:avLst>
          </a:prstGeom>
          <a:solidFill>
            <a:srgbClr val="1A1A1A"/>
          </a:solidFill>
          <a:ln w="12700">
            <a:solidFill>
              <a:srgbClr val="63E14F"/>
            </a:solidFill>
            <a:prstDash val="solid"/>
          </a:ln>
        </p:spPr>
        <p:txBody>
          <a:bodyPr wrap="square" lIns="156252" tIns="156252" rIns="91863" bIns="130852" rtlCol="0" anchor="t">
            <a:normAutofit/>
          </a:bodyPr>
          <a:lstStyle/>
          <a:p>
            <a:pPr algn="l" indent="0" marL="0">
              <a:lnSpc>
                <a:spcPts val="1924"/>
              </a:lnSpc>
              <a:buNone/>
            </a:pPr>
            <a:r>
              <a:rPr lang="en-US" sz="1425" dirty="0">
                <a:solidFill>
                  <a:srgbClr val="63E14F"/>
                </a:solidFill>
                <a:latin typeface="Raleway" pitchFamily="34" charset="0"/>
                <a:ea typeface="Raleway" pitchFamily="34" charset="-122"/>
                <a:cs typeface="Raleway" pitchFamily="34" charset="-120"/>
              </a:rPr>
              <a:t>Attracts other A players.</a:t>
            </a:r>
            <a:endParaRPr lang="en-US" sz="1425" dirty="0"/>
          </a:p>
        </p:txBody>
      </p:sp>
      <p:sp>
        <p:nvSpPr>
          <p:cNvPr id="15" name="Text 13"/>
          <p:cNvSpPr/>
          <p:nvPr/>
        </p:nvSpPr>
        <p:spPr>
          <a:xfrm>
            <a:off x="3498850" y="4738340"/>
            <a:ext cx="2514600" cy="609848"/>
          </a:xfrm>
          <a:prstGeom prst="roundRect">
            <a:avLst>
              <a:gd name="adj" fmla="val 15619"/>
            </a:avLst>
          </a:prstGeom>
          <a:solidFill>
            <a:srgbClr val="1A1A1A"/>
          </a:solidFill>
          <a:ln w="12700">
            <a:solidFill>
              <a:srgbClr val="2B2B2B"/>
            </a:solidFill>
            <a:prstDash val="solid"/>
          </a:ln>
        </p:spPr>
        <p:txBody>
          <a:bodyPr wrap="square" lIns="156252" tIns="156252" rIns="91863" bIns="130852" rtlCol="0" anchor="t">
            <a:normAutofit/>
          </a:bodyPr>
          <a:lstStyle/>
          <a:p>
            <a:pPr algn="l" indent="0" marL="0">
              <a:lnSpc>
                <a:spcPts val="1924"/>
              </a:lnSpc>
              <a:buNone/>
            </a:pPr>
            <a:r>
              <a:rPr lang="en-US" sz="1425" dirty="0">
                <a:solidFill>
                  <a:srgbClr val="A3A8B0"/>
                </a:solidFill>
                <a:latin typeface="Raleway" pitchFamily="34" charset="0"/>
                <a:ea typeface="Raleway" pitchFamily="34" charset="-122"/>
                <a:cs typeface="Raleway" pitchFamily="34" charset="-120"/>
              </a:rPr>
              <a:t>Can irritate A players.</a:t>
            </a:r>
            <a:endParaRPr lang="en-US" sz="1425" dirty="0"/>
          </a:p>
        </p:txBody>
      </p:sp>
      <p:sp>
        <p:nvSpPr>
          <p:cNvPr id="16" name="Text 14"/>
          <p:cNvSpPr/>
          <p:nvPr/>
        </p:nvSpPr>
        <p:spPr>
          <a:xfrm>
            <a:off x="6178550" y="4738340"/>
            <a:ext cx="2514600" cy="609848"/>
          </a:xfrm>
          <a:prstGeom prst="roundRect">
            <a:avLst>
              <a:gd name="adj" fmla="val 15619"/>
            </a:avLst>
          </a:prstGeom>
          <a:solidFill>
            <a:srgbClr val="1A1A1A"/>
          </a:solidFill>
          <a:ln w="12700">
            <a:solidFill>
              <a:srgbClr val="2B2B2B"/>
            </a:solidFill>
            <a:prstDash val="solid"/>
          </a:ln>
        </p:spPr>
        <p:txBody>
          <a:bodyPr wrap="square" lIns="156252" tIns="156252" rIns="91863" bIns="130852" rtlCol="0" anchor="t">
            <a:normAutofit/>
          </a:bodyPr>
          <a:lstStyle/>
          <a:p>
            <a:pPr algn="l" indent="0" marL="0">
              <a:lnSpc>
                <a:spcPts val="1924"/>
              </a:lnSpc>
              <a:buNone/>
            </a:pPr>
            <a:r>
              <a:rPr lang="en-US" sz="1425" dirty="0">
                <a:solidFill>
                  <a:srgbClr val="A3A8B0"/>
                </a:solidFill>
                <a:latin typeface="Raleway" pitchFamily="34" charset="0"/>
                <a:ea typeface="Raleway" pitchFamily="34" charset="-122"/>
                <a:cs typeface="Raleway" pitchFamily="34" charset="-120"/>
              </a:rPr>
              <a:t>Drives away A players.</a:t>
            </a:r>
            <a:endParaRPr lang="en-US" sz="1425" dirty="0"/>
          </a:p>
        </p:txBody>
      </p:sp>
      <p:sp>
        <p:nvSpPr>
          <p:cNvPr id="17" name="Text 15"/>
          <p:cNvSpPr/>
          <p:nvPr/>
        </p:nvSpPr>
        <p:spPr>
          <a:xfrm>
            <a:off x="8858250" y="4738340"/>
            <a:ext cx="2514600" cy="609848"/>
          </a:xfrm>
          <a:prstGeom prst="roundRect">
            <a:avLst>
              <a:gd name="adj" fmla="val 15619"/>
            </a:avLst>
          </a:prstGeom>
          <a:solidFill>
            <a:srgbClr val="1A1A1A"/>
          </a:solidFill>
          <a:ln w="12700">
            <a:solidFill>
              <a:srgbClr val="2B2B2B"/>
            </a:solidFill>
            <a:prstDash val="solid"/>
          </a:ln>
        </p:spPr>
        <p:txBody>
          <a:bodyPr wrap="square" lIns="156252" tIns="156252" rIns="91863" bIns="130852" rtlCol="0" anchor="t">
            <a:normAutofit/>
          </a:bodyPr>
          <a:lstStyle/>
          <a:p>
            <a:pPr algn="l" indent="0" marL="0">
              <a:lnSpc>
                <a:spcPts val="1924"/>
              </a:lnSpc>
              <a:buNone/>
            </a:pPr>
            <a:r>
              <a:rPr lang="en-US" sz="1425" b="1" dirty="0">
                <a:solidFill>
                  <a:srgbClr val="FF832A"/>
                </a:solidFill>
                <a:latin typeface="Raleway" pitchFamily="34" charset="0"/>
                <a:ea typeface="Raleway" pitchFamily="34" charset="-122"/>
                <a:cs typeface="Raleway" pitchFamily="34" charset="-120"/>
              </a:rPr>
              <a:t>Gets you fired.</a:t>
            </a:r>
            <a:endParaRPr lang="en-US" sz="1425" dirty="0"/>
          </a:p>
        </p:txBody>
      </p:sp>
      <p:sp>
        <p:nvSpPr>
          <p:cNvPr id="18" name="Text 16"/>
          <p:cNvSpPr/>
          <p:nvPr/>
        </p:nvSpPr>
        <p:spPr>
          <a:xfrm>
            <a:off x="812800" y="5557738"/>
            <a:ext cx="10883392" cy="309662"/>
          </a:xfrm>
          <a:prstGeom prst="rect">
            <a:avLst/>
          </a:prstGeom>
          <a:noFill/>
          <a:ln/>
        </p:spPr>
        <p:txBody>
          <a:bodyPr wrap="square" lIns="0" tIns="0" rIns="0" bIns="0" rtlCol="0" anchor="t">
            <a:normAutofit/>
          </a:bodyPr>
          <a:lstStyle/>
          <a:p>
            <a:pPr algn="l" indent="0" marL="0">
              <a:lnSpc>
                <a:spcPts val="2273"/>
              </a:lnSpc>
              <a:buNone/>
            </a:pPr>
            <a:r>
              <a:rPr lang="en-US" sz="1684" dirty="0">
                <a:solidFill>
                  <a:srgbClr val="E9ECEF"/>
                </a:solidFill>
                <a:latin typeface="Raleway" pitchFamily="34" charset="0"/>
                <a:ea typeface="Raleway" pitchFamily="34" charset="-122"/>
                <a:cs typeface="Raleway" pitchFamily="34" charset="-120"/>
              </a:rPr>
              <a:t>* Depends on the role → an </a:t>
            </a:r>
            <a:r>
              <a:rPr lang="en-US" sz="1684" dirty="0">
                <a:solidFill>
                  <a:srgbClr val="63E14F"/>
                </a:solidFill>
                <a:latin typeface="Raleway" pitchFamily="34" charset="0"/>
                <a:ea typeface="Raleway" pitchFamily="34" charset="-122"/>
                <a:cs typeface="Raleway" pitchFamily="34" charset="-120"/>
              </a:rPr>
              <a:t>A player</a:t>
            </a:r>
            <a:r>
              <a:rPr lang="en-US" sz="1684" dirty="0">
                <a:solidFill>
                  <a:srgbClr val="E9ECEF"/>
                </a:solidFill>
                <a:latin typeface="Raleway" pitchFamily="34" charset="0"/>
                <a:ea typeface="Raleway" pitchFamily="34" charset="-122"/>
                <a:cs typeface="Raleway" pitchFamily="34" charset="-120"/>
              </a:rPr>
              <a:t> in one role might be a </a:t>
            </a:r>
            <a:r>
              <a:rPr lang="en-US" sz="1684" dirty="0">
                <a:solidFill>
                  <a:srgbClr val="FF832A"/>
                </a:solidFill>
                <a:latin typeface="Raleway" pitchFamily="34" charset="0"/>
                <a:ea typeface="Raleway" pitchFamily="34" charset="-122"/>
                <a:cs typeface="Raleway" pitchFamily="34" charset="-120"/>
              </a:rPr>
              <a:t>D player</a:t>
            </a:r>
            <a:r>
              <a:rPr lang="en-US" sz="1684" dirty="0">
                <a:solidFill>
                  <a:srgbClr val="E9ECEF"/>
                </a:solidFill>
                <a:latin typeface="Raleway" pitchFamily="34" charset="0"/>
                <a:ea typeface="Raleway" pitchFamily="34" charset="-122"/>
                <a:cs typeface="Raleway" pitchFamily="34" charset="-120"/>
              </a:rPr>
              <a:t> in another!</a:t>
            </a:r>
            <a:endParaRPr lang="en-US" sz="1684" dirty="0"/>
          </a:p>
        </p:txBody>
      </p:sp>
      <p:pic>
        <p:nvPicPr>
          <p:cNvPr id="19" name="Image 0" descr="Mashgin">    </p:cNvPr>
          <p:cNvPicPr>
            <a:picLocks noChangeAspect="1"/>
          </p:cNvPicPr>
          <p:nvPr/>
        </p:nvPicPr>
        <p:blipFill>
          <a:blip r:embed="rId1"/>
          <a:srcRect l="-284" r="-284" t="0" b="0"/>
          <a:stretch/>
        </p:blipFill>
        <p:spPr>
          <a:xfrm>
            <a:off x="10121900" y="406400"/>
            <a:ext cx="1460500" cy="298450"/>
          </a:xfrm>
          <a:prstGeom prst="rect">
            <a:avLst/>
          </a:prstGeom>
        </p:spPr>
      </p:pic>
      <p:sp>
        <p:nvSpPr>
          <p:cNvPr id="20" name="Text 17"/>
          <p:cNvSpPr/>
          <p:nvPr/>
        </p:nvSpPr>
        <p:spPr>
          <a:xfrm>
            <a:off x="812800" y="62382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097"/>
                </a:solidFill>
                <a:latin typeface="DM Mono" pitchFamily="49" charset="0"/>
                <a:ea typeface="DM Mono" pitchFamily="49" charset="-122"/>
                <a:cs typeface="DM Mono" pitchFamily="49" charset="-120"/>
              </a:rPr>
              <a:t>Copyright Dobromir Montauk, 2026</a:t>
            </a:r>
            <a:endParaRPr lang="en-US" sz="1200" dirty="0"/>
          </a:p>
        </p:txBody>
      </p:sp>
      <p:sp>
        <p:nvSpPr>
          <p:cNvPr id="21" name="Text 18"/>
          <p:cNvSpPr/>
          <p:nvPr/>
        </p:nvSpPr>
        <p:spPr>
          <a:xfrm>
            <a:off x="10261600" y="6169670"/>
            <a:ext cx="1320800" cy="345430"/>
          </a:xfrm>
          <a:prstGeom prst="rect">
            <a:avLst/>
          </a:prstGeom>
          <a:noFill/>
          <a:ln/>
        </p:spPr>
        <p:txBody>
          <a:bodyPr wrap="square" lIns="0" tIns="0" rIns="0" bIns="0" rtlCol="0" anchor="t">
            <a:normAutofit/>
          </a:bodyPr>
          <a:lstStyle/>
          <a:p>
            <a:pPr algn="r" indent="0" marL="0">
              <a:lnSpc>
                <a:spcPts val="2520"/>
              </a:lnSpc>
              <a:buNone/>
            </a:pPr>
            <a:r>
              <a:rPr lang="en-US" sz="1800" dirty="0">
                <a:solidFill>
                  <a:srgbClr val="63E14F"/>
                </a:solidFill>
                <a:latin typeface="DM Mono" pitchFamily="49" charset="0"/>
                <a:ea typeface="DM Mono" pitchFamily="49" charset="-122"/>
                <a:cs typeface="DM Mono" pitchFamily="49" charset="-120"/>
              </a:rPr>
              <a:t>[ 9 ]</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60607"/>
        </a:solidFill>
      </p:bgPr>
    </p:bg>
    <p:spTree>
      <p:nvGrpSpPr>
        <p:cNvPr id="1" name=""/>
        <p:cNvGrpSpPr/>
        <p:nvPr/>
      </p:nvGrpSpPr>
      <p:grpSpPr>
        <a:xfrm>
          <a:off x="0" y="0"/>
          <a:ext cx="0" cy="0"/>
          <a:chOff x="0" y="0"/>
          <a:chExt cx="0" cy="0"/>
        </a:xfrm>
      </p:grpSpPr>
      <p:sp>
        <p:nvSpPr>
          <p:cNvPr id="2" name="Shape 0"/>
          <p:cNvSpPr/>
          <p:nvPr/>
        </p:nvSpPr>
        <p:spPr>
          <a:xfrm>
            <a:off x="254000" y="0"/>
            <a:ext cx="25400" cy="6858000"/>
          </a:xfrm>
          <a:prstGeom prst="rect">
            <a:avLst/>
          </a:prstGeom>
          <a:gradFill rotWithShape="1">
            <a:gsLst>
              <a:gs pos="0">
                <a:srgbClr val="FF832A"/>
              </a:gs>
              <a:gs pos="35000">
                <a:srgbClr val="FF832A"/>
              </a:gs>
              <a:gs pos="75000">
                <a:srgbClr val="63E14F"/>
              </a:gs>
              <a:gs pos="100000">
                <a:srgbClr val="63E14F"/>
              </a:gs>
            </a:gsLst>
            <a:lin ang="5400000" scaled="0"/>
          </a:gradFill>
          <a:ln/>
        </p:spPr>
      </p:sp>
      <p:sp>
        <p:nvSpPr>
          <p:cNvPr id="3" name="Text 1"/>
          <p:cNvSpPr/>
          <p:nvPr/>
        </p:nvSpPr>
        <p:spPr>
          <a:xfrm>
            <a:off x="812800" y="711200"/>
            <a:ext cx="10883392" cy="251123"/>
          </a:xfrm>
          <a:prstGeom prst="rect">
            <a:avLst/>
          </a:prstGeom>
          <a:noFill/>
          <a:ln/>
        </p:spPr>
        <p:txBody>
          <a:bodyPr wrap="square" lIns="0" tIns="0" rIns="0" bIns="0" rtlCol="0" anchor="t">
            <a:normAutofit/>
          </a:bodyPr>
          <a:lstStyle/>
          <a:p>
            <a:pPr algn="l" indent="0" marL="0">
              <a:lnSpc>
                <a:spcPts val="1819"/>
              </a:lnSpc>
              <a:buNone/>
            </a:pPr>
            <a:r>
              <a:rPr lang="en-US" sz="1299" spc="100" kern="0" dirty="0">
                <a:solidFill>
                  <a:srgbClr val="63E14F"/>
                </a:solidFill>
                <a:latin typeface="DM Mono" pitchFamily="49" charset="0"/>
                <a:ea typeface="DM Mono" pitchFamily="49" charset="-122"/>
                <a:cs typeface="DM Mono" pitchFamily="49" charset="-120"/>
              </a:rPr>
              <a:t>[ FIT RUNS THREE WAYS ]</a:t>
            </a:r>
            <a:endParaRPr lang="en-US" sz="1299" dirty="0"/>
          </a:p>
        </p:txBody>
      </p:sp>
      <p:sp>
        <p:nvSpPr>
          <p:cNvPr id="4" name="Text 2"/>
          <p:cNvSpPr/>
          <p:nvPr>
            <p:ph type="title"/>
          </p:nvPr>
        </p:nvSpPr>
        <p:spPr>
          <a:xfrm>
            <a:off x="812800" y="1190923"/>
            <a:ext cx="10883392" cy="481459"/>
          </a:xfrm>
          <a:prstGeom prst="rect">
            <a:avLst/>
          </a:prstGeom>
          <a:noFill/>
          <a:ln/>
        </p:spPr>
        <p:txBody>
          <a:bodyPr wrap="square" lIns="0" tIns="0" rIns="0" bIns="0" rtlCol="0" anchor="t">
            <a:normAutofit/>
          </a:bodyPr>
          <a:lstStyle/>
          <a:p>
            <a:pPr algn="l" indent="0" marL="0">
              <a:lnSpc>
                <a:spcPts val="3614"/>
              </a:lnSpc>
              <a:buNone/>
            </a:pPr>
            <a:r>
              <a:rPr lang="en-US" sz="3285" b="1" i="0" dirty="0">
                <a:solidFill>
                  <a:srgbClr val="F4F5F7"/>
                </a:solidFill>
                <a:latin typeface="Host Grotesk" pitchFamily="34" charset="0"/>
                <a:ea typeface="Host Grotesk" pitchFamily="34" charset="-122"/>
                <a:cs typeface="Host Grotesk" pitchFamily="34" charset="-120"/>
              </a:rPr>
              <a:t>Would they be an A player </a:t>
            </a:r>
            <a:r>
              <a:rPr lang="en-US" sz="3285" b="1" i="0" dirty="0">
                <a:solidFill>
                  <a:srgbClr val="63E14F"/>
                </a:solidFill>
                <a:latin typeface="Host Grotesk" pitchFamily="34" charset="0"/>
                <a:ea typeface="Host Grotesk" pitchFamily="34" charset="-122"/>
                <a:cs typeface="Host Grotesk" pitchFamily="34" charset="-120"/>
              </a:rPr>
              <a:t>here?</a:t>
            </a:r>
            <a:endParaRPr lang="en-US" sz="3285" dirty="0"/>
          </a:p>
        </p:txBody>
      </p:sp>
      <p:pic>
        <p:nvPicPr>
          <p:cNvPr id="5" name="Image 0" descr="preencoded.png">    </p:cNvPr>
          <p:cNvPicPr>
            <a:picLocks noChangeAspect="1"/>
          </p:cNvPicPr>
          <p:nvPr/>
        </p:nvPicPr>
        <p:blipFill>
          <a:blip r:embed="rId1"/>
          <a:srcRect l="0" r="0" t="0" b="0"/>
          <a:stretch/>
        </p:blipFill>
        <p:spPr>
          <a:xfrm>
            <a:off x="812800" y="1966466"/>
            <a:ext cx="4064000" cy="3810000"/>
          </a:xfrm>
          <a:prstGeom prst="rect">
            <a:avLst/>
          </a:prstGeom>
        </p:spPr>
      </p:pic>
      <p:sp>
        <p:nvSpPr>
          <p:cNvPr id="6" name="Shape 3"/>
          <p:cNvSpPr/>
          <p:nvPr/>
        </p:nvSpPr>
        <p:spPr>
          <a:xfrm>
            <a:off x="5289550" y="1705372"/>
            <a:ext cx="6083300" cy="1017191"/>
          </a:xfrm>
          <a:prstGeom prst="roundRect">
            <a:avLst>
              <a:gd name="adj" fmla="val 9364"/>
            </a:avLst>
          </a:prstGeom>
          <a:solidFill>
            <a:srgbClr val="1A1A1A"/>
          </a:solidFill>
          <a:ln w="12700">
            <a:solidFill>
              <a:srgbClr val="63E14F"/>
            </a:solidFill>
            <a:prstDash val="solid"/>
          </a:ln>
        </p:spPr>
      </p:sp>
      <p:sp>
        <p:nvSpPr>
          <p:cNvPr id="7" name="Text 4"/>
          <p:cNvSpPr/>
          <p:nvPr/>
        </p:nvSpPr>
        <p:spPr>
          <a:xfrm>
            <a:off x="5499100" y="1914922"/>
            <a:ext cx="5834126"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3E14F"/>
                </a:solidFill>
                <a:latin typeface="DM Mono" pitchFamily="49" charset="0"/>
                <a:ea typeface="DM Mono" pitchFamily="49" charset="-122"/>
                <a:cs typeface="DM Mono" pitchFamily="49" charset="-120"/>
              </a:rPr>
              <a:t>EMPLOYEE</a:t>
            </a:r>
            <a:endParaRPr lang="en-US" sz="1200" dirty="0"/>
          </a:p>
        </p:txBody>
      </p:sp>
      <p:sp>
        <p:nvSpPr>
          <p:cNvPr id="8" name="Text 5"/>
          <p:cNvSpPr/>
          <p:nvPr/>
        </p:nvSpPr>
        <p:spPr>
          <a:xfrm>
            <a:off x="5499100" y="2204442"/>
            <a:ext cx="5834126" cy="333970"/>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E9ECEF"/>
                </a:solidFill>
                <a:latin typeface="Raleway" pitchFamily="34" charset="0"/>
                <a:ea typeface="Raleway" pitchFamily="34" charset="-122"/>
                <a:cs typeface="Raleway" pitchFamily="34" charset="-120"/>
              </a:rPr>
              <a:t>Skill / Will “vector”</a:t>
            </a:r>
            <a:endParaRPr lang="en-US" sz="1800" dirty="0"/>
          </a:p>
        </p:txBody>
      </p:sp>
      <p:sp>
        <p:nvSpPr>
          <p:cNvPr id="9" name="Shape 6"/>
          <p:cNvSpPr/>
          <p:nvPr/>
        </p:nvSpPr>
        <p:spPr>
          <a:xfrm>
            <a:off x="5289550" y="2887663"/>
            <a:ext cx="6083300" cy="1967706"/>
          </a:xfrm>
          <a:prstGeom prst="roundRect">
            <a:avLst>
              <a:gd name="adj" fmla="val 4841"/>
            </a:avLst>
          </a:prstGeom>
          <a:solidFill>
            <a:srgbClr val="1A1A1A"/>
          </a:solidFill>
          <a:ln w="12700">
            <a:solidFill>
              <a:srgbClr val="FF832A"/>
            </a:solidFill>
            <a:prstDash val="solid"/>
          </a:ln>
        </p:spPr>
      </p:sp>
      <p:sp>
        <p:nvSpPr>
          <p:cNvPr id="10" name="Text 7"/>
          <p:cNvSpPr/>
          <p:nvPr/>
        </p:nvSpPr>
        <p:spPr>
          <a:xfrm>
            <a:off x="5499100" y="3097213"/>
            <a:ext cx="5834126"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F832A"/>
                </a:solidFill>
                <a:latin typeface="DM Mono" pitchFamily="49" charset="0"/>
                <a:ea typeface="DM Mono" pitchFamily="49" charset="-122"/>
                <a:cs typeface="DM Mono" pitchFamily="49" charset="-120"/>
              </a:rPr>
              <a:t>ROLE</a:t>
            </a:r>
            <a:endParaRPr lang="en-US" sz="1200" dirty="0"/>
          </a:p>
        </p:txBody>
      </p:sp>
      <p:sp>
        <p:nvSpPr>
          <p:cNvPr id="11" name="Text 8"/>
          <p:cNvSpPr/>
          <p:nvPr/>
        </p:nvSpPr>
        <p:spPr>
          <a:xfrm>
            <a:off x="5499100" y="3386733"/>
            <a:ext cx="5834126" cy="951111"/>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E9ECEF"/>
                </a:solidFill>
                <a:latin typeface="Raleway" pitchFamily="34" charset="0"/>
                <a:ea typeface="Raleway" pitchFamily="34" charset="-122"/>
                <a:cs typeface="Raleway" pitchFamily="34" charset="-120"/>
              </a:rPr>
              <a:t>Too big</a:t>
            </a:r>
            <a:endParaRPr lang="en-US" sz="1800" dirty="0"/>
          </a:p>
          <a:p>
            <a:pPr algn="l" indent="0" marL="0">
              <a:lnSpc>
                <a:spcPts val="2430"/>
              </a:lnSpc>
              <a:buNone/>
            </a:pPr>
            <a:r>
              <a:rPr lang="en-US" sz="1800" dirty="0">
                <a:solidFill>
                  <a:srgbClr val="E9ECEF"/>
                </a:solidFill>
                <a:latin typeface="Raleway" pitchFamily="34" charset="0"/>
                <a:ea typeface="Raleway" pitchFamily="34" charset="-122"/>
                <a:cs typeface="Raleway" pitchFamily="34" charset="-120"/>
              </a:rPr>
              <a:t>Too small</a:t>
            </a:r>
            <a:endParaRPr lang="en-US" sz="1800" dirty="0"/>
          </a:p>
          <a:p>
            <a:pPr algn="l" indent="0" marL="0">
              <a:lnSpc>
                <a:spcPts val="2430"/>
              </a:lnSpc>
              <a:buNone/>
            </a:pPr>
            <a:r>
              <a:rPr lang="en-US" sz="1800" dirty="0">
                <a:solidFill>
                  <a:srgbClr val="E9ECEF"/>
                </a:solidFill>
                <a:latin typeface="Raleway" pitchFamily="34" charset="0"/>
                <a:ea typeface="Raleway" pitchFamily="34" charset="-122"/>
                <a:cs typeface="Raleway" pitchFamily="34" charset="-120"/>
              </a:rPr>
              <a:t>Not interesting</a:t>
            </a:r>
            <a:endParaRPr lang="en-US" sz="1800" dirty="0"/>
          </a:p>
        </p:txBody>
      </p:sp>
      <p:sp>
        <p:nvSpPr>
          <p:cNvPr id="12" name="Text 9"/>
          <p:cNvSpPr/>
          <p:nvPr/>
        </p:nvSpPr>
        <p:spPr>
          <a:xfrm>
            <a:off x="5499100" y="4388644"/>
            <a:ext cx="5834126"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A3A8B0"/>
                </a:solidFill>
                <a:latin typeface="Raleway" pitchFamily="34" charset="0"/>
                <a:ea typeface="Raleway" pitchFamily="34" charset="-122"/>
                <a:cs typeface="Raleway" pitchFamily="34" charset="-120"/>
              </a:rPr>
              <a:t>“Goldilocks problem”</a:t>
            </a:r>
            <a:endParaRPr lang="en-US" sz="1500" dirty="0"/>
          </a:p>
        </p:txBody>
      </p:sp>
      <p:sp>
        <p:nvSpPr>
          <p:cNvPr id="13" name="Shape 10"/>
          <p:cNvSpPr/>
          <p:nvPr/>
        </p:nvSpPr>
        <p:spPr>
          <a:xfrm>
            <a:off x="5289550" y="5020469"/>
            <a:ext cx="6083300" cy="1017191"/>
          </a:xfrm>
          <a:prstGeom prst="roundRect">
            <a:avLst>
              <a:gd name="adj" fmla="val 9364"/>
            </a:avLst>
          </a:prstGeom>
          <a:solidFill>
            <a:srgbClr val="1A1A1A"/>
          </a:solidFill>
          <a:ln w="12700">
            <a:solidFill>
              <a:srgbClr val="45C7AB"/>
            </a:solidFill>
            <a:prstDash val="solid"/>
          </a:ln>
        </p:spPr>
      </p:sp>
      <p:sp>
        <p:nvSpPr>
          <p:cNvPr id="14" name="Text 11"/>
          <p:cNvSpPr/>
          <p:nvPr/>
        </p:nvSpPr>
        <p:spPr>
          <a:xfrm>
            <a:off x="5499100" y="5230019"/>
            <a:ext cx="5834126"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45C7AB"/>
                </a:solidFill>
                <a:latin typeface="DM Mono" pitchFamily="49" charset="0"/>
                <a:ea typeface="DM Mono" pitchFamily="49" charset="-122"/>
                <a:cs typeface="DM Mono" pitchFamily="49" charset="-120"/>
              </a:rPr>
              <a:t>COMPANY</a:t>
            </a:r>
            <a:endParaRPr lang="en-US" sz="1200" dirty="0"/>
          </a:p>
        </p:txBody>
      </p:sp>
      <p:sp>
        <p:nvSpPr>
          <p:cNvPr id="15" name="Text 12"/>
          <p:cNvSpPr/>
          <p:nvPr/>
        </p:nvSpPr>
        <p:spPr>
          <a:xfrm>
            <a:off x="5499100" y="5519539"/>
            <a:ext cx="5834126" cy="333970"/>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E9ECEF"/>
                </a:solidFill>
                <a:latin typeface="Raleway" pitchFamily="34" charset="0"/>
                <a:ea typeface="Raleway" pitchFamily="34" charset="-122"/>
                <a:cs typeface="Raleway" pitchFamily="34" charset="-120"/>
              </a:rPr>
              <a:t>Culture: “the unspoken rules”</a:t>
            </a:r>
            <a:endParaRPr lang="en-US" sz="1800" dirty="0"/>
          </a:p>
        </p:txBody>
      </p:sp>
      <p:pic>
        <p:nvPicPr>
          <p:cNvPr id="16" name="Image 1" descr="Mashgin">    </p:cNvPr>
          <p:cNvPicPr>
            <a:picLocks noChangeAspect="1"/>
          </p:cNvPicPr>
          <p:nvPr/>
        </p:nvPicPr>
        <p:blipFill>
          <a:blip r:embed="rId2"/>
          <a:srcRect l="-284" r="-284" t="0" b="0"/>
          <a:stretch/>
        </p:blipFill>
        <p:spPr>
          <a:xfrm>
            <a:off x="10121900" y="406400"/>
            <a:ext cx="1460500" cy="298450"/>
          </a:xfrm>
          <a:prstGeom prst="rect">
            <a:avLst/>
          </a:prstGeom>
        </p:spPr>
      </p:pic>
      <p:sp>
        <p:nvSpPr>
          <p:cNvPr id="17" name="Text 13"/>
          <p:cNvSpPr/>
          <p:nvPr/>
        </p:nvSpPr>
        <p:spPr>
          <a:xfrm>
            <a:off x="812800" y="62382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097"/>
                </a:solidFill>
                <a:latin typeface="DM Mono" pitchFamily="49" charset="0"/>
                <a:ea typeface="DM Mono" pitchFamily="49" charset="-122"/>
                <a:cs typeface="DM Mono" pitchFamily="49" charset="-120"/>
              </a:rPr>
              <a:t>Copyright Dobromir Montauk, 2026</a:t>
            </a:r>
            <a:endParaRPr lang="en-US" sz="1200" dirty="0"/>
          </a:p>
        </p:txBody>
      </p:sp>
      <p:sp>
        <p:nvSpPr>
          <p:cNvPr id="18" name="Text 14"/>
          <p:cNvSpPr/>
          <p:nvPr/>
        </p:nvSpPr>
        <p:spPr>
          <a:xfrm>
            <a:off x="10261600" y="6169670"/>
            <a:ext cx="1320800" cy="345430"/>
          </a:xfrm>
          <a:prstGeom prst="rect">
            <a:avLst/>
          </a:prstGeom>
          <a:noFill/>
          <a:ln/>
        </p:spPr>
        <p:txBody>
          <a:bodyPr wrap="square" lIns="0" tIns="0" rIns="0" bIns="0" rtlCol="0" anchor="t">
            <a:normAutofit/>
          </a:bodyPr>
          <a:lstStyle/>
          <a:p>
            <a:pPr algn="r" indent="0" marL="0">
              <a:lnSpc>
                <a:spcPts val="2520"/>
              </a:lnSpc>
              <a:buNone/>
            </a:pPr>
            <a:r>
              <a:rPr lang="en-US" sz="1800" dirty="0">
                <a:solidFill>
                  <a:srgbClr val="63E14F"/>
                </a:solidFill>
                <a:latin typeface="DM Mono" pitchFamily="49" charset="0"/>
                <a:ea typeface="DM Mono" pitchFamily="49" charset="-122"/>
                <a:cs typeface="DM Mono" pitchFamily="49" charset="-120"/>
              </a:rPr>
              <a:t>[ 10 ]</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60607"/>
        </a:solidFill>
      </p:bgPr>
    </p:bg>
    <p:spTree>
      <p:nvGrpSpPr>
        <p:cNvPr id="1" name=""/>
        <p:cNvGrpSpPr/>
        <p:nvPr/>
      </p:nvGrpSpPr>
      <p:grpSpPr>
        <a:xfrm>
          <a:off x="0" y="0"/>
          <a:ext cx="0" cy="0"/>
          <a:chOff x="0" y="0"/>
          <a:chExt cx="0" cy="0"/>
        </a:xfrm>
      </p:grpSpPr>
      <p:sp>
        <p:nvSpPr>
          <p:cNvPr id="2" name="Shape 0"/>
          <p:cNvSpPr/>
          <p:nvPr/>
        </p:nvSpPr>
        <p:spPr>
          <a:xfrm>
            <a:off x="254000" y="0"/>
            <a:ext cx="25400" cy="6858000"/>
          </a:xfrm>
          <a:prstGeom prst="rect">
            <a:avLst/>
          </a:prstGeom>
          <a:gradFill rotWithShape="1">
            <a:gsLst>
              <a:gs pos="0">
                <a:srgbClr val="FF832A"/>
              </a:gs>
              <a:gs pos="35000">
                <a:srgbClr val="FF832A"/>
              </a:gs>
              <a:gs pos="75000">
                <a:srgbClr val="63E14F"/>
              </a:gs>
              <a:gs pos="100000">
                <a:srgbClr val="63E14F"/>
              </a:gs>
            </a:gsLst>
            <a:lin ang="5400000" scaled="0"/>
          </a:gradFill>
          <a:ln/>
        </p:spPr>
      </p:sp>
      <p:sp>
        <p:nvSpPr>
          <p:cNvPr id="3" name="Text 1"/>
          <p:cNvSpPr/>
          <p:nvPr/>
        </p:nvSpPr>
        <p:spPr>
          <a:xfrm>
            <a:off x="812800" y="7112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spc="100" kern="0" dirty="0">
                <a:solidFill>
                  <a:srgbClr val="63E14F"/>
                </a:solidFill>
                <a:latin typeface="DM Mono" pitchFamily="49" charset="0"/>
                <a:ea typeface="DM Mono" pitchFamily="49" charset="-122"/>
                <a:cs typeface="DM Mono" pitchFamily="49" charset="-120"/>
              </a:rPr>
              <a:t>[ WHAT IS AN A PLAYER? ]</a:t>
            </a:r>
            <a:endParaRPr lang="en-US" sz="1400" dirty="0"/>
          </a:p>
        </p:txBody>
      </p:sp>
      <p:sp>
        <p:nvSpPr>
          <p:cNvPr id="4" name="Text 2"/>
          <p:cNvSpPr/>
          <p:nvPr>
            <p:ph type="title"/>
          </p:nvPr>
        </p:nvSpPr>
        <p:spPr>
          <a:xfrm>
            <a:off x="812800" y="1214090"/>
            <a:ext cx="10883392" cy="103118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4F5F7"/>
                </a:solidFill>
                <a:latin typeface="Host Grotesk" pitchFamily="34" charset="0"/>
                <a:ea typeface="Host Grotesk" pitchFamily="34" charset="-122"/>
                <a:cs typeface="Host Grotesk" pitchFamily="34" charset="-120"/>
              </a:rPr>
              <a:t>Anyone can get lucky.</a:t>
            </a:r>
            <a:endParaRPr lang="en-US" sz="3600" dirty="0"/>
          </a:p>
          <a:p>
            <a:pPr algn="l" indent="0" marL="0">
              <a:lnSpc>
                <a:spcPts val="3960"/>
              </a:lnSpc>
              <a:buNone/>
            </a:pPr>
            <a:r>
              <a:rPr lang="en-US" sz="3600" b="1" i="0" dirty="0">
                <a:solidFill>
                  <a:srgbClr val="63E14F"/>
                </a:solidFill>
                <a:latin typeface="Host Grotesk" pitchFamily="34" charset="0"/>
                <a:ea typeface="Host Grotesk" pitchFamily="34" charset="-122"/>
                <a:cs typeface="Host Grotesk" pitchFamily="34" charset="-120"/>
              </a:rPr>
              <a:t>A players bat with consistency.</a:t>
            </a:r>
            <a:endParaRPr lang="en-US" sz="3600" dirty="0"/>
          </a:p>
        </p:txBody>
      </p:sp>
      <p:sp>
        <p:nvSpPr>
          <p:cNvPr id="5" name="Text 3"/>
          <p:cNvSpPr/>
          <p:nvPr/>
        </p:nvSpPr>
        <p:spPr>
          <a:xfrm>
            <a:off x="812800" y="3200995"/>
            <a:ext cx="1962150" cy="292100"/>
          </a:xfrm>
          <a:prstGeom prst="rect">
            <a:avLst/>
          </a:prstGeom>
          <a:noFill/>
          <a:ln/>
        </p:spPr>
        <p:txBody>
          <a:bodyPr wrap="square" lIns="0" tIns="0" rIns="0" bIns="0" rtlCol="0" anchor="t">
            <a:normAutofit/>
          </a:bodyPr>
          <a:lstStyle/>
          <a:p>
            <a:pPr algn="l" indent="0" marL="0">
              <a:lnSpc>
                <a:spcPts val="2100"/>
              </a:lnSpc>
              <a:buNone/>
            </a:pPr>
            <a:r>
              <a:rPr lang="en-US" sz="1500" spc="100" kern="0" dirty="0">
                <a:solidFill>
                  <a:srgbClr val="63E14F"/>
                </a:solidFill>
                <a:latin typeface="DM Mono" pitchFamily="49" charset="0"/>
                <a:ea typeface="DM Mono" pitchFamily="49" charset="-122"/>
                <a:cs typeface="DM Mono" pitchFamily="49" charset="-120"/>
              </a:rPr>
              <a:t>A PLAYER</a:t>
            </a:r>
            <a:endParaRPr lang="en-US" sz="1500" dirty="0"/>
          </a:p>
        </p:txBody>
      </p:sp>
      <p:pic>
        <p:nvPicPr>
          <p:cNvPr id="6" name="Image 0" descr="preencoded.png">    </p:cNvPr>
          <p:cNvPicPr>
            <a:picLocks noChangeAspect="1"/>
          </p:cNvPicPr>
          <p:nvPr/>
        </p:nvPicPr>
        <p:blipFill>
          <a:blip r:embed="rId1"/>
          <a:srcRect l="0" r="0" t="0" b="0"/>
          <a:stretch/>
        </p:blipFill>
        <p:spPr>
          <a:xfrm>
            <a:off x="2971800" y="3105745"/>
            <a:ext cx="4572000" cy="457200"/>
          </a:xfrm>
          <a:prstGeom prst="rect">
            <a:avLst/>
          </a:prstGeom>
        </p:spPr>
      </p:pic>
      <p:sp>
        <p:nvSpPr>
          <p:cNvPr id="7" name="Text 4"/>
          <p:cNvSpPr/>
          <p:nvPr/>
        </p:nvSpPr>
        <p:spPr>
          <a:xfrm>
            <a:off x="7797800" y="3200995"/>
            <a:ext cx="914400" cy="292100"/>
          </a:xfrm>
          <a:prstGeom prst="rect">
            <a:avLst/>
          </a:prstGeom>
          <a:noFill/>
          <a:ln/>
        </p:spPr>
        <p:txBody>
          <a:bodyPr wrap="square" lIns="0" tIns="0" rIns="0" bIns="0" rtlCol="0" anchor="t">
            <a:normAutofit/>
          </a:bodyPr>
          <a:lstStyle/>
          <a:p>
            <a:pPr algn="l" indent="0" marL="0">
              <a:lnSpc>
                <a:spcPts val="2100"/>
              </a:lnSpc>
              <a:buNone/>
            </a:pPr>
            <a:r>
              <a:rPr lang="en-US" sz="1500" spc="100" kern="0" dirty="0">
                <a:solidFill>
                  <a:srgbClr val="63E14F"/>
                </a:solidFill>
                <a:latin typeface="DM Mono" pitchFamily="49" charset="0"/>
                <a:ea typeface="DM Mono" pitchFamily="49" charset="-122"/>
                <a:cs typeface="DM Mono" pitchFamily="49" charset="-120"/>
              </a:rPr>
              <a:t>9 / 10</a:t>
            </a:r>
            <a:endParaRPr lang="en-US" sz="1500" dirty="0"/>
          </a:p>
        </p:txBody>
      </p:sp>
      <p:sp>
        <p:nvSpPr>
          <p:cNvPr id="8" name="Text 5"/>
          <p:cNvSpPr/>
          <p:nvPr/>
        </p:nvSpPr>
        <p:spPr>
          <a:xfrm>
            <a:off x="812800" y="4064595"/>
            <a:ext cx="1962150" cy="292100"/>
          </a:xfrm>
          <a:prstGeom prst="rect">
            <a:avLst/>
          </a:prstGeom>
          <a:noFill/>
          <a:ln/>
        </p:spPr>
        <p:txBody>
          <a:bodyPr wrap="square" lIns="0" tIns="0" rIns="0" bIns="0" rtlCol="0" anchor="t">
            <a:normAutofit/>
          </a:bodyPr>
          <a:lstStyle/>
          <a:p>
            <a:pPr algn="l" indent="0" marL="0">
              <a:lnSpc>
                <a:spcPts val="2100"/>
              </a:lnSpc>
              <a:buNone/>
            </a:pPr>
            <a:r>
              <a:rPr lang="en-US" sz="1500" spc="100" kern="0" dirty="0">
                <a:solidFill>
                  <a:srgbClr val="FF832A"/>
                </a:solidFill>
                <a:latin typeface="DM Mono" pitchFamily="49" charset="0"/>
                <a:ea typeface="DM Mono" pitchFamily="49" charset="-122"/>
                <a:cs typeface="DM Mono" pitchFamily="49" charset="-120"/>
              </a:rPr>
              <a:t>GOT LUCKY</a:t>
            </a:r>
            <a:endParaRPr lang="en-US" sz="1500" dirty="0"/>
          </a:p>
        </p:txBody>
      </p:sp>
      <p:pic>
        <p:nvPicPr>
          <p:cNvPr id="9" name="Image 1" descr="preencoded.png">    </p:cNvPr>
          <p:cNvPicPr>
            <a:picLocks noChangeAspect="1"/>
          </p:cNvPicPr>
          <p:nvPr/>
        </p:nvPicPr>
        <p:blipFill>
          <a:blip r:embed="rId2"/>
          <a:srcRect l="0" r="0" t="0" b="0"/>
          <a:stretch/>
        </p:blipFill>
        <p:spPr>
          <a:xfrm>
            <a:off x="2971800" y="3969345"/>
            <a:ext cx="4572000" cy="457200"/>
          </a:xfrm>
          <a:prstGeom prst="rect">
            <a:avLst/>
          </a:prstGeom>
        </p:spPr>
      </p:pic>
      <p:sp>
        <p:nvSpPr>
          <p:cNvPr id="10" name="Text 6"/>
          <p:cNvSpPr/>
          <p:nvPr/>
        </p:nvSpPr>
        <p:spPr>
          <a:xfrm>
            <a:off x="7797800" y="4064595"/>
            <a:ext cx="914400" cy="292100"/>
          </a:xfrm>
          <a:prstGeom prst="rect">
            <a:avLst/>
          </a:prstGeom>
          <a:noFill/>
          <a:ln/>
        </p:spPr>
        <p:txBody>
          <a:bodyPr wrap="square" lIns="0" tIns="0" rIns="0" bIns="0" rtlCol="0" anchor="t">
            <a:normAutofit/>
          </a:bodyPr>
          <a:lstStyle/>
          <a:p>
            <a:pPr algn="l" indent="0" marL="0">
              <a:lnSpc>
                <a:spcPts val="2100"/>
              </a:lnSpc>
              <a:buNone/>
            </a:pPr>
            <a:r>
              <a:rPr lang="en-US" sz="1500" spc="100" kern="0" dirty="0">
                <a:solidFill>
                  <a:srgbClr val="FF832A"/>
                </a:solidFill>
                <a:latin typeface="DM Mono" pitchFamily="49" charset="0"/>
                <a:ea typeface="DM Mono" pitchFamily="49" charset="-122"/>
                <a:cs typeface="DM Mono" pitchFamily="49" charset="-120"/>
              </a:rPr>
              <a:t>1 / 10</a:t>
            </a:r>
            <a:endParaRPr lang="en-US" sz="1500" dirty="0"/>
          </a:p>
        </p:txBody>
      </p:sp>
      <p:sp>
        <p:nvSpPr>
          <p:cNvPr id="11" name="Text 7"/>
          <p:cNvSpPr/>
          <p:nvPr/>
        </p:nvSpPr>
        <p:spPr>
          <a:xfrm>
            <a:off x="812800" y="4832945"/>
            <a:ext cx="10883392" cy="402580"/>
          </a:xfrm>
          <a:prstGeom prst="rect">
            <a:avLst/>
          </a:prstGeom>
          <a:noFill/>
          <a:ln/>
        </p:spPr>
        <p:txBody>
          <a:bodyPr wrap="square" lIns="0" tIns="0" rIns="0" bIns="0" rtlCol="0" anchor="t">
            <a:normAutofit/>
          </a:bodyPr>
          <a:lstStyle/>
          <a:p>
            <a:pPr algn="l" indent="0" marL="0">
              <a:lnSpc>
                <a:spcPts val="2970"/>
              </a:lnSpc>
              <a:buNone/>
            </a:pPr>
            <a:r>
              <a:rPr lang="en-US" sz="2200" dirty="0">
                <a:solidFill>
                  <a:srgbClr val="E9ECEF"/>
                </a:solidFill>
                <a:latin typeface="Raleway" pitchFamily="34" charset="0"/>
                <a:ea typeface="Raleway" pitchFamily="34" charset="-122"/>
                <a:cs typeface="Raleway" pitchFamily="34" charset="-120"/>
              </a:rPr>
              <a:t>Look for a </a:t>
            </a:r>
            <a:r>
              <a:rPr lang="en-US" sz="2200" dirty="0">
                <a:solidFill>
                  <a:srgbClr val="63E14F"/>
                </a:solidFill>
                <a:latin typeface="Raleway" pitchFamily="34" charset="0"/>
                <a:ea typeface="Raleway" pitchFamily="34" charset="-122"/>
                <a:cs typeface="Raleway" pitchFamily="34" charset="-120"/>
              </a:rPr>
              <a:t>track record of winning</a:t>
            </a:r>
            <a:r>
              <a:rPr lang="en-US" sz="2200" dirty="0">
                <a:solidFill>
                  <a:srgbClr val="E9ECEF"/>
                </a:solidFill>
                <a:latin typeface="Raleway" pitchFamily="34" charset="0"/>
                <a:ea typeface="Raleway" pitchFamily="34" charset="-122"/>
                <a:cs typeface="Raleway" pitchFamily="34" charset="-120"/>
              </a:rPr>
              <a:t>, not just one home run.</a:t>
            </a:r>
            <a:endParaRPr lang="en-US" sz="2200" dirty="0"/>
          </a:p>
        </p:txBody>
      </p:sp>
      <p:pic>
        <p:nvPicPr>
          <p:cNvPr id="12" name="Image 2" descr="Mashgin">    </p:cNvPr>
          <p:cNvPicPr>
            <a:picLocks noChangeAspect="1"/>
          </p:cNvPicPr>
          <p:nvPr/>
        </p:nvPicPr>
        <p:blipFill>
          <a:blip r:embed="rId3"/>
          <a:srcRect l="-284" r="-284" t="0" b="0"/>
          <a:stretch/>
        </p:blipFill>
        <p:spPr>
          <a:xfrm>
            <a:off x="10121900" y="406400"/>
            <a:ext cx="1460500" cy="298450"/>
          </a:xfrm>
          <a:prstGeom prst="rect">
            <a:avLst/>
          </a:prstGeom>
        </p:spPr>
      </p:pic>
      <p:sp>
        <p:nvSpPr>
          <p:cNvPr id="13" name="Text 8"/>
          <p:cNvSpPr/>
          <p:nvPr/>
        </p:nvSpPr>
        <p:spPr>
          <a:xfrm>
            <a:off x="812800" y="62382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097"/>
                </a:solidFill>
                <a:latin typeface="DM Mono" pitchFamily="49" charset="0"/>
                <a:ea typeface="DM Mono" pitchFamily="49" charset="-122"/>
                <a:cs typeface="DM Mono" pitchFamily="49" charset="-120"/>
              </a:rPr>
              <a:t>Copyright Dobromir Montauk, 2026</a:t>
            </a:r>
            <a:endParaRPr lang="en-US" sz="1200" dirty="0"/>
          </a:p>
        </p:txBody>
      </p:sp>
      <p:sp>
        <p:nvSpPr>
          <p:cNvPr id="14" name="Text 9"/>
          <p:cNvSpPr/>
          <p:nvPr/>
        </p:nvSpPr>
        <p:spPr>
          <a:xfrm>
            <a:off x="10261600" y="6169670"/>
            <a:ext cx="1320800" cy="345430"/>
          </a:xfrm>
          <a:prstGeom prst="rect">
            <a:avLst/>
          </a:prstGeom>
          <a:noFill/>
          <a:ln/>
        </p:spPr>
        <p:txBody>
          <a:bodyPr wrap="square" lIns="0" tIns="0" rIns="0" bIns="0" rtlCol="0" anchor="t">
            <a:normAutofit/>
          </a:bodyPr>
          <a:lstStyle/>
          <a:p>
            <a:pPr algn="r" indent="0" marL="0">
              <a:lnSpc>
                <a:spcPts val="2520"/>
              </a:lnSpc>
              <a:buNone/>
            </a:pPr>
            <a:r>
              <a:rPr lang="en-US" sz="1800" dirty="0">
                <a:solidFill>
                  <a:srgbClr val="63E14F"/>
                </a:solidFill>
                <a:latin typeface="DM Mono" pitchFamily="49" charset="0"/>
                <a:ea typeface="DM Mono" pitchFamily="49" charset="-122"/>
                <a:cs typeface="DM Mono" pitchFamily="49" charset="-120"/>
              </a:rPr>
              <a:t>[ 11 ]</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60607"/>
        </a:solidFill>
      </p:bgPr>
    </p:bg>
    <p:spTree>
      <p:nvGrpSpPr>
        <p:cNvPr id="1" name=""/>
        <p:cNvGrpSpPr/>
        <p:nvPr/>
      </p:nvGrpSpPr>
      <p:grpSpPr>
        <a:xfrm>
          <a:off x="0" y="0"/>
          <a:ext cx="0" cy="0"/>
          <a:chOff x="0" y="0"/>
          <a:chExt cx="0" cy="0"/>
        </a:xfrm>
      </p:grpSpPr>
      <p:sp>
        <p:nvSpPr>
          <p:cNvPr id="2" name="Shape 0"/>
          <p:cNvSpPr/>
          <p:nvPr/>
        </p:nvSpPr>
        <p:spPr>
          <a:xfrm>
            <a:off x="254000" y="0"/>
            <a:ext cx="25400" cy="6858000"/>
          </a:xfrm>
          <a:prstGeom prst="rect">
            <a:avLst/>
          </a:prstGeom>
          <a:gradFill rotWithShape="1">
            <a:gsLst>
              <a:gs pos="0">
                <a:srgbClr val="FF832A"/>
              </a:gs>
              <a:gs pos="35000">
                <a:srgbClr val="FF832A"/>
              </a:gs>
              <a:gs pos="75000">
                <a:srgbClr val="63E14F"/>
              </a:gs>
              <a:gs pos="100000">
                <a:srgbClr val="63E14F"/>
              </a:gs>
            </a:gsLst>
            <a:lin ang="5400000" scaled="0"/>
          </a:gradFill>
          <a:ln/>
        </p:spPr>
      </p:sp>
      <p:sp>
        <p:nvSpPr>
          <p:cNvPr id="3" name="Text 1"/>
          <p:cNvSpPr/>
          <p:nvPr/>
        </p:nvSpPr>
        <p:spPr>
          <a:xfrm>
            <a:off x="812800" y="7112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spc="100" kern="0" dirty="0">
                <a:solidFill>
                  <a:srgbClr val="63E14F"/>
                </a:solidFill>
                <a:latin typeface="DM Mono" pitchFamily="49" charset="0"/>
                <a:ea typeface="DM Mono" pitchFamily="49" charset="-122"/>
                <a:cs typeface="DM Mono" pitchFamily="49" charset="-120"/>
              </a:rPr>
              <a:t>[ FIT ]</a:t>
            </a:r>
            <a:endParaRPr lang="en-US" sz="1400" dirty="0"/>
          </a:p>
        </p:txBody>
      </p:sp>
      <p:sp>
        <p:nvSpPr>
          <p:cNvPr id="4" name="Text 2"/>
          <p:cNvSpPr/>
          <p:nvPr>
            <p:ph type="title"/>
          </p:nvPr>
        </p:nvSpPr>
        <p:spPr>
          <a:xfrm>
            <a:off x="812800" y="121409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4F5F7"/>
                </a:solidFill>
                <a:latin typeface="Host Grotesk" pitchFamily="34" charset="0"/>
                <a:ea typeface="Host Grotesk" pitchFamily="34" charset="-122"/>
                <a:cs typeface="Host Grotesk" pitchFamily="34" charset="-120"/>
              </a:rPr>
              <a:t>Defining “Fit”: −10 to </a:t>
            </a:r>
            <a:r>
              <a:rPr lang="en-US" sz="3600" b="1" i="0" dirty="0">
                <a:solidFill>
                  <a:srgbClr val="63E14F"/>
                </a:solidFill>
                <a:latin typeface="Host Grotesk" pitchFamily="34" charset="0"/>
                <a:ea typeface="Host Grotesk" pitchFamily="34" charset="-122"/>
                <a:cs typeface="Host Grotesk" pitchFamily="34" charset="-120"/>
              </a:rPr>
              <a:t>+10</a:t>
            </a:r>
            <a:endParaRPr lang="en-US" sz="3600" dirty="0"/>
          </a:p>
        </p:txBody>
      </p:sp>
      <p:pic>
        <p:nvPicPr>
          <p:cNvPr id="5" name="Image 0" descr="Fit scale from orange to green">    </p:cNvPr>
          <p:cNvPicPr>
            <a:picLocks noChangeAspect="1"/>
          </p:cNvPicPr>
          <p:nvPr/>
        </p:nvPicPr>
        <p:blipFill>
          <a:blip r:embed="rId1"/>
          <a:srcRect l="0" r="0" t="-679" b="-679"/>
          <a:stretch/>
        </p:blipFill>
        <p:spPr>
          <a:xfrm>
            <a:off x="812800" y="2702223"/>
            <a:ext cx="10566400" cy="177800"/>
          </a:xfrm>
          <a:prstGeom prst="rect">
            <a:avLst/>
          </a:prstGeom>
        </p:spPr>
      </p:pic>
      <p:sp>
        <p:nvSpPr>
          <p:cNvPr id="6" name="Text 3"/>
          <p:cNvSpPr/>
          <p:nvPr/>
        </p:nvSpPr>
        <p:spPr>
          <a:xfrm>
            <a:off x="812800" y="3134023"/>
            <a:ext cx="2148840" cy="274290"/>
          </a:xfrm>
          <a:prstGeom prst="rect">
            <a:avLst/>
          </a:prstGeom>
          <a:noFill/>
          <a:ln/>
        </p:spPr>
        <p:txBody>
          <a:bodyPr wrap="square" lIns="0" tIns="0" rIns="0" bIns="0" rtlCol="0" anchor="t">
            <a:normAutofit/>
          </a:bodyPr>
          <a:lstStyle/>
          <a:p>
            <a:pPr algn="l" indent="0" marL="0">
              <a:lnSpc>
                <a:spcPts val="1960"/>
              </a:lnSpc>
              <a:buNone/>
            </a:pPr>
            <a:r>
              <a:rPr lang="en-US" sz="1400" spc="100" kern="0" dirty="0">
                <a:solidFill>
                  <a:srgbClr val="FF832A"/>
                </a:solidFill>
                <a:latin typeface="DM Mono" pitchFamily="49" charset="0"/>
                <a:ea typeface="DM Mono" pitchFamily="49" charset="-122"/>
                <a:cs typeface="DM Mono" pitchFamily="49" charset="-120"/>
              </a:rPr>
              <a:t>−10 · UNALIGNED</a:t>
            </a:r>
            <a:endParaRPr lang="en-US" sz="1400" dirty="0"/>
          </a:p>
        </p:txBody>
      </p:sp>
      <p:sp>
        <p:nvSpPr>
          <p:cNvPr id="7" name="Text 4"/>
          <p:cNvSpPr/>
          <p:nvPr/>
        </p:nvSpPr>
        <p:spPr>
          <a:xfrm>
            <a:off x="812800" y="3459113"/>
            <a:ext cx="2404765" cy="594320"/>
          </a:xfrm>
          <a:prstGeom prst="rect">
            <a:avLst/>
          </a:prstGeom>
          <a:noFill/>
          <a:ln/>
        </p:spPr>
        <p:txBody>
          <a:bodyPr wrap="square" lIns="0" tIns="0" rIns="0" bIns="0" rtlCol="0" anchor="t">
            <a:normAutofit/>
          </a:bodyPr>
          <a:lstStyle/>
          <a:p>
            <a:pPr algn="l" indent="0" marL="0">
              <a:lnSpc>
                <a:spcPts val="4480"/>
              </a:lnSpc>
              <a:buNone/>
            </a:pPr>
            <a:r>
              <a:rPr lang="en-US" sz="3200" b="1" dirty="0">
                <a:solidFill>
                  <a:srgbClr val="FF832A"/>
                </a:solidFill>
                <a:latin typeface="Host Grotesk" pitchFamily="34" charset="0"/>
                <a:ea typeface="Host Grotesk" pitchFamily="34" charset="-122"/>
                <a:cs typeface="Host Grotesk" pitchFamily="34" charset="-120"/>
              </a:rPr>
              <a:t>Mercenary</a:t>
            </a:r>
            <a:endParaRPr lang="en-US" sz="3200" dirty="0"/>
          </a:p>
        </p:txBody>
      </p:sp>
      <p:sp>
        <p:nvSpPr>
          <p:cNvPr id="8" name="Text 5"/>
          <p:cNvSpPr/>
          <p:nvPr/>
        </p:nvSpPr>
        <p:spPr>
          <a:xfrm>
            <a:off x="812800" y="4104233"/>
            <a:ext cx="3212366"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A3A8B0"/>
                </a:solidFill>
                <a:latin typeface="Raleway" pitchFamily="34" charset="0"/>
                <a:ea typeface="Raleway" pitchFamily="34" charset="-122"/>
                <a:cs typeface="Raleway" pitchFamily="34" charset="-120"/>
              </a:rPr>
              <a:t>Here for what they can extract.</a:t>
            </a:r>
            <a:endParaRPr lang="en-US" sz="1500" dirty="0"/>
          </a:p>
        </p:txBody>
      </p:sp>
      <p:sp>
        <p:nvSpPr>
          <p:cNvPr id="9" name="Text 6"/>
          <p:cNvSpPr/>
          <p:nvPr/>
        </p:nvSpPr>
        <p:spPr>
          <a:xfrm>
            <a:off x="6010870" y="3134023"/>
            <a:ext cx="170210" cy="274290"/>
          </a:xfrm>
          <a:prstGeom prst="rect">
            <a:avLst/>
          </a:prstGeom>
          <a:noFill/>
          <a:ln/>
        </p:spPr>
        <p:txBody>
          <a:bodyPr wrap="square" lIns="0" tIns="0" rIns="0" bIns="0" rtlCol="0" anchor="t">
            <a:normAutofit/>
          </a:bodyPr>
          <a:lstStyle/>
          <a:p>
            <a:pPr algn="ctr" indent="0" marL="0">
              <a:lnSpc>
                <a:spcPts val="1960"/>
              </a:lnSpc>
              <a:buNone/>
            </a:pPr>
            <a:r>
              <a:rPr lang="en-US" sz="1400" spc="100" kern="0" dirty="0">
                <a:solidFill>
                  <a:srgbClr val="E9ECEF"/>
                </a:solidFill>
                <a:latin typeface="DM Mono" pitchFamily="49" charset="0"/>
                <a:ea typeface="DM Mono" pitchFamily="49" charset="-122"/>
                <a:cs typeface="DM Mono" pitchFamily="49" charset="-120"/>
              </a:rPr>
              <a:t>0</a:t>
            </a:r>
            <a:endParaRPr lang="en-US" sz="1400" dirty="0"/>
          </a:p>
        </p:txBody>
      </p:sp>
      <p:sp>
        <p:nvSpPr>
          <p:cNvPr id="10" name="Text 7"/>
          <p:cNvSpPr/>
          <p:nvPr/>
        </p:nvSpPr>
        <p:spPr>
          <a:xfrm>
            <a:off x="4843879" y="3459113"/>
            <a:ext cx="2504242" cy="594320"/>
          </a:xfrm>
          <a:prstGeom prst="rect">
            <a:avLst/>
          </a:prstGeom>
          <a:noFill/>
          <a:ln/>
        </p:spPr>
        <p:txBody>
          <a:bodyPr wrap="square" lIns="0" tIns="0" rIns="0" bIns="0" rtlCol="0" anchor="t">
            <a:normAutofit/>
          </a:bodyPr>
          <a:lstStyle/>
          <a:p>
            <a:pPr algn="ctr" indent="0" marL="0">
              <a:lnSpc>
                <a:spcPts val="4480"/>
              </a:lnSpc>
              <a:buNone/>
            </a:pPr>
            <a:r>
              <a:rPr lang="en-US" sz="3200" b="1" dirty="0">
                <a:solidFill>
                  <a:srgbClr val="E9ECEF"/>
                </a:solidFill>
                <a:latin typeface="Host Grotesk" pitchFamily="34" charset="0"/>
                <a:ea typeface="Host Grotesk" pitchFamily="34" charset="-122"/>
                <a:cs typeface="Host Grotesk" pitchFamily="34" charset="-120"/>
              </a:rPr>
              <a:t>Ambivalent</a:t>
            </a:r>
            <a:endParaRPr lang="en-US" sz="3200" dirty="0"/>
          </a:p>
        </p:txBody>
      </p:sp>
      <p:sp>
        <p:nvSpPr>
          <p:cNvPr id="11" name="Text 8"/>
          <p:cNvSpPr/>
          <p:nvPr/>
        </p:nvSpPr>
        <p:spPr>
          <a:xfrm>
            <a:off x="5028248" y="4104233"/>
            <a:ext cx="2135505" cy="282575"/>
          </a:xfrm>
          <a:prstGeom prst="rect">
            <a:avLst/>
          </a:prstGeom>
          <a:noFill/>
          <a:ln/>
        </p:spPr>
        <p:txBody>
          <a:bodyPr wrap="square" lIns="0" tIns="0" rIns="0" bIns="0" rtlCol="0" anchor="t">
            <a:normAutofit/>
          </a:bodyPr>
          <a:lstStyle/>
          <a:p>
            <a:pPr algn="ctr" indent="0" marL="0">
              <a:lnSpc>
                <a:spcPts val="2025"/>
              </a:lnSpc>
              <a:buNone/>
            </a:pPr>
            <a:r>
              <a:rPr lang="en-US" sz="1500" dirty="0">
                <a:solidFill>
                  <a:srgbClr val="A3A8B0"/>
                </a:solidFill>
                <a:latin typeface="Raleway" pitchFamily="34" charset="0"/>
                <a:ea typeface="Raleway" pitchFamily="34" charset="-122"/>
                <a:cs typeface="Raleway" pitchFamily="34" charset="-120"/>
              </a:rPr>
              <a:t>Could go either way.</a:t>
            </a:r>
            <a:endParaRPr lang="en-US" sz="1500" dirty="0"/>
          </a:p>
        </p:txBody>
      </p:sp>
      <p:sp>
        <p:nvSpPr>
          <p:cNvPr id="12" name="Text 9"/>
          <p:cNvSpPr/>
          <p:nvPr/>
        </p:nvSpPr>
        <p:spPr>
          <a:xfrm>
            <a:off x="9516824" y="3134023"/>
            <a:ext cx="1862376" cy="274290"/>
          </a:xfrm>
          <a:prstGeom prst="rect">
            <a:avLst/>
          </a:prstGeom>
          <a:noFill/>
          <a:ln/>
        </p:spPr>
        <p:txBody>
          <a:bodyPr wrap="square" lIns="0" tIns="0" rIns="0" bIns="0" rtlCol="0" anchor="t">
            <a:normAutofit/>
          </a:bodyPr>
          <a:lstStyle/>
          <a:p>
            <a:pPr algn="r" indent="0" marL="0">
              <a:lnSpc>
                <a:spcPts val="1960"/>
              </a:lnSpc>
              <a:buNone/>
            </a:pPr>
            <a:r>
              <a:rPr lang="en-US" sz="1400" spc="100" kern="0" dirty="0">
                <a:solidFill>
                  <a:srgbClr val="63E14F"/>
                </a:solidFill>
                <a:latin typeface="DM Mono" pitchFamily="49" charset="0"/>
                <a:ea typeface="DM Mono" pitchFamily="49" charset="-122"/>
                <a:cs typeface="DM Mono" pitchFamily="49" charset="-120"/>
              </a:rPr>
              <a:t>+10 · ALIGNED</a:t>
            </a:r>
            <a:endParaRPr lang="en-US" sz="1400" dirty="0"/>
          </a:p>
        </p:txBody>
      </p:sp>
      <p:sp>
        <p:nvSpPr>
          <p:cNvPr id="13" name="Text 10"/>
          <p:cNvSpPr/>
          <p:nvPr/>
        </p:nvSpPr>
        <p:spPr>
          <a:xfrm>
            <a:off x="8983186" y="3459113"/>
            <a:ext cx="2396014" cy="594320"/>
          </a:xfrm>
          <a:prstGeom prst="rect">
            <a:avLst/>
          </a:prstGeom>
          <a:noFill/>
          <a:ln/>
        </p:spPr>
        <p:txBody>
          <a:bodyPr wrap="square" lIns="0" tIns="0" rIns="0" bIns="0" rtlCol="0" anchor="t">
            <a:normAutofit/>
          </a:bodyPr>
          <a:lstStyle/>
          <a:p>
            <a:pPr algn="r" indent="0" marL="0">
              <a:lnSpc>
                <a:spcPts val="4480"/>
              </a:lnSpc>
              <a:buNone/>
            </a:pPr>
            <a:r>
              <a:rPr lang="en-US" sz="3200" b="1" dirty="0">
                <a:solidFill>
                  <a:srgbClr val="63E14F"/>
                </a:solidFill>
                <a:latin typeface="Host Grotesk" pitchFamily="34" charset="0"/>
                <a:ea typeface="Host Grotesk" pitchFamily="34" charset="-122"/>
                <a:cs typeface="Host Grotesk" pitchFamily="34" charset="-120"/>
              </a:rPr>
              <a:t>Missionary</a:t>
            </a:r>
            <a:endParaRPr lang="en-US" sz="3200" dirty="0"/>
          </a:p>
        </p:txBody>
      </p:sp>
      <p:sp>
        <p:nvSpPr>
          <p:cNvPr id="14" name="Text 11"/>
          <p:cNvSpPr/>
          <p:nvPr/>
        </p:nvSpPr>
        <p:spPr>
          <a:xfrm>
            <a:off x="9157732" y="4104233"/>
            <a:ext cx="2221468" cy="282575"/>
          </a:xfrm>
          <a:prstGeom prst="rect">
            <a:avLst/>
          </a:prstGeom>
          <a:noFill/>
          <a:ln/>
        </p:spPr>
        <p:txBody>
          <a:bodyPr wrap="square" lIns="0" tIns="0" rIns="0" bIns="0" rtlCol="0" anchor="t">
            <a:normAutofit/>
          </a:bodyPr>
          <a:lstStyle/>
          <a:p>
            <a:pPr algn="r" indent="0" marL="0">
              <a:lnSpc>
                <a:spcPts val="2025"/>
              </a:lnSpc>
              <a:buNone/>
            </a:pPr>
            <a:r>
              <a:rPr lang="en-US" sz="1500" dirty="0">
                <a:solidFill>
                  <a:srgbClr val="A3A8B0"/>
                </a:solidFill>
                <a:latin typeface="Raleway" pitchFamily="34" charset="0"/>
                <a:ea typeface="Raleway" pitchFamily="34" charset="-122"/>
                <a:cs typeface="Raleway" pitchFamily="34" charset="-120"/>
              </a:rPr>
              <a:t>Wants what we want.</a:t>
            </a:r>
            <a:endParaRPr lang="en-US" sz="1500" dirty="0"/>
          </a:p>
        </p:txBody>
      </p:sp>
      <p:sp>
        <p:nvSpPr>
          <p:cNvPr id="15" name="Text 12"/>
          <p:cNvSpPr/>
          <p:nvPr/>
        </p:nvSpPr>
        <p:spPr>
          <a:xfrm>
            <a:off x="812800" y="4767808"/>
            <a:ext cx="10883392" cy="368300"/>
          </a:xfrm>
          <a:prstGeom prst="rect">
            <a:avLst/>
          </a:prstGeom>
          <a:noFill/>
          <a:ln/>
        </p:spPr>
        <p:txBody>
          <a:bodyPr wrap="square" lIns="0" tIns="0" rIns="0" bIns="0" rtlCol="0" anchor="t">
            <a:normAutofit/>
          </a:bodyPr>
          <a:lstStyle/>
          <a:p>
            <a:pPr algn="l" indent="0" marL="0">
              <a:lnSpc>
                <a:spcPts val="2700"/>
              </a:lnSpc>
              <a:buNone/>
            </a:pPr>
            <a:r>
              <a:rPr lang="en-US" sz="2000" dirty="0">
                <a:solidFill>
                  <a:srgbClr val="E9ECEF"/>
                </a:solidFill>
                <a:latin typeface="Raleway" pitchFamily="34" charset="0"/>
                <a:ea typeface="Raleway" pitchFamily="34" charset="-122"/>
                <a:cs typeface="Raleway" pitchFamily="34" charset="-120"/>
              </a:rPr>
              <a:t>Do they want what we need, and do we offer what they want? </a:t>
            </a:r>
            <a:r>
              <a:rPr lang="en-US" sz="2000" dirty="0">
                <a:solidFill>
                  <a:srgbClr val="63E14F"/>
                </a:solidFill>
                <a:latin typeface="Raleway" pitchFamily="34" charset="0"/>
                <a:ea typeface="Raleway" pitchFamily="34" charset="-122"/>
                <a:cs typeface="Raleway" pitchFamily="34" charset="-120"/>
              </a:rPr>
              <a:t>Both directions.</a:t>
            </a:r>
            <a:endParaRPr lang="en-US" sz="2000" dirty="0"/>
          </a:p>
        </p:txBody>
      </p:sp>
      <p:pic>
        <p:nvPicPr>
          <p:cNvPr id="16" name="Image 1" descr="Mashgin">    </p:cNvPr>
          <p:cNvPicPr>
            <a:picLocks noChangeAspect="1"/>
          </p:cNvPicPr>
          <p:nvPr/>
        </p:nvPicPr>
        <p:blipFill>
          <a:blip r:embed="rId2"/>
          <a:srcRect l="-284" r="-284" t="0" b="0"/>
          <a:stretch/>
        </p:blipFill>
        <p:spPr>
          <a:xfrm>
            <a:off x="10121900" y="406400"/>
            <a:ext cx="1460500" cy="298450"/>
          </a:xfrm>
          <a:prstGeom prst="rect">
            <a:avLst/>
          </a:prstGeom>
        </p:spPr>
      </p:pic>
      <p:sp>
        <p:nvSpPr>
          <p:cNvPr id="17" name="Text 13"/>
          <p:cNvSpPr/>
          <p:nvPr/>
        </p:nvSpPr>
        <p:spPr>
          <a:xfrm>
            <a:off x="812800" y="62382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097"/>
                </a:solidFill>
                <a:latin typeface="DM Mono" pitchFamily="49" charset="0"/>
                <a:ea typeface="DM Mono" pitchFamily="49" charset="-122"/>
                <a:cs typeface="DM Mono" pitchFamily="49" charset="-120"/>
              </a:rPr>
              <a:t>Copyright Dobromir Montauk, 2026</a:t>
            </a:r>
            <a:endParaRPr lang="en-US" sz="1200" dirty="0"/>
          </a:p>
        </p:txBody>
      </p:sp>
      <p:sp>
        <p:nvSpPr>
          <p:cNvPr id="18" name="Text 14"/>
          <p:cNvSpPr/>
          <p:nvPr/>
        </p:nvSpPr>
        <p:spPr>
          <a:xfrm>
            <a:off x="10261600" y="6169670"/>
            <a:ext cx="1320800" cy="345430"/>
          </a:xfrm>
          <a:prstGeom prst="rect">
            <a:avLst/>
          </a:prstGeom>
          <a:noFill/>
          <a:ln/>
        </p:spPr>
        <p:txBody>
          <a:bodyPr wrap="square" lIns="0" tIns="0" rIns="0" bIns="0" rtlCol="0" anchor="t">
            <a:normAutofit/>
          </a:bodyPr>
          <a:lstStyle/>
          <a:p>
            <a:pPr algn="r" indent="0" marL="0">
              <a:lnSpc>
                <a:spcPts val="2520"/>
              </a:lnSpc>
              <a:buNone/>
            </a:pPr>
            <a:r>
              <a:rPr lang="en-US" sz="1800" dirty="0">
                <a:solidFill>
                  <a:srgbClr val="63E14F"/>
                </a:solidFill>
                <a:latin typeface="DM Mono" pitchFamily="49" charset="0"/>
                <a:ea typeface="DM Mono" pitchFamily="49" charset="-122"/>
                <a:cs typeface="DM Mono" pitchFamily="49" charset="-120"/>
              </a:rPr>
              <a:t>[ 12 ]</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60607"/>
        </a:solidFill>
      </p:bgPr>
    </p:bg>
    <p:spTree>
      <p:nvGrpSpPr>
        <p:cNvPr id="1" name=""/>
        <p:cNvGrpSpPr/>
        <p:nvPr/>
      </p:nvGrpSpPr>
      <p:grpSpPr>
        <a:xfrm>
          <a:off x="0" y="0"/>
          <a:ext cx="0" cy="0"/>
          <a:chOff x="0" y="0"/>
          <a:chExt cx="0" cy="0"/>
        </a:xfrm>
      </p:grpSpPr>
      <p:sp>
        <p:nvSpPr>
          <p:cNvPr id="2" name="Shape 0"/>
          <p:cNvSpPr/>
          <p:nvPr/>
        </p:nvSpPr>
        <p:spPr>
          <a:xfrm>
            <a:off x="254000" y="0"/>
            <a:ext cx="25400" cy="6858000"/>
          </a:xfrm>
          <a:prstGeom prst="rect">
            <a:avLst/>
          </a:prstGeom>
          <a:gradFill rotWithShape="1">
            <a:gsLst>
              <a:gs pos="0">
                <a:srgbClr val="FF832A"/>
              </a:gs>
              <a:gs pos="35000">
                <a:srgbClr val="FF832A"/>
              </a:gs>
              <a:gs pos="75000">
                <a:srgbClr val="63E14F"/>
              </a:gs>
              <a:gs pos="100000">
                <a:srgbClr val="63E14F"/>
              </a:gs>
            </a:gsLst>
            <a:lin ang="5400000" scaled="0"/>
          </a:gradFill>
          <a:ln/>
        </p:spPr>
      </p:sp>
      <p:sp>
        <p:nvSpPr>
          <p:cNvPr id="3" name="Text 1"/>
          <p:cNvSpPr/>
          <p:nvPr/>
        </p:nvSpPr>
        <p:spPr>
          <a:xfrm>
            <a:off x="812800" y="7112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spc="100" kern="0" dirty="0">
                <a:solidFill>
                  <a:srgbClr val="63E14F"/>
                </a:solidFill>
                <a:latin typeface="DM Mono" pitchFamily="49" charset="0"/>
                <a:ea typeface="DM Mono" pitchFamily="49" charset="-122"/>
                <a:cs typeface="DM Mono" pitchFamily="49" charset="-120"/>
              </a:rPr>
              <a:t>[ FIT · −10 ]</a:t>
            </a:r>
            <a:endParaRPr lang="en-US" sz="1400" dirty="0"/>
          </a:p>
        </p:txBody>
      </p:sp>
      <p:sp>
        <p:nvSpPr>
          <p:cNvPr id="4" name="Text 2"/>
          <p:cNvSpPr/>
          <p:nvPr>
            <p:ph type="title"/>
          </p:nvPr>
        </p:nvSpPr>
        <p:spPr>
          <a:xfrm>
            <a:off x="812800" y="121409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F832A"/>
                </a:solidFill>
                <a:latin typeface="Host Grotesk" pitchFamily="34" charset="0"/>
                <a:ea typeface="Host Grotesk" pitchFamily="34" charset="-122"/>
                <a:cs typeface="Host Grotesk" pitchFamily="34" charset="-120"/>
              </a:rPr>
              <a:t>Mercenary</a:t>
            </a:r>
            <a:endParaRPr lang="en-US" sz="3600" dirty="0"/>
          </a:p>
        </p:txBody>
      </p:sp>
      <p:sp>
        <p:nvSpPr>
          <p:cNvPr id="5" name="Shape 3"/>
          <p:cNvSpPr/>
          <p:nvPr/>
        </p:nvSpPr>
        <p:spPr>
          <a:xfrm>
            <a:off x="819150" y="1977330"/>
            <a:ext cx="10553700" cy="3185071"/>
          </a:xfrm>
          <a:prstGeom prst="roundRect">
            <a:avLst>
              <a:gd name="adj" fmla="val 2991"/>
            </a:avLst>
          </a:prstGeom>
          <a:solidFill>
            <a:srgbClr val="1A1A1A"/>
          </a:solidFill>
          <a:ln w="12700">
            <a:solidFill>
              <a:srgbClr val="FF832A"/>
            </a:solidFill>
            <a:prstDash val="solid"/>
          </a:ln>
        </p:spPr>
      </p:sp>
      <p:sp>
        <p:nvSpPr>
          <p:cNvPr id="6" name="Text 4"/>
          <p:cNvSpPr/>
          <p:nvPr/>
        </p:nvSpPr>
        <p:spPr>
          <a:xfrm>
            <a:off x="1035050" y="2193230"/>
            <a:ext cx="1339304" cy="320030"/>
          </a:xfrm>
          <a:prstGeom prst="roundRect">
            <a:avLst>
              <a:gd name="adj" fmla="val 50000"/>
            </a:avLst>
          </a:prstGeom>
          <a:solidFill>
            <a:srgbClr val="262321"/>
          </a:solidFill>
          <a:ln w="12700">
            <a:solidFill>
              <a:srgbClr val="4A3526"/>
            </a:solidFill>
            <a:prstDash val="solid"/>
          </a:ln>
        </p:spPr>
        <p:txBody>
          <a:bodyPr wrap="none" lIns="0" tIns="0" rIns="0" bIns="0" rtlCol="0" anchor="ctr">
            <a:normAutofit/>
          </a:bodyPr>
          <a:lstStyle/>
          <a:p>
            <a:pPr algn="ctr" indent="0" marL="0">
              <a:lnSpc>
                <a:spcPts val="1820"/>
              </a:lnSpc>
              <a:buNone/>
            </a:pPr>
            <a:r>
              <a:rPr lang="en-US" sz="1300" dirty="0">
                <a:solidFill>
                  <a:srgbClr val="E9ECEF"/>
                </a:solidFill>
                <a:latin typeface="Raleway" pitchFamily="34" charset="0"/>
                <a:ea typeface="Raleway" pitchFamily="34" charset="-122"/>
                <a:cs typeface="Raleway" pitchFamily="34" charset="-120"/>
              </a:rPr>
              <a:t>fixed mindset</a:t>
            </a:r>
            <a:endParaRPr lang="en-US" sz="1300" dirty="0"/>
          </a:p>
        </p:txBody>
      </p:sp>
      <p:sp>
        <p:nvSpPr>
          <p:cNvPr id="7" name="Text 5"/>
          <p:cNvSpPr/>
          <p:nvPr/>
        </p:nvSpPr>
        <p:spPr>
          <a:xfrm>
            <a:off x="2501354" y="2193230"/>
            <a:ext cx="1097707" cy="320030"/>
          </a:xfrm>
          <a:prstGeom prst="roundRect">
            <a:avLst>
              <a:gd name="adj" fmla="val 50000"/>
            </a:avLst>
          </a:prstGeom>
          <a:solidFill>
            <a:srgbClr val="262321"/>
          </a:solidFill>
          <a:ln w="12700">
            <a:solidFill>
              <a:srgbClr val="4A3526"/>
            </a:solidFill>
            <a:prstDash val="solid"/>
          </a:ln>
        </p:spPr>
        <p:txBody>
          <a:bodyPr wrap="none" lIns="0" tIns="0" rIns="0" bIns="0" rtlCol="0" anchor="ctr">
            <a:normAutofit/>
          </a:bodyPr>
          <a:lstStyle/>
          <a:p>
            <a:pPr algn="ctr" indent="0" marL="0">
              <a:lnSpc>
                <a:spcPts val="1820"/>
              </a:lnSpc>
              <a:buNone/>
            </a:pPr>
            <a:r>
              <a:rPr lang="en-US" sz="1300" dirty="0">
                <a:solidFill>
                  <a:srgbClr val="E9ECEF"/>
                </a:solidFill>
                <a:latin typeface="Raleway" pitchFamily="34" charset="0"/>
                <a:ea typeface="Raleway" pitchFamily="34" charset="-122"/>
                <a:cs typeface="Raleway" pitchFamily="34" charset="-120"/>
              </a:rPr>
              <a:t>defending</a:t>
            </a:r>
            <a:endParaRPr lang="en-US" sz="1300" dirty="0"/>
          </a:p>
        </p:txBody>
      </p:sp>
      <p:sp>
        <p:nvSpPr>
          <p:cNvPr id="8" name="Text 6"/>
          <p:cNvSpPr/>
          <p:nvPr/>
        </p:nvSpPr>
        <p:spPr>
          <a:xfrm>
            <a:off x="3726061" y="2193230"/>
            <a:ext cx="566142" cy="320030"/>
          </a:xfrm>
          <a:prstGeom prst="roundRect">
            <a:avLst>
              <a:gd name="adj" fmla="val 50000"/>
            </a:avLst>
          </a:prstGeom>
          <a:solidFill>
            <a:srgbClr val="262321"/>
          </a:solidFill>
          <a:ln w="12700">
            <a:solidFill>
              <a:srgbClr val="4A3526"/>
            </a:solidFill>
            <a:prstDash val="solid"/>
          </a:ln>
        </p:spPr>
        <p:txBody>
          <a:bodyPr wrap="none" lIns="0" tIns="0" rIns="0" bIns="0" rtlCol="0" anchor="ctr">
            <a:normAutofit/>
          </a:bodyPr>
          <a:lstStyle/>
          <a:p>
            <a:pPr algn="ctr" indent="0" marL="0">
              <a:lnSpc>
                <a:spcPts val="1820"/>
              </a:lnSpc>
              <a:buNone/>
            </a:pPr>
            <a:r>
              <a:rPr lang="en-US" sz="1300" dirty="0">
                <a:solidFill>
                  <a:srgbClr val="E9ECEF"/>
                </a:solidFill>
                <a:latin typeface="Raleway" pitchFamily="34" charset="0"/>
                <a:ea typeface="Raleway" pitchFamily="34" charset="-122"/>
                <a:cs typeface="Raleway" pitchFamily="34" charset="-120"/>
              </a:rPr>
              <a:t>me</a:t>
            </a:r>
            <a:endParaRPr lang="en-US" sz="1300" dirty="0"/>
          </a:p>
        </p:txBody>
      </p:sp>
      <p:sp>
        <p:nvSpPr>
          <p:cNvPr id="9" name="Text 7"/>
          <p:cNvSpPr/>
          <p:nvPr/>
        </p:nvSpPr>
        <p:spPr>
          <a:xfrm>
            <a:off x="4419203" y="2193230"/>
            <a:ext cx="1025872" cy="320030"/>
          </a:xfrm>
          <a:prstGeom prst="roundRect">
            <a:avLst>
              <a:gd name="adj" fmla="val 50000"/>
            </a:avLst>
          </a:prstGeom>
          <a:solidFill>
            <a:srgbClr val="262321"/>
          </a:solidFill>
          <a:ln w="12700">
            <a:solidFill>
              <a:srgbClr val="4A3526"/>
            </a:solidFill>
            <a:prstDash val="solid"/>
          </a:ln>
        </p:spPr>
        <p:txBody>
          <a:bodyPr wrap="none" lIns="0" tIns="0" rIns="0" bIns="0" rtlCol="0" anchor="ctr">
            <a:normAutofit/>
          </a:bodyPr>
          <a:lstStyle/>
          <a:p>
            <a:pPr algn="ctr" indent="0" marL="0">
              <a:lnSpc>
                <a:spcPts val="1820"/>
              </a:lnSpc>
              <a:buNone/>
            </a:pPr>
            <a:r>
              <a:rPr lang="en-US" sz="1300" dirty="0">
                <a:solidFill>
                  <a:srgbClr val="E9ECEF"/>
                </a:solidFill>
                <a:latin typeface="Raleway" pitchFamily="34" charset="0"/>
                <a:ea typeface="Raleway" pitchFamily="34" charset="-122"/>
                <a:cs typeface="Raleway" pitchFamily="34" charset="-120"/>
              </a:rPr>
              <a:t>extrinsics</a:t>
            </a:r>
            <a:endParaRPr lang="en-US" sz="1300" dirty="0"/>
          </a:p>
        </p:txBody>
      </p:sp>
      <p:sp>
        <p:nvSpPr>
          <p:cNvPr id="10" name="Text 8"/>
          <p:cNvSpPr/>
          <p:nvPr/>
        </p:nvSpPr>
        <p:spPr>
          <a:xfrm>
            <a:off x="5572075" y="2193230"/>
            <a:ext cx="858391" cy="320030"/>
          </a:xfrm>
          <a:prstGeom prst="roundRect">
            <a:avLst>
              <a:gd name="adj" fmla="val 50000"/>
            </a:avLst>
          </a:prstGeom>
          <a:solidFill>
            <a:srgbClr val="262321"/>
          </a:solidFill>
          <a:ln w="12700">
            <a:solidFill>
              <a:srgbClr val="4A3526"/>
            </a:solidFill>
            <a:prstDash val="solid"/>
          </a:ln>
        </p:spPr>
        <p:txBody>
          <a:bodyPr wrap="none" lIns="0" tIns="0" rIns="0" bIns="0" rtlCol="0" anchor="ctr">
            <a:normAutofit/>
          </a:bodyPr>
          <a:lstStyle/>
          <a:p>
            <a:pPr algn="ctr" indent="0" marL="0">
              <a:lnSpc>
                <a:spcPts val="1820"/>
              </a:lnSpc>
              <a:buNone/>
            </a:pPr>
            <a:r>
              <a:rPr lang="en-US" sz="1300" dirty="0">
                <a:solidFill>
                  <a:srgbClr val="E9ECEF"/>
                </a:solidFill>
                <a:latin typeface="Raleway" pitchFamily="34" charset="0"/>
                <a:ea typeface="Raleway" pitchFamily="34" charset="-122"/>
                <a:cs typeface="Raleway" pitchFamily="34" charset="-120"/>
              </a:rPr>
              <a:t>activity</a:t>
            </a:r>
            <a:endParaRPr lang="en-US" sz="1300" dirty="0"/>
          </a:p>
        </p:txBody>
      </p:sp>
      <p:sp>
        <p:nvSpPr>
          <p:cNvPr id="11" name="Text 9"/>
          <p:cNvSpPr/>
          <p:nvPr/>
        </p:nvSpPr>
        <p:spPr>
          <a:xfrm>
            <a:off x="6557466" y="2193230"/>
            <a:ext cx="813792" cy="320030"/>
          </a:xfrm>
          <a:prstGeom prst="roundRect">
            <a:avLst>
              <a:gd name="adj" fmla="val 50000"/>
            </a:avLst>
          </a:prstGeom>
          <a:solidFill>
            <a:srgbClr val="262321"/>
          </a:solidFill>
          <a:ln w="12700">
            <a:solidFill>
              <a:srgbClr val="4A3526"/>
            </a:solidFill>
            <a:prstDash val="solid"/>
          </a:ln>
        </p:spPr>
        <p:txBody>
          <a:bodyPr wrap="none" lIns="0" tIns="0" rIns="0" bIns="0" rtlCol="0" anchor="ctr">
            <a:normAutofit/>
          </a:bodyPr>
          <a:lstStyle/>
          <a:p>
            <a:pPr algn="ctr" indent="0" marL="0">
              <a:lnSpc>
                <a:spcPts val="1820"/>
              </a:lnSpc>
              <a:buNone/>
            </a:pPr>
            <a:r>
              <a:rPr lang="en-US" sz="1300" dirty="0">
                <a:solidFill>
                  <a:srgbClr val="E9ECEF"/>
                </a:solidFill>
                <a:latin typeface="Raleway" pitchFamily="34" charset="0"/>
                <a:ea typeface="Raleway" pitchFamily="34" charset="-122"/>
                <a:cs typeface="Raleway" pitchFamily="34" charset="-120"/>
              </a:rPr>
              <a:t>similar</a:t>
            </a:r>
            <a:endParaRPr lang="en-US" sz="1300" dirty="0"/>
          </a:p>
        </p:txBody>
      </p:sp>
      <p:sp>
        <p:nvSpPr>
          <p:cNvPr id="12" name="Text 10"/>
          <p:cNvSpPr/>
          <p:nvPr/>
        </p:nvSpPr>
        <p:spPr>
          <a:xfrm>
            <a:off x="7498259" y="2193230"/>
            <a:ext cx="1757065" cy="320030"/>
          </a:xfrm>
          <a:prstGeom prst="roundRect">
            <a:avLst>
              <a:gd name="adj" fmla="val 50000"/>
            </a:avLst>
          </a:prstGeom>
          <a:solidFill>
            <a:srgbClr val="262321"/>
          </a:solidFill>
          <a:ln w="12700">
            <a:solidFill>
              <a:srgbClr val="4A3526"/>
            </a:solidFill>
            <a:prstDash val="solid"/>
          </a:ln>
        </p:spPr>
        <p:txBody>
          <a:bodyPr wrap="none" lIns="0" tIns="0" rIns="0" bIns="0" rtlCol="0" anchor="ctr">
            <a:normAutofit/>
          </a:bodyPr>
          <a:lstStyle/>
          <a:p>
            <a:pPr algn="ctr" indent="0" marL="0">
              <a:lnSpc>
                <a:spcPts val="1820"/>
              </a:lnSpc>
              <a:buNone/>
            </a:pPr>
            <a:r>
              <a:rPr lang="en-US" sz="1300" dirty="0">
                <a:solidFill>
                  <a:srgbClr val="E9ECEF"/>
                </a:solidFill>
                <a:latin typeface="Raleway" pitchFamily="34" charset="0"/>
                <a:ea typeface="Raleway" pitchFamily="34" charset="-122"/>
                <a:cs typeface="Raleway" pitchFamily="34" charset="-120"/>
              </a:rPr>
              <a:t>logarithmic growth</a:t>
            </a:r>
            <a:endParaRPr lang="en-US" sz="1300" dirty="0"/>
          </a:p>
        </p:txBody>
      </p:sp>
      <p:sp>
        <p:nvSpPr>
          <p:cNvPr id="13" name="Text 11"/>
          <p:cNvSpPr/>
          <p:nvPr/>
        </p:nvSpPr>
        <p:spPr>
          <a:xfrm>
            <a:off x="9382323" y="2193230"/>
            <a:ext cx="1127919" cy="320030"/>
          </a:xfrm>
          <a:prstGeom prst="roundRect">
            <a:avLst>
              <a:gd name="adj" fmla="val 50000"/>
            </a:avLst>
          </a:prstGeom>
          <a:solidFill>
            <a:srgbClr val="262321"/>
          </a:solidFill>
          <a:ln w="12700">
            <a:solidFill>
              <a:srgbClr val="4A3526"/>
            </a:solidFill>
            <a:prstDash val="solid"/>
          </a:ln>
        </p:spPr>
        <p:txBody>
          <a:bodyPr wrap="none" lIns="0" tIns="0" rIns="0" bIns="0" rtlCol="0" anchor="ctr">
            <a:normAutofit/>
          </a:bodyPr>
          <a:lstStyle/>
          <a:p>
            <a:pPr algn="ctr" indent="0" marL="0">
              <a:lnSpc>
                <a:spcPts val="1820"/>
              </a:lnSpc>
              <a:buNone/>
            </a:pPr>
            <a:r>
              <a:rPr lang="en-US" sz="1300" dirty="0">
                <a:solidFill>
                  <a:srgbClr val="E9ECEF"/>
                </a:solidFill>
                <a:latin typeface="Raleway" pitchFamily="34" charset="0"/>
                <a:ea typeface="Raleway" pitchFamily="34" charset="-122"/>
                <a:cs typeface="Raleway" pitchFamily="34" charset="-120"/>
              </a:rPr>
              <a:t>participant</a:t>
            </a:r>
            <a:endParaRPr lang="en-US" sz="1300" dirty="0"/>
          </a:p>
        </p:txBody>
      </p:sp>
      <p:sp>
        <p:nvSpPr>
          <p:cNvPr id="14" name="Text 12"/>
          <p:cNvSpPr/>
          <p:nvPr/>
        </p:nvSpPr>
        <p:spPr>
          <a:xfrm>
            <a:off x="1035050" y="2640261"/>
            <a:ext cx="1028353" cy="320030"/>
          </a:xfrm>
          <a:prstGeom prst="roundRect">
            <a:avLst>
              <a:gd name="adj" fmla="val 50000"/>
            </a:avLst>
          </a:prstGeom>
          <a:solidFill>
            <a:srgbClr val="262321"/>
          </a:solidFill>
          <a:ln w="12700">
            <a:solidFill>
              <a:srgbClr val="4A3526"/>
            </a:solidFill>
            <a:prstDash val="solid"/>
          </a:ln>
        </p:spPr>
        <p:txBody>
          <a:bodyPr wrap="none" lIns="0" tIns="0" rIns="0" bIns="0" rtlCol="0" anchor="ctr">
            <a:normAutofit/>
          </a:bodyPr>
          <a:lstStyle/>
          <a:p>
            <a:pPr algn="ctr" indent="0" marL="0">
              <a:lnSpc>
                <a:spcPts val="1820"/>
              </a:lnSpc>
              <a:buNone/>
            </a:pPr>
            <a:r>
              <a:rPr lang="en-US" sz="1300" dirty="0">
                <a:solidFill>
                  <a:srgbClr val="E9ECEF"/>
                </a:solidFill>
                <a:latin typeface="Raleway" pitchFamily="34" charset="0"/>
                <a:ea typeface="Raleway" pitchFamily="34" charset="-122"/>
                <a:cs typeface="Raleway" pitchFamily="34" charset="-120"/>
              </a:rPr>
              <a:t>apathetic</a:t>
            </a:r>
            <a:endParaRPr lang="en-US" sz="1300" dirty="0"/>
          </a:p>
        </p:txBody>
      </p:sp>
      <p:sp>
        <p:nvSpPr>
          <p:cNvPr id="15" name="Text 13"/>
          <p:cNvSpPr/>
          <p:nvPr/>
        </p:nvSpPr>
        <p:spPr>
          <a:xfrm>
            <a:off x="2190403" y="2640261"/>
            <a:ext cx="988665" cy="320030"/>
          </a:xfrm>
          <a:prstGeom prst="roundRect">
            <a:avLst>
              <a:gd name="adj" fmla="val 50000"/>
            </a:avLst>
          </a:prstGeom>
          <a:solidFill>
            <a:srgbClr val="262321"/>
          </a:solidFill>
          <a:ln w="12700">
            <a:solidFill>
              <a:srgbClr val="4A3526"/>
            </a:solidFill>
            <a:prstDash val="solid"/>
          </a:ln>
        </p:spPr>
        <p:txBody>
          <a:bodyPr wrap="none" lIns="0" tIns="0" rIns="0" bIns="0" rtlCol="0" anchor="ctr">
            <a:normAutofit/>
          </a:bodyPr>
          <a:lstStyle/>
          <a:p>
            <a:pPr algn="ctr" indent="0" marL="0">
              <a:lnSpc>
                <a:spcPts val="1820"/>
              </a:lnSpc>
              <a:buNone/>
            </a:pPr>
            <a:r>
              <a:rPr lang="en-US" sz="1300" dirty="0">
                <a:solidFill>
                  <a:srgbClr val="E9ECEF"/>
                </a:solidFill>
                <a:latin typeface="Raleway" pitchFamily="34" charset="0"/>
                <a:ea typeface="Raleway" pitchFamily="34" charset="-122"/>
                <a:cs typeface="Raleway" pitchFamily="34" charset="-120"/>
              </a:rPr>
              <a:t>potential</a:t>
            </a:r>
            <a:endParaRPr lang="en-US" sz="1300" dirty="0"/>
          </a:p>
        </p:txBody>
      </p:sp>
      <p:sp>
        <p:nvSpPr>
          <p:cNvPr id="16" name="Text 14"/>
          <p:cNvSpPr/>
          <p:nvPr/>
        </p:nvSpPr>
        <p:spPr>
          <a:xfrm>
            <a:off x="3306068" y="2640261"/>
            <a:ext cx="775246" cy="320030"/>
          </a:xfrm>
          <a:prstGeom prst="roundRect">
            <a:avLst>
              <a:gd name="adj" fmla="val 50000"/>
            </a:avLst>
          </a:prstGeom>
          <a:solidFill>
            <a:srgbClr val="262321"/>
          </a:solidFill>
          <a:ln w="12700">
            <a:solidFill>
              <a:srgbClr val="4A3526"/>
            </a:solidFill>
            <a:prstDash val="solid"/>
          </a:ln>
        </p:spPr>
        <p:txBody>
          <a:bodyPr wrap="none" lIns="0" tIns="0" rIns="0" bIns="0" rtlCol="0" anchor="ctr">
            <a:normAutofit/>
          </a:bodyPr>
          <a:lstStyle/>
          <a:p>
            <a:pPr algn="ctr" indent="0" marL="0">
              <a:lnSpc>
                <a:spcPts val="1820"/>
              </a:lnSpc>
              <a:buNone/>
            </a:pPr>
            <a:r>
              <a:rPr lang="en-US" sz="1300" dirty="0">
                <a:solidFill>
                  <a:srgbClr val="E9ECEF"/>
                </a:solidFill>
                <a:latin typeface="Raleway" pitchFamily="34" charset="0"/>
                <a:ea typeface="Raleway" pitchFamily="34" charset="-122"/>
                <a:cs typeface="Raleway" pitchFamily="34" charset="-120"/>
              </a:rPr>
              <a:t>victim</a:t>
            </a:r>
            <a:endParaRPr lang="en-US" sz="1300" dirty="0"/>
          </a:p>
        </p:txBody>
      </p:sp>
      <p:sp>
        <p:nvSpPr>
          <p:cNvPr id="17" name="Text 15"/>
          <p:cNvSpPr/>
          <p:nvPr/>
        </p:nvSpPr>
        <p:spPr>
          <a:xfrm>
            <a:off x="4208314" y="2640261"/>
            <a:ext cx="554831" cy="320030"/>
          </a:xfrm>
          <a:prstGeom prst="roundRect">
            <a:avLst>
              <a:gd name="adj" fmla="val 50000"/>
            </a:avLst>
          </a:prstGeom>
          <a:solidFill>
            <a:srgbClr val="262321"/>
          </a:solidFill>
          <a:ln w="12700">
            <a:solidFill>
              <a:srgbClr val="4A3526"/>
            </a:solidFill>
            <a:prstDash val="solid"/>
          </a:ln>
        </p:spPr>
        <p:txBody>
          <a:bodyPr wrap="none" lIns="0" tIns="0" rIns="0" bIns="0" rtlCol="0" anchor="ctr">
            <a:normAutofit/>
          </a:bodyPr>
          <a:lstStyle/>
          <a:p>
            <a:pPr algn="ctr" indent="0" marL="0">
              <a:lnSpc>
                <a:spcPts val="1820"/>
              </a:lnSpc>
              <a:buNone/>
            </a:pPr>
            <a:r>
              <a:rPr lang="en-US" sz="1300" dirty="0">
                <a:solidFill>
                  <a:srgbClr val="E9ECEF"/>
                </a:solidFill>
                <a:latin typeface="Raleway" pitchFamily="34" charset="0"/>
                <a:ea typeface="Raleway" pitchFamily="34" charset="-122"/>
                <a:cs typeface="Raleway" pitchFamily="34" charset="-120"/>
              </a:rPr>
              <a:t>job</a:t>
            </a:r>
            <a:endParaRPr lang="en-US" sz="1300" dirty="0"/>
          </a:p>
        </p:txBody>
      </p:sp>
      <p:sp>
        <p:nvSpPr>
          <p:cNvPr id="18" name="Text 16"/>
          <p:cNvSpPr/>
          <p:nvPr/>
        </p:nvSpPr>
        <p:spPr>
          <a:xfrm>
            <a:off x="4890145" y="2640261"/>
            <a:ext cx="779760" cy="320030"/>
          </a:xfrm>
          <a:prstGeom prst="roundRect">
            <a:avLst>
              <a:gd name="adj" fmla="val 50000"/>
            </a:avLst>
          </a:prstGeom>
          <a:solidFill>
            <a:srgbClr val="262321"/>
          </a:solidFill>
          <a:ln w="12700">
            <a:solidFill>
              <a:srgbClr val="4A3526"/>
            </a:solidFill>
            <a:prstDash val="solid"/>
          </a:ln>
        </p:spPr>
        <p:txBody>
          <a:bodyPr wrap="none" lIns="0" tIns="0" rIns="0" bIns="0" rtlCol="0" anchor="ctr">
            <a:normAutofit/>
          </a:bodyPr>
          <a:lstStyle/>
          <a:p>
            <a:pPr algn="ctr" indent="0" marL="0">
              <a:lnSpc>
                <a:spcPts val="1820"/>
              </a:lnSpc>
              <a:buNone/>
            </a:pPr>
            <a:r>
              <a:rPr lang="en-US" sz="1300" dirty="0">
                <a:solidFill>
                  <a:srgbClr val="E9ECEF"/>
                </a:solidFill>
                <a:latin typeface="Raleway" pitchFamily="34" charset="0"/>
                <a:ea typeface="Raleway" pitchFamily="34" charset="-122"/>
                <a:cs typeface="Raleway" pitchFamily="34" charset="-120"/>
              </a:rPr>
              <a:t>watch</a:t>
            </a:r>
            <a:endParaRPr lang="en-US" sz="1300" dirty="0"/>
          </a:p>
        </p:txBody>
      </p:sp>
      <p:sp>
        <p:nvSpPr>
          <p:cNvPr id="19" name="Text 17"/>
          <p:cNvSpPr/>
          <p:nvPr/>
        </p:nvSpPr>
        <p:spPr>
          <a:xfrm>
            <a:off x="5796905" y="2640261"/>
            <a:ext cx="858986" cy="320030"/>
          </a:xfrm>
          <a:prstGeom prst="roundRect">
            <a:avLst>
              <a:gd name="adj" fmla="val 50000"/>
            </a:avLst>
          </a:prstGeom>
          <a:solidFill>
            <a:srgbClr val="262321"/>
          </a:solidFill>
          <a:ln w="12700">
            <a:solidFill>
              <a:srgbClr val="4A3526"/>
            </a:solidFill>
            <a:prstDash val="solid"/>
          </a:ln>
        </p:spPr>
        <p:txBody>
          <a:bodyPr wrap="none" lIns="0" tIns="0" rIns="0" bIns="0" rtlCol="0" anchor="ctr">
            <a:normAutofit/>
          </a:bodyPr>
          <a:lstStyle/>
          <a:p>
            <a:pPr algn="ctr" indent="0" marL="0">
              <a:lnSpc>
                <a:spcPts val="1820"/>
              </a:lnSpc>
              <a:buNone/>
            </a:pPr>
            <a:r>
              <a:rPr lang="en-US" sz="1300" dirty="0">
                <a:solidFill>
                  <a:srgbClr val="E9ECEF"/>
                </a:solidFill>
                <a:latin typeface="Raleway" pitchFamily="34" charset="0"/>
                <a:ea typeface="Raleway" pitchFamily="34" charset="-122"/>
                <a:cs typeface="Raleway" pitchFamily="34" charset="-120"/>
              </a:rPr>
              <a:t>debate</a:t>
            </a:r>
            <a:endParaRPr lang="en-US" sz="1300" dirty="0"/>
          </a:p>
        </p:txBody>
      </p:sp>
      <p:pic>
        <p:nvPicPr>
          <p:cNvPr id="20" name="Image 0" descr="preencoded.png">    </p:cNvPr>
          <p:cNvPicPr>
            <a:picLocks noChangeAspect="1"/>
          </p:cNvPicPr>
          <p:nvPr/>
        </p:nvPicPr>
        <p:blipFill>
          <a:blip r:embed="rId1"/>
          <a:srcRect l="-8594" r="-8594" t="0" b="0"/>
          <a:stretch/>
        </p:blipFill>
        <p:spPr>
          <a:xfrm>
            <a:off x="1028700" y="3042841"/>
            <a:ext cx="10160000" cy="12700"/>
          </a:xfrm>
          <a:prstGeom prst="rect">
            <a:avLst/>
          </a:prstGeom>
        </p:spPr>
      </p:pic>
      <p:sp>
        <p:nvSpPr>
          <p:cNvPr id="21" name="Text 18"/>
          <p:cNvSpPr/>
          <p:nvPr/>
        </p:nvSpPr>
        <p:spPr>
          <a:xfrm>
            <a:off x="1028700" y="3131741"/>
            <a:ext cx="10438638" cy="220960"/>
          </a:xfrm>
          <a:prstGeom prst="rect">
            <a:avLst/>
          </a:prstGeom>
          <a:noFill/>
          <a:ln/>
        </p:spPr>
        <p:txBody>
          <a:bodyPr wrap="square" lIns="0" tIns="0" rIns="0" bIns="0" rtlCol="0" anchor="t">
            <a:normAutofit/>
          </a:bodyPr>
          <a:lstStyle/>
          <a:p>
            <a:pPr algn="l" indent="0" marL="0">
              <a:lnSpc>
                <a:spcPts val="1540"/>
              </a:lnSpc>
              <a:buNone/>
            </a:pPr>
            <a:r>
              <a:rPr lang="en-US" sz="1100" spc="100" kern="0" dirty="0">
                <a:solidFill>
                  <a:srgbClr val="FF832A"/>
                </a:solidFill>
                <a:latin typeface="DM Mono" pitchFamily="49" charset="0"/>
                <a:ea typeface="DM Mono" pitchFamily="49" charset="-122"/>
                <a:cs typeface="DM Mono" pitchFamily="49" charset="-120"/>
              </a:rPr>
              <a:t>IN ENGINEERS</a:t>
            </a:r>
            <a:endParaRPr lang="en-US" sz="1100" dirty="0"/>
          </a:p>
        </p:txBody>
      </p:sp>
      <p:sp>
        <p:nvSpPr>
          <p:cNvPr id="22" name="Text 19"/>
          <p:cNvSpPr/>
          <p:nvPr/>
        </p:nvSpPr>
        <p:spPr>
          <a:xfrm>
            <a:off x="1035050" y="3409851"/>
            <a:ext cx="2506117" cy="320030"/>
          </a:xfrm>
          <a:prstGeom prst="roundRect">
            <a:avLst>
              <a:gd name="adj" fmla="val 50000"/>
            </a:avLst>
          </a:prstGeom>
          <a:solidFill>
            <a:srgbClr val="262321"/>
          </a:solidFill>
          <a:ln w="12700">
            <a:solidFill>
              <a:srgbClr val="4A3526"/>
            </a:solidFill>
            <a:prstDash val="solid"/>
          </a:ln>
        </p:spPr>
        <p:txBody>
          <a:bodyPr wrap="none" lIns="0" tIns="0" rIns="0" bIns="0" rtlCol="0" anchor="ctr">
            <a:normAutofit/>
          </a:bodyPr>
          <a:lstStyle/>
          <a:p>
            <a:pPr algn="ctr" indent="0" marL="0">
              <a:lnSpc>
                <a:spcPts val="1820"/>
              </a:lnSpc>
              <a:buNone/>
            </a:pPr>
            <a:r>
              <a:rPr lang="en-US" sz="1300" dirty="0">
                <a:solidFill>
                  <a:srgbClr val="E9ECEF"/>
                </a:solidFill>
                <a:latin typeface="Raleway" pitchFamily="34" charset="0"/>
                <a:ea typeface="Raleway" pitchFamily="34" charset="-122"/>
                <a:cs typeface="Raleway" pitchFamily="34" charset="-120"/>
              </a:rPr>
              <a:t>résumé-driven development</a:t>
            </a:r>
            <a:endParaRPr lang="en-US" sz="1300" dirty="0"/>
          </a:p>
        </p:txBody>
      </p:sp>
      <p:sp>
        <p:nvSpPr>
          <p:cNvPr id="23" name="Text 20"/>
          <p:cNvSpPr/>
          <p:nvPr/>
        </p:nvSpPr>
        <p:spPr>
          <a:xfrm>
            <a:off x="3668167" y="3409851"/>
            <a:ext cx="1187103" cy="320030"/>
          </a:xfrm>
          <a:prstGeom prst="roundRect">
            <a:avLst>
              <a:gd name="adj" fmla="val 50000"/>
            </a:avLst>
          </a:prstGeom>
          <a:solidFill>
            <a:srgbClr val="262321"/>
          </a:solidFill>
          <a:ln w="12700">
            <a:solidFill>
              <a:srgbClr val="4A3526"/>
            </a:solidFill>
            <a:prstDash val="solid"/>
          </a:ln>
        </p:spPr>
        <p:txBody>
          <a:bodyPr wrap="none" lIns="0" tIns="0" rIns="0" bIns="0" rtlCol="0" anchor="ctr">
            <a:normAutofit/>
          </a:bodyPr>
          <a:lstStyle/>
          <a:p>
            <a:pPr algn="ctr" indent="0" marL="0">
              <a:lnSpc>
                <a:spcPts val="1820"/>
              </a:lnSpc>
              <a:buNone/>
            </a:pPr>
            <a:r>
              <a:rPr lang="en-US" sz="1300" dirty="0">
                <a:solidFill>
                  <a:srgbClr val="E9ECEF"/>
                </a:solidFill>
                <a:latin typeface="Raleway" pitchFamily="34" charset="0"/>
                <a:ea typeface="Raleway" pitchFamily="34" charset="-122"/>
                <a:cs typeface="Raleway" pitchFamily="34" charset="-120"/>
              </a:rPr>
              <a:t>title-chaser</a:t>
            </a:r>
            <a:endParaRPr lang="en-US" sz="1300" dirty="0"/>
          </a:p>
        </p:txBody>
      </p:sp>
      <p:sp>
        <p:nvSpPr>
          <p:cNvPr id="24" name="Text 21"/>
          <p:cNvSpPr/>
          <p:nvPr/>
        </p:nvSpPr>
        <p:spPr>
          <a:xfrm>
            <a:off x="4982270" y="3409851"/>
            <a:ext cx="2372023" cy="320030"/>
          </a:xfrm>
          <a:prstGeom prst="roundRect">
            <a:avLst>
              <a:gd name="adj" fmla="val 50000"/>
            </a:avLst>
          </a:prstGeom>
          <a:solidFill>
            <a:srgbClr val="262321"/>
          </a:solidFill>
          <a:ln w="12700">
            <a:solidFill>
              <a:srgbClr val="4A3526"/>
            </a:solidFill>
            <a:prstDash val="solid"/>
          </a:ln>
        </p:spPr>
        <p:txBody>
          <a:bodyPr wrap="none" lIns="0" tIns="0" rIns="0" bIns="0" rtlCol="0" anchor="ctr">
            <a:normAutofit/>
          </a:bodyPr>
          <a:lstStyle/>
          <a:p>
            <a:pPr algn="ctr" indent="0" marL="0">
              <a:lnSpc>
                <a:spcPts val="1820"/>
              </a:lnSpc>
              <a:buNone/>
            </a:pPr>
            <a:r>
              <a:rPr lang="en-US" sz="1300" dirty="0">
                <a:solidFill>
                  <a:srgbClr val="E9ECEF"/>
                </a:solidFill>
                <a:latin typeface="Raleway" pitchFamily="34" charset="0"/>
                <a:ea typeface="Raleway" pitchFamily="34" charset="-122"/>
                <a:cs typeface="Raleway" pitchFamily="34" charset="-120"/>
              </a:rPr>
              <a:t>counting to the vesting cliff</a:t>
            </a:r>
            <a:endParaRPr lang="en-US" sz="1300" dirty="0"/>
          </a:p>
        </p:txBody>
      </p:sp>
      <p:sp>
        <p:nvSpPr>
          <p:cNvPr id="25" name="Text 22"/>
          <p:cNvSpPr/>
          <p:nvPr/>
        </p:nvSpPr>
        <p:spPr>
          <a:xfrm>
            <a:off x="7481292" y="3409851"/>
            <a:ext cx="2285107" cy="320030"/>
          </a:xfrm>
          <a:prstGeom prst="roundRect">
            <a:avLst>
              <a:gd name="adj" fmla="val 50000"/>
            </a:avLst>
          </a:prstGeom>
          <a:solidFill>
            <a:srgbClr val="262321"/>
          </a:solidFill>
          <a:ln w="12700">
            <a:solidFill>
              <a:srgbClr val="4A3526"/>
            </a:solidFill>
            <a:prstDash val="solid"/>
          </a:ln>
        </p:spPr>
        <p:txBody>
          <a:bodyPr wrap="none" lIns="0" tIns="0" rIns="0" bIns="0" rtlCol="0" anchor="ctr">
            <a:normAutofit/>
          </a:bodyPr>
          <a:lstStyle/>
          <a:p>
            <a:pPr algn="ctr" indent="0" marL="0">
              <a:lnSpc>
                <a:spcPts val="1820"/>
              </a:lnSpc>
              <a:buNone/>
            </a:pPr>
            <a:r>
              <a:rPr lang="en-US" sz="1300" dirty="0">
                <a:solidFill>
                  <a:srgbClr val="E9ECEF"/>
                </a:solidFill>
                <a:latin typeface="Raleway" pitchFamily="34" charset="0"/>
                <a:ea typeface="Raleway" pitchFamily="34" charset="-122"/>
                <a:cs typeface="Raleway" pitchFamily="34" charset="-120"/>
              </a:rPr>
              <a:t>comp before the problem</a:t>
            </a:r>
            <a:endParaRPr lang="en-US" sz="1300" dirty="0"/>
          </a:p>
        </p:txBody>
      </p:sp>
      <p:sp>
        <p:nvSpPr>
          <p:cNvPr id="26" name="Text 23"/>
          <p:cNvSpPr/>
          <p:nvPr/>
        </p:nvSpPr>
        <p:spPr>
          <a:xfrm>
            <a:off x="9893399" y="3409851"/>
            <a:ext cx="1222921" cy="320030"/>
          </a:xfrm>
          <a:prstGeom prst="roundRect">
            <a:avLst>
              <a:gd name="adj" fmla="val 50000"/>
            </a:avLst>
          </a:prstGeom>
          <a:solidFill>
            <a:srgbClr val="262321"/>
          </a:solidFill>
          <a:ln w="12700">
            <a:solidFill>
              <a:srgbClr val="4A3526"/>
            </a:solidFill>
            <a:prstDash val="solid"/>
          </a:ln>
        </p:spPr>
        <p:txBody>
          <a:bodyPr wrap="none" lIns="0" tIns="0" rIns="0" bIns="0" rtlCol="0" anchor="ctr">
            <a:normAutofit/>
          </a:bodyPr>
          <a:lstStyle/>
          <a:p>
            <a:pPr algn="ctr" indent="0" marL="0">
              <a:lnSpc>
                <a:spcPts val="1820"/>
              </a:lnSpc>
              <a:buNone/>
            </a:pPr>
            <a:r>
              <a:rPr lang="en-US" sz="1300" dirty="0">
                <a:solidFill>
                  <a:srgbClr val="E9ECEF"/>
                </a:solidFill>
                <a:latin typeface="Raleway" pitchFamily="34" charset="0"/>
                <a:ea typeface="Raleway" pitchFamily="34" charset="-122"/>
                <a:cs typeface="Raleway" pitchFamily="34" charset="-120"/>
              </a:rPr>
              <a:t>“not my job”</a:t>
            </a:r>
            <a:endParaRPr lang="en-US" sz="1300" dirty="0"/>
          </a:p>
        </p:txBody>
      </p:sp>
      <p:sp>
        <p:nvSpPr>
          <p:cNvPr id="27" name="Text 24"/>
          <p:cNvSpPr/>
          <p:nvPr/>
        </p:nvSpPr>
        <p:spPr>
          <a:xfrm>
            <a:off x="1035050" y="3856881"/>
            <a:ext cx="1186458" cy="320030"/>
          </a:xfrm>
          <a:prstGeom prst="roundRect">
            <a:avLst>
              <a:gd name="adj" fmla="val 50000"/>
            </a:avLst>
          </a:prstGeom>
          <a:solidFill>
            <a:srgbClr val="262321"/>
          </a:solidFill>
          <a:ln w="12700">
            <a:solidFill>
              <a:srgbClr val="4A3526"/>
            </a:solidFill>
            <a:prstDash val="solid"/>
          </a:ln>
        </p:spPr>
        <p:txBody>
          <a:bodyPr wrap="none" lIns="0" tIns="0" rIns="0" bIns="0" rtlCol="0" anchor="ctr">
            <a:normAutofit/>
          </a:bodyPr>
          <a:lstStyle/>
          <a:p>
            <a:pPr algn="ctr" indent="0" marL="0">
              <a:lnSpc>
                <a:spcPts val="1820"/>
              </a:lnSpc>
              <a:buNone/>
            </a:pPr>
            <a:r>
              <a:rPr lang="en-US" sz="1300" dirty="0">
                <a:solidFill>
                  <a:srgbClr val="E9ECEF"/>
                </a:solidFill>
                <a:latin typeface="Raleway" pitchFamily="34" charset="0"/>
                <a:ea typeface="Raleway" pitchFamily="34" charset="-122"/>
                <a:cs typeface="Raleway" pitchFamily="34" charset="-120"/>
              </a:rPr>
              <a:t>ticket-taker</a:t>
            </a:r>
            <a:endParaRPr lang="en-US" sz="1300" dirty="0"/>
          </a:p>
        </p:txBody>
      </p:sp>
      <p:pic>
        <p:nvPicPr>
          <p:cNvPr id="28" name="Image 1" descr="preencoded.png">    </p:cNvPr>
          <p:cNvPicPr>
            <a:picLocks noChangeAspect="1"/>
          </p:cNvPicPr>
          <p:nvPr/>
        </p:nvPicPr>
        <p:blipFill>
          <a:blip r:embed="rId2"/>
          <a:srcRect l="-8594" r="-8594" t="0" b="0"/>
          <a:stretch/>
        </p:blipFill>
        <p:spPr>
          <a:xfrm>
            <a:off x="1028700" y="4259461"/>
            <a:ext cx="10160000" cy="12700"/>
          </a:xfrm>
          <a:prstGeom prst="rect">
            <a:avLst/>
          </a:prstGeom>
        </p:spPr>
      </p:pic>
      <p:sp>
        <p:nvSpPr>
          <p:cNvPr id="29" name="Text 25"/>
          <p:cNvSpPr/>
          <p:nvPr/>
        </p:nvSpPr>
        <p:spPr>
          <a:xfrm>
            <a:off x="1028700" y="4348361"/>
            <a:ext cx="10438638" cy="220960"/>
          </a:xfrm>
          <a:prstGeom prst="rect">
            <a:avLst/>
          </a:prstGeom>
          <a:noFill/>
          <a:ln/>
        </p:spPr>
        <p:txBody>
          <a:bodyPr wrap="square" lIns="0" tIns="0" rIns="0" bIns="0" rtlCol="0" anchor="t">
            <a:normAutofit/>
          </a:bodyPr>
          <a:lstStyle/>
          <a:p>
            <a:pPr algn="l" indent="0" marL="0">
              <a:lnSpc>
                <a:spcPts val="1540"/>
              </a:lnSpc>
              <a:buNone/>
            </a:pPr>
            <a:r>
              <a:rPr lang="en-US" sz="1100" spc="100" kern="0" dirty="0">
                <a:solidFill>
                  <a:srgbClr val="FF832A"/>
                </a:solidFill>
                <a:latin typeface="DM Mono" pitchFamily="49" charset="0"/>
                <a:ea typeface="DM Mono" pitchFamily="49" charset="-122"/>
                <a:cs typeface="DM Mono" pitchFamily="49" charset="-120"/>
              </a:rPr>
              <a:t>AT MASHGIN</a:t>
            </a:r>
            <a:endParaRPr lang="en-US" sz="1100" dirty="0"/>
          </a:p>
        </p:txBody>
      </p:sp>
      <p:sp>
        <p:nvSpPr>
          <p:cNvPr id="30" name="Text 26"/>
          <p:cNvSpPr/>
          <p:nvPr/>
        </p:nvSpPr>
        <p:spPr>
          <a:xfrm>
            <a:off x="1035050" y="4626471"/>
            <a:ext cx="1346944" cy="320030"/>
          </a:xfrm>
          <a:prstGeom prst="roundRect">
            <a:avLst>
              <a:gd name="adj" fmla="val 50000"/>
            </a:avLst>
          </a:prstGeom>
          <a:solidFill>
            <a:srgbClr val="FF832A"/>
          </a:solidFill>
          <a:ln w="12700">
            <a:solidFill>
              <a:srgbClr val="FF832A"/>
            </a:solidFill>
            <a:prstDash val="solid"/>
          </a:ln>
        </p:spPr>
        <p:txBody>
          <a:bodyPr wrap="none" lIns="0" tIns="0" rIns="0" bIns="0" rtlCol="0" anchor="ctr">
            <a:normAutofit/>
          </a:bodyPr>
          <a:lstStyle/>
          <a:p>
            <a:pPr algn="ctr" indent="0" marL="0">
              <a:lnSpc>
                <a:spcPts val="1820"/>
              </a:lnSpc>
              <a:buNone/>
            </a:pPr>
            <a:r>
              <a:rPr lang="en-US" sz="1300" dirty="0">
                <a:solidFill>
                  <a:srgbClr val="060607"/>
                </a:solidFill>
                <a:latin typeface="Raleway" pitchFamily="34" charset="0"/>
                <a:ea typeface="Raleway" pitchFamily="34" charset="-122"/>
                <a:cs typeface="Raleway" pitchFamily="34" charset="-120"/>
              </a:rPr>
              <a:t>cargo-culting</a:t>
            </a:r>
            <a:endParaRPr lang="en-US" sz="1300" dirty="0"/>
          </a:p>
        </p:txBody>
      </p:sp>
      <p:sp>
        <p:nvSpPr>
          <p:cNvPr id="31" name="Text 27"/>
          <p:cNvSpPr/>
          <p:nvPr/>
        </p:nvSpPr>
        <p:spPr>
          <a:xfrm>
            <a:off x="2508994" y="4626471"/>
            <a:ext cx="1438424" cy="320030"/>
          </a:xfrm>
          <a:prstGeom prst="roundRect">
            <a:avLst>
              <a:gd name="adj" fmla="val 50000"/>
            </a:avLst>
          </a:prstGeom>
          <a:solidFill>
            <a:srgbClr val="FF832A"/>
          </a:solidFill>
          <a:ln w="12700">
            <a:solidFill>
              <a:srgbClr val="FF832A"/>
            </a:solidFill>
            <a:prstDash val="solid"/>
          </a:ln>
        </p:spPr>
        <p:txBody>
          <a:bodyPr wrap="none" lIns="0" tIns="0" rIns="0" bIns="0" rtlCol="0" anchor="ctr">
            <a:normAutofit/>
          </a:bodyPr>
          <a:lstStyle/>
          <a:p>
            <a:pPr algn="ctr" indent="0" marL="0">
              <a:lnSpc>
                <a:spcPts val="1820"/>
              </a:lnSpc>
              <a:buNone/>
            </a:pPr>
            <a:r>
              <a:rPr lang="en-US" sz="1300" dirty="0">
                <a:solidFill>
                  <a:srgbClr val="060607"/>
                </a:solidFill>
                <a:latin typeface="Raleway" pitchFamily="34" charset="0"/>
                <a:ea typeface="Raleway" pitchFamily="34" charset="-122"/>
                <a:cs typeface="Raleway" pitchFamily="34" charset="-120"/>
              </a:rPr>
              <a:t>offer-shopping</a:t>
            </a:r>
            <a:endParaRPr lang="en-US" sz="1300" dirty="0"/>
          </a:p>
        </p:txBody>
      </p:sp>
      <p:sp>
        <p:nvSpPr>
          <p:cNvPr id="32" name="Text 28"/>
          <p:cNvSpPr/>
          <p:nvPr/>
        </p:nvSpPr>
        <p:spPr>
          <a:xfrm>
            <a:off x="4074418" y="4626471"/>
            <a:ext cx="1499791" cy="320030"/>
          </a:xfrm>
          <a:prstGeom prst="roundRect">
            <a:avLst>
              <a:gd name="adj" fmla="val 50000"/>
            </a:avLst>
          </a:prstGeom>
          <a:solidFill>
            <a:srgbClr val="FF832A"/>
          </a:solidFill>
          <a:ln w="12700">
            <a:solidFill>
              <a:srgbClr val="FF832A"/>
            </a:solidFill>
            <a:prstDash val="solid"/>
          </a:ln>
        </p:spPr>
        <p:txBody>
          <a:bodyPr wrap="none" lIns="0" tIns="0" rIns="0" bIns="0" rtlCol="0" anchor="ctr">
            <a:normAutofit/>
          </a:bodyPr>
          <a:lstStyle/>
          <a:p>
            <a:pPr algn="ctr" indent="0" marL="0">
              <a:lnSpc>
                <a:spcPts val="1820"/>
              </a:lnSpc>
              <a:buNone/>
            </a:pPr>
            <a:r>
              <a:rPr lang="en-US" sz="1300" dirty="0">
                <a:solidFill>
                  <a:srgbClr val="060607"/>
                </a:solidFill>
                <a:latin typeface="Raleway" pitchFamily="34" charset="0"/>
                <a:ea typeface="Raleway" pitchFamily="34" charset="-122"/>
                <a:cs typeface="Raleway" pitchFamily="34" charset="-120"/>
              </a:rPr>
              <a:t>hotness-chaser</a:t>
            </a:r>
            <a:endParaRPr lang="en-US" sz="1300" dirty="0"/>
          </a:p>
        </p:txBody>
      </p:sp>
      <p:sp>
        <p:nvSpPr>
          <p:cNvPr id="33" name="Text 29"/>
          <p:cNvSpPr/>
          <p:nvPr/>
        </p:nvSpPr>
        <p:spPr>
          <a:xfrm>
            <a:off x="812800" y="5422751"/>
            <a:ext cx="10883392" cy="436860"/>
          </a:xfrm>
          <a:prstGeom prst="rect">
            <a:avLst/>
          </a:prstGeom>
          <a:noFill/>
          <a:ln/>
        </p:spPr>
        <p:txBody>
          <a:bodyPr wrap="square" lIns="0" tIns="0" rIns="0" bIns="0" rtlCol="0" anchor="t">
            <a:normAutofit/>
          </a:bodyPr>
          <a:lstStyle/>
          <a:p>
            <a:pPr algn="l" indent="0" marL="0">
              <a:lnSpc>
                <a:spcPts val="3240"/>
              </a:lnSpc>
              <a:buNone/>
            </a:pPr>
            <a:r>
              <a:rPr lang="en-US" sz="2400" dirty="0">
                <a:solidFill>
                  <a:srgbClr val="8B9097"/>
                </a:solidFill>
                <a:latin typeface="Raleway" pitchFamily="34" charset="0"/>
                <a:ea typeface="Raleway" pitchFamily="34" charset="-122"/>
                <a:cs typeface="Raleway" pitchFamily="34" charset="-120"/>
              </a:rPr>
              <a:t>VIBE CHECK:</a:t>
            </a:r>
            <a:r>
              <a:rPr lang="en-US" sz="2400" dirty="0">
                <a:solidFill>
                  <a:srgbClr val="E9ECEF"/>
                </a:solidFill>
                <a:latin typeface="Raleway" pitchFamily="34" charset="0"/>
                <a:ea typeface="Raleway" pitchFamily="34" charset="-122"/>
                <a:cs typeface="Raleway" pitchFamily="34" charset="-120"/>
              </a:rPr>
              <a:t> </a:t>
            </a:r>
            <a:r>
              <a:rPr lang="en-US" sz="2400" dirty="0">
                <a:solidFill>
                  <a:srgbClr val="FF832A"/>
                </a:solidFill>
                <a:latin typeface="Raleway" pitchFamily="34" charset="0"/>
                <a:ea typeface="Raleway" pitchFamily="34" charset="-122"/>
                <a:cs typeface="Raleway" pitchFamily="34" charset="-120"/>
              </a:rPr>
              <a:t>“Pay me.”</a:t>
            </a:r>
            <a:endParaRPr lang="en-US" sz="2400" dirty="0"/>
          </a:p>
        </p:txBody>
      </p:sp>
      <p:pic>
        <p:nvPicPr>
          <p:cNvPr id="34" name="Image 2" descr="Mashgin">    </p:cNvPr>
          <p:cNvPicPr>
            <a:picLocks noChangeAspect="1"/>
          </p:cNvPicPr>
          <p:nvPr/>
        </p:nvPicPr>
        <p:blipFill>
          <a:blip r:embed="rId3"/>
          <a:srcRect l="-284" r="-284" t="0" b="0"/>
          <a:stretch/>
        </p:blipFill>
        <p:spPr>
          <a:xfrm>
            <a:off x="10121900" y="406400"/>
            <a:ext cx="1460500" cy="298450"/>
          </a:xfrm>
          <a:prstGeom prst="rect">
            <a:avLst/>
          </a:prstGeom>
        </p:spPr>
      </p:pic>
      <p:sp>
        <p:nvSpPr>
          <p:cNvPr id="35" name="Text 30"/>
          <p:cNvSpPr/>
          <p:nvPr/>
        </p:nvSpPr>
        <p:spPr>
          <a:xfrm>
            <a:off x="812800" y="62382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097"/>
                </a:solidFill>
                <a:latin typeface="DM Mono" pitchFamily="49" charset="0"/>
                <a:ea typeface="DM Mono" pitchFamily="49" charset="-122"/>
                <a:cs typeface="DM Mono" pitchFamily="49" charset="-120"/>
              </a:rPr>
              <a:t>Copyright Dobromir Montauk, 2026</a:t>
            </a:r>
            <a:endParaRPr lang="en-US" sz="1200" dirty="0"/>
          </a:p>
        </p:txBody>
      </p:sp>
      <p:sp>
        <p:nvSpPr>
          <p:cNvPr id="36" name="Text 31"/>
          <p:cNvSpPr/>
          <p:nvPr/>
        </p:nvSpPr>
        <p:spPr>
          <a:xfrm>
            <a:off x="10261600" y="6169670"/>
            <a:ext cx="1320800" cy="345430"/>
          </a:xfrm>
          <a:prstGeom prst="rect">
            <a:avLst/>
          </a:prstGeom>
          <a:noFill/>
          <a:ln/>
        </p:spPr>
        <p:txBody>
          <a:bodyPr wrap="square" lIns="0" tIns="0" rIns="0" bIns="0" rtlCol="0" anchor="t">
            <a:normAutofit/>
          </a:bodyPr>
          <a:lstStyle/>
          <a:p>
            <a:pPr algn="r" indent="0" marL="0">
              <a:lnSpc>
                <a:spcPts val="2520"/>
              </a:lnSpc>
              <a:buNone/>
            </a:pPr>
            <a:r>
              <a:rPr lang="en-US" sz="1800" dirty="0">
                <a:solidFill>
                  <a:srgbClr val="63E14F"/>
                </a:solidFill>
                <a:latin typeface="DM Mono" pitchFamily="49" charset="0"/>
                <a:ea typeface="DM Mono" pitchFamily="49" charset="-122"/>
                <a:cs typeface="DM Mono" pitchFamily="49" charset="-120"/>
              </a:rPr>
              <a:t>[ 13 ]</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60607"/>
        </a:solidFill>
      </p:bgPr>
    </p:bg>
    <p:spTree>
      <p:nvGrpSpPr>
        <p:cNvPr id="1" name=""/>
        <p:cNvGrpSpPr/>
        <p:nvPr/>
      </p:nvGrpSpPr>
      <p:grpSpPr>
        <a:xfrm>
          <a:off x="0" y="0"/>
          <a:ext cx="0" cy="0"/>
          <a:chOff x="0" y="0"/>
          <a:chExt cx="0" cy="0"/>
        </a:xfrm>
      </p:grpSpPr>
      <p:sp>
        <p:nvSpPr>
          <p:cNvPr id="2" name="Shape 0"/>
          <p:cNvSpPr/>
          <p:nvPr/>
        </p:nvSpPr>
        <p:spPr>
          <a:xfrm>
            <a:off x="254000" y="0"/>
            <a:ext cx="25400" cy="6858000"/>
          </a:xfrm>
          <a:prstGeom prst="rect">
            <a:avLst/>
          </a:prstGeom>
          <a:gradFill rotWithShape="1">
            <a:gsLst>
              <a:gs pos="0">
                <a:srgbClr val="FF832A"/>
              </a:gs>
              <a:gs pos="35000">
                <a:srgbClr val="FF832A"/>
              </a:gs>
              <a:gs pos="75000">
                <a:srgbClr val="63E14F"/>
              </a:gs>
              <a:gs pos="100000">
                <a:srgbClr val="63E14F"/>
              </a:gs>
            </a:gsLst>
            <a:lin ang="5400000" scaled="0"/>
          </a:gradFill>
          <a:ln/>
        </p:spPr>
      </p:sp>
      <p:sp>
        <p:nvSpPr>
          <p:cNvPr id="3" name="Text 1"/>
          <p:cNvSpPr/>
          <p:nvPr/>
        </p:nvSpPr>
        <p:spPr>
          <a:xfrm>
            <a:off x="812800" y="7112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spc="100" kern="0" dirty="0">
                <a:solidFill>
                  <a:srgbClr val="63E14F"/>
                </a:solidFill>
                <a:latin typeface="DM Mono" pitchFamily="49" charset="0"/>
                <a:ea typeface="DM Mono" pitchFamily="49" charset="-122"/>
                <a:cs typeface="DM Mono" pitchFamily="49" charset="-120"/>
              </a:rPr>
              <a:t>[ FIT · +10 ]</a:t>
            </a:r>
            <a:endParaRPr lang="en-US" sz="1400" dirty="0"/>
          </a:p>
        </p:txBody>
      </p:sp>
      <p:sp>
        <p:nvSpPr>
          <p:cNvPr id="4" name="Text 2"/>
          <p:cNvSpPr/>
          <p:nvPr>
            <p:ph type="title"/>
          </p:nvPr>
        </p:nvSpPr>
        <p:spPr>
          <a:xfrm>
            <a:off x="812800" y="121409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63E14F"/>
                </a:solidFill>
                <a:latin typeface="Host Grotesk" pitchFamily="34" charset="0"/>
                <a:ea typeface="Host Grotesk" pitchFamily="34" charset="-122"/>
                <a:cs typeface="Host Grotesk" pitchFamily="34" charset="-120"/>
              </a:rPr>
              <a:t>Missionary</a:t>
            </a:r>
            <a:endParaRPr lang="en-US" sz="3600" dirty="0"/>
          </a:p>
        </p:txBody>
      </p:sp>
      <p:sp>
        <p:nvSpPr>
          <p:cNvPr id="5" name="Shape 3"/>
          <p:cNvSpPr/>
          <p:nvPr/>
        </p:nvSpPr>
        <p:spPr>
          <a:xfrm>
            <a:off x="819150" y="1977330"/>
            <a:ext cx="10553700" cy="2572891"/>
          </a:xfrm>
          <a:prstGeom prst="roundRect">
            <a:avLst>
              <a:gd name="adj" fmla="val 3702"/>
            </a:avLst>
          </a:prstGeom>
          <a:solidFill>
            <a:srgbClr val="1A1A1A"/>
          </a:solidFill>
          <a:ln w="12700">
            <a:solidFill>
              <a:srgbClr val="63E14F"/>
            </a:solidFill>
            <a:prstDash val="solid"/>
          </a:ln>
        </p:spPr>
      </p:sp>
      <p:sp>
        <p:nvSpPr>
          <p:cNvPr id="6" name="Text 4"/>
          <p:cNvSpPr/>
          <p:nvPr/>
        </p:nvSpPr>
        <p:spPr>
          <a:xfrm>
            <a:off x="1136650" y="2294830"/>
            <a:ext cx="1884412" cy="441920"/>
          </a:xfrm>
          <a:prstGeom prst="roundRect">
            <a:avLst>
              <a:gd name="adj" fmla="val 50000"/>
            </a:avLst>
          </a:prstGeom>
          <a:solidFill>
            <a:srgbClr val="1C2619"/>
          </a:solidFill>
          <a:ln w="12700">
            <a:solidFill>
              <a:srgbClr val="2F4A2A"/>
            </a:solidFill>
            <a:prstDash val="solid"/>
          </a:ln>
        </p:spPr>
        <p:txBody>
          <a:bodyPr wrap="none" lIns="0" tIns="0" rIns="0" bIns="0" rtlCol="0" anchor="ctr">
            <a:normAutofit/>
          </a:bodyPr>
          <a:lstStyle/>
          <a:p>
            <a:pPr algn="ctr" indent="0" marL="0">
              <a:lnSpc>
                <a:spcPts val="2380"/>
              </a:lnSpc>
              <a:buNone/>
            </a:pPr>
            <a:r>
              <a:rPr lang="en-US" sz="1700" dirty="0">
                <a:solidFill>
                  <a:srgbClr val="E9ECEF"/>
                </a:solidFill>
                <a:latin typeface="Raleway" pitchFamily="34" charset="0"/>
                <a:ea typeface="Raleway" pitchFamily="34" charset="-122"/>
                <a:cs typeface="Raleway" pitchFamily="34" charset="-120"/>
              </a:rPr>
              <a:t>growth mindset</a:t>
            </a:r>
            <a:endParaRPr lang="en-US" sz="1700" dirty="0"/>
          </a:p>
        </p:txBody>
      </p:sp>
      <p:sp>
        <p:nvSpPr>
          <p:cNvPr id="7" name="Text 5"/>
          <p:cNvSpPr/>
          <p:nvPr/>
        </p:nvSpPr>
        <p:spPr>
          <a:xfrm>
            <a:off x="3148062" y="2294830"/>
            <a:ext cx="1128365" cy="441920"/>
          </a:xfrm>
          <a:prstGeom prst="roundRect">
            <a:avLst>
              <a:gd name="adj" fmla="val 50000"/>
            </a:avLst>
          </a:prstGeom>
          <a:solidFill>
            <a:srgbClr val="1C2619"/>
          </a:solidFill>
          <a:ln w="12700">
            <a:solidFill>
              <a:srgbClr val="2F4A2A"/>
            </a:solidFill>
            <a:prstDash val="solid"/>
          </a:ln>
        </p:spPr>
        <p:txBody>
          <a:bodyPr wrap="none" lIns="0" tIns="0" rIns="0" bIns="0" rtlCol="0" anchor="ctr">
            <a:normAutofit/>
          </a:bodyPr>
          <a:lstStyle/>
          <a:p>
            <a:pPr algn="ctr" indent="0" marL="0">
              <a:lnSpc>
                <a:spcPts val="2380"/>
              </a:lnSpc>
              <a:buNone/>
            </a:pPr>
            <a:r>
              <a:rPr lang="en-US" sz="1700" dirty="0">
                <a:solidFill>
                  <a:srgbClr val="E9ECEF"/>
                </a:solidFill>
                <a:latin typeface="Raleway" pitchFamily="34" charset="0"/>
                <a:ea typeface="Raleway" pitchFamily="34" charset="-122"/>
                <a:cs typeface="Raleway" pitchFamily="34" charset="-120"/>
              </a:rPr>
              <a:t>learning</a:t>
            </a:r>
            <a:endParaRPr lang="en-US" sz="1700" dirty="0"/>
          </a:p>
        </p:txBody>
      </p:sp>
      <p:sp>
        <p:nvSpPr>
          <p:cNvPr id="8" name="Text 6"/>
          <p:cNvSpPr/>
          <p:nvPr/>
        </p:nvSpPr>
        <p:spPr>
          <a:xfrm>
            <a:off x="4403427" y="2294830"/>
            <a:ext cx="615752" cy="441920"/>
          </a:xfrm>
          <a:prstGeom prst="roundRect">
            <a:avLst>
              <a:gd name="adj" fmla="val 50000"/>
            </a:avLst>
          </a:prstGeom>
          <a:solidFill>
            <a:srgbClr val="1C2619"/>
          </a:solidFill>
          <a:ln w="12700">
            <a:solidFill>
              <a:srgbClr val="2F4A2A"/>
            </a:solidFill>
            <a:prstDash val="solid"/>
          </a:ln>
        </p:spPr>
        <p:txBody>
          <a:bodyPr wrap="none" lIns="0" tIns="0" rIns="0" bIns="0" rtlCol="0" anchor="ctr">
            <a:normAutofit/>
          </a:bodyPr>
          <a:lstStyle/>
          <a:p>
            <a:pPr algn="ctr" indent="0" marL="0">
              <a:lnSpc>
                <a:spcPts val="2380"/>
              </a:lnSpc>
              <a:buNone/>
            </a:pPr>
            <a:r>
              <a:rPr lang="en-US" sz="1700" dirty="0">
                <a:solidFill>
                  <a:srgbClr val="E9ECEF"/>
                </a:solidFill>
                <a:latin typeface="Raleway" pitchFamily="34" charset="0"/>
                <a:ea typeface="Raleway" pitchFamily="34" charset="-122"/>
                <a:cs typeface="Raleway" pitchFamily="34" charset="-120"/>
              </a:rPr>
              <a:t>we</a:t>
            </a:r>
            <a:endParaRPr lang="en-US" sz="1700" dirty="0"/>
          </a:p>
        </p:txBody>
      </p:sp>
      <p:sp>
        <p:nvSpPr>
          <p:cNvPr id="9" name="Text 7"/>
          <p:cNvSpPr/>
          <p:nvPr/>
        </p:nvSpPr>
        <p:spPr>
          <a:xfrm>
            <a:off x="5146179" y="2294830"/>
            <a:ext cx="1184325" cy="441920"/>
          </a:xfrm>
          <a:prstGeom prst="roundRect">
            <a:avLst>
              <a:gd name="adj" fmla="val 50000"/>
            </a:avLst>
          </a:prstGeom>
          <a:solidFill>
            <a:srgbClr val="1C2619"/>
          </a:solidFill>
          <a:ln w="12700">
            <a:solidFill>
              <a:srgbClr val="2F4A2A"/>
            </a:solidFill>
            <a:prstDash val="solid"/>
          </a:ln>
        </p:spPr>
        <p:txBody>
          <a:bodyPr wrap="none" lIns="0" tIns="0" rIns="0" bIns="0" rtlCol="0" anchor="ctr">
            <a:normAutofit/>
          </a:bodyPr>
          <a:lstStyle/>
          <a:p>
            <a:pPr algn="ctr" indent="0" marL="0">
              <a:lnSpc>
                <a:spcPts val="2380"/>
              </a:lnSpc>
              <a:buNone/>
            </a:pPr>
            <a:r>
              <a:rPr lang="en-US" sz="1700" dirty="0">
                <a:solidFill>
                  <a:srgbClr val="E9ECEF"/>
                </a:solidFill>
                <a:latin typeface="Raleway" pitchFamily="34" charset="0"/>
                <a:ea typeface="Raleway" pitchFamily="34" charset="-122"/>
                <a:cs typeface="Raleway" pitchFamily="34" charset="-120"/>
              </a:rPr>
              <a:t>intrinsics</a:t>
            </a:r>
            <a:endParaRPr lang="en-US" sz="1700" dirty="0"/>
          </a:p>
        </p:txBody>
      </p:sp>
      <p:sp>
        <p:nvSpPr>
          <p:cNvPr id="10" name="Text 8"/>
          <p:cNvSpPr/>
          <p:nvPr/>
        </p:nvSpPr>
        <p:spPr>
          <a:xfrm>
            <a:off x="6457504" y="2294830"/>
            <a:ext cx="1004887" cy="441920"/>
          </a:xfrm>
          <a:prstGeom prst="roundRect">
            <a:avLst>
              <a:gd name="adj" fmla="val 50000"/>
            </a:avLst>
          </a:prstGeom>
          <a:solidFill>
            <a:srgbClr val="1C2619"/>
          </a:solidFill>
          <a:ln w="12700">
            <a:solidFill>
              <a:srgbClr val="2F4A2A"/>
            </a:solidFill>
            <a:prstDash val="solid"/>
          </a:ln>
        </p:spPr>
        <p:txBody>
          <a:bodyPr wrap="none" lIns="0" tIns="0" rIns="0" bIns="0" rtlCol="0" anchor="ctr">
            <a:normAutofit/>
          </a:bodyPr>
          <a:lstStyle/>
          <a:p>
            <a:pPr algn="ctr" indent="0" marL="0">
              <a:lnSpc>
                <a:spcPts val="2380"/>
              </a:lnSpc>
              <a:buNone/>
            </a:pPr>
            <a:r>
              <a:rPr lang="en-US" sz="1700" dirty="0">
                <a:solidFill>
                  <a:srgbClr val="E9ECEF"/>
                </a:solidFill>
                <a:latin typeface="Raleway" pitchFamily="34" charset="0"/>
                <a:ea typeface="Raleway" pitchFamily="34" charset="-122"/>
                <a:cs typeface="Raleway" pitchFamily="34" charset="-120"/>
              </a:rPr>
              <a:t>impact</a:t>
            </a:r>
            <a:endParaRPr lang="en-US" sz="1700" dirty="0"/>
          </a:p>
        </p:txBody>
      </p:sp>
      <p:sp>
        <p:nvSpPr>
          <p:cNvPr id="11" name="Text 9"/>
          <p:cNvSpPr/>
          <p:nvPr/>
        </p:nvSpPr>
        <p:spPr>
          <a:xfrm>
            <a:off x="7589391" y="2294830"/>
            <a:ext cx="1043384" cy="441920"/>
          </a:xfrm>
          <a:prstGeom prst="roundRect">
            <a:avLst>
              <a:gd name="adj" fmla="val 50000"/>
            </a:avLst>
          </a:prstGeom>
          <a:solidFill>
            <a:srgbClr val="1C2619"/>
          </a:solidFill>
          <a:ln w="12700">
            <a:solidFill>
              <a:srgbClr val="2F4A2A"/>
            </a:solidFill>
            <a:prstDash val="solid"/>
          </a:ln>
        </p:spPr>
        <p:txBody>
          <a:bodyPr wrap="none" lIns="0" tIns="0" rIns="0" bIns="0" rtlCol="0" anchor="ctr">
            <a:normAutofit/>
          </a:bodyPr>
          <a:lstStyle/>
          <a:p>
            <a:pPr algn="ctr" indent="0" marL="0">
              <a:lnSpc>
                <a:spcPts val="2380"/>
              </a:lnSpc>
              <a:buNone/>
            </a:pPr>
            <a:r>
              <a:rPr lang="en-US" sz="1700" dirty="0">
                <a:solidFill>
                  <a:srgbClr val="E9ECEF"/>
                </a:solidFill>
                <a:latin typeface="Raleway" pitchFamily="34" charset="0"/>
                <a:ea typeface="Raleway" pitchFamily="34" charset="-122"/>
                <a:cs typeface="Raleway" pitchFamily="34" charset="-120"/>
              </a:rPr>
              <a:t>diverse</a:t>
            </a:r>
            <a:endParaRPr lang="en-US" sz="1700" dirty="0"/>
          </a:p>
        </p:txBody>
      </p:sp>
      <p:sp>
        <p:nvSpPr>
          <p:cNvPr id="12" name="Text 10"/>
          <p:cNvSpPr/>
          <p:nvPr/>
        </p:nvSpPr>
        <p:spPr>
          <a:xfrm>
            <a:off x="8759775" y="2294830"/>
            <a:ext cx="2235944" cy="441920"/>
          </a:xfrm>
          <a:prstGeom prst="roundRect">
            <a:avLst>
              <a:gd name="adj" fmla="val 50000"/>
            </a:avLst>
          </a:prstGeom>
          <a:solidFill>
            <a:srgbClr val="1C2619"/>
          </a:solidFill>
          <a:ln w="12700">
            <a:solidFill>
              <a:srgbClr val="2F4A2A"/>
            </a:solidFill>
            <a:prstDash val="solid"/>
          </a:ln>
        </p:spPr>
        <p:txBody>
          <a:bodyPr wrap="none" lIns="0" tIns="0" rIns="0" bIns="0" rtlCol="0" anchor="ctr">
            <a:normAutofit/>
          </a:bodyPr>
          <a:lstStyle/>
          <a:p>
            <a:pPr algn="ctr" indent="0" marL="0">
              <a:lnSpc>
                <a:spcPts val="2380"/>
              </a:lnSpc>
              <a:buNone/>
            </a:pPr>
            <a:r>
              <a:rPr lang="en-US" sz="1700" dirty="0">
                <a:solidFill>
                  <a:srgbClr val="E9ECEF"/>
                </a:solidFill>
                <a:latin typeface="Raleway" pitchFamily="34" charset="0"/>
                <a:ea typeface="Raleway" pitchFamily="34" charset="-122"/>
                <a:cs typeface="Raleway" pitchFamily="34" charset="-120"/>
              </a:rPr>
              <a:t>exponential growth</a:t>
            </a:r>
            <a:endParaRPr lang="en-US" sz="1700" dirty="0"/>
          </a:p>
        </p:txBody>
      </p:sp>
      <p:sp>
        <p:nvSpPr>
          <p:cNvPr id="13" name="Text 11"/>
          <p:cNvSpPr/>
          <p:nvPr/>
        </p:nvSpPr>
        <p:spPr>
          <a:xfrm>
            <a:off x="1136650" y="2863751"/>
            <a:ext cx="945902" cy="441920"/>
          </a:xfrm>
          <a:prstGeom prst="roundRect">
            <a:avLst>
              <a:gd name="adj" fmla="val 50000"/>
            </a:avLst>
          </a:prstGeom>
          <a:solidFill>
            <a:srgbClr val="1C2619"/>
          </a:solidFill>
          <a:ln w="12700">
            <a:solidFill>
              <a:srgbClr val="2F4A2A"/>
            </a:solidFill>
            <a:prstDash val="solid"/>
          </a:ln>
        </p:spPr>
        <p:txBody>
          <a:bodyPr wrap="none" lIns="0" tIns="0" rIns="0" bIns="0" rtlCol="0" anchor="ctr">
            <a:normAutofit/>
          </a:bodyPr>
          <a:lstStyle/>
          <a:p>
            <a:pPr algn="ctr" indent="0" marL="0">
              <a:lnSpc>
                <a:spcPts val="2380"/>
              </a:lnSpc>
              <a:buNone/>
            </a:pPr>
            <a:r>
              <a:rPr lang="en-US" sz="1700" dirty="0">
                <a:solidFill>
                  <a:srgbClr val="E9ECEF"/>
                </a:solidFill>
                <a:latin typeface="Raleway" pitchFamily="34" charset="0"/>
                <a:ea typeface="Raleway" pitchFamily="34" charset="-122"/>
                <a:cs typeface="Raleway" pitchFamily="34" charset="-120"/>
              </a:rPr>
              <a:t>owner</a:t>
            </a:r>
            <a:endParaRPr lang="en-US" sz="1700" dirty="0"/>
          </a:p>
        </p:txBody>
      </p:sp>
      <p:sp>
        <p:nvSpPr>
          <p:cNvPr id="14" name="Text 12"/>
          <p:cNvSpPr/>
          <p:nvPr/>
        </p:nvSpPr>
        <p:spPr>
          <a:xfrm>
            <a:off x="2209552" y="2863751"/>
            <a:ext cx="1454448" cy="441920"/>
          </a:xfrm>
          <a:prstGeom prst="roundRect">
            <a:avLst>
              <a:gd name="adj" fmla="val 50000"/>
            </a:avLst>
          </a:prstGeom>
          <a:solidFill>
            <a:srgbClr val="1C2619"/>
          </a:solidFill>
          <a:ln w="12700">
            <a:solidFill>
              <a:srgbClr val="2F4A2A"/>
            </a:solidFill>
            <a:prstDash val="solid"/>
          </a:ln>
        </p:spPr>
        <p:txBody>
          <a:bodyPr wrap="none" lIns="0" tIns="0" rIns="0" bIns="0" rtlCol="0" anchor="ctr">
            <a:normAutofit/>
          </a:bodyPr>
          <a:lstStyle/>
          <a:p>
            <a:pPr algn="ctr" indent="0" marL="0">
              <a:lnSpc>
                <a:spcPts val="2380"/>
              </a:lnSpc>
              <a:buNone/>
            </a:pPr>
            <a:r>
              <a:rPr lang="en-US" sz="1700" dirty="0">
                <a:solidFill>
                  <a:srgbClr val="E9ECEF"/>
                </a:solidFill>
                <a:latin typeface="Raleway" pitchFamily="34" charset="0"/>
                <a:ea typeface="Raleway" pitchFamily="34" charset="-122"/>
                <a:cs typeface="Raleway" pitchFamily="34" charset="-120"/>
              </a:rPr>
              <a:t>empathetic</a:t>
            </a:r>
            <a:endParaRPr lang="en-US" sz="1700" dirty="0"/>
          </a:p>
        </p:txBody>
      </p:sp>
      <p:sp>
        <p:nvSpPr>
          <p:cNvPr id="15" name="Text 13"/>
          <p:cNvSpPr/>
          <p:nvPr/>
        </p:nvSpPr>
        <p:spPr>
          <a:xfrm>
            <a:off x="3791000" y="2863751"/>
            <a:ext cx="1727051" cy="441920"/>
          </a:xfrm>
          <a:prstGeom prst="roundRect">
            <a:avLst>
              <a:gd name="adj" fmla="val 50000"/>
            </a:avLst>
          </a:prstGeom>
          <a:solidFill>
            <a:srgbClr val="1C2619"/>
          </a:solidFill>
          <a:ln w="12700">
            <a:solidFill>
              <a:srgbClr val="2F4A2A"/>
            </a:solidFill>
            <a:prstDash val="solid"/>
          </a:ln>
        </p:spPr>
        <p:txBody>
          <a:bodyPr wrap="none" lIns="0" tIns="0" rIns="0" bIns="0" rtlCol="0" anchor="ctr">
            <a:normAutofit/>
          </a:bodyPr>
          <a:lstStyle/>
          <a:p>
            <a:pPr algn="ctr" indent="0" marL="0">
              <a:lnSpc>
                <a:spcPts val="2380"/>
              </a:lnSpc>
              <a:buNone/>
            </a:pPr>
            <a:r>
              <a:rPr lang="en-US" sz="1700" dirty="0">
                <a:solidFill>
                  <a:srgbClr val="E9ECEF"/>
                </a:solidFill>
                <a:latin typeface="Raleway" pitchFamily="34" charset="0"/>
                <a:ea typeface="Raleway" pitchFamily="34" charset="-122"/>
                <a:cs typeface="Raleway" pitchFamily="34" charset="-120"/>
              </a:rPr>
              <a:t>accomplished</a:t>
            </a:r>
            <a:endParaRPr lang="en-US" sz="1700" dirty="0"/>
          </a:p>
        </p:txBody>
      </p:sp>
      <p:sp>
        <p:nvSpPr>
          <p:cNvPr id="16" name="Text 14"/>
          <p:cNvSpPr/>
          <p:nvPr/>
        </p:nvSpPr>
        <p:spPr>
          <a:xfrm>
            <a:off x="5645051" y="2863751"/>
            <a:ext cx="1482427" cy="441920"/>
          </a:xfrm>
          <a:prstGeom prst="roundRect">
            <a:avLst>
              <a:gd name="adj" fmla="val 50000"/>
            </a:avLst>
          </a:prstGeom>
          <a:solidFill>
            <a:srgbClr val="1C2619"/>
          </a:solidFill>
          <a:ln w="12700">
            <a:solidFill>
              <a:srgbClr val="2F4A2A"/>
            </a:solidFill>
            <a:prstDash val="solid"/>
          </a:ln>
        </p:spPr>
        <p:txBody>
          <a:bodyPr wrap="none" lIns="0" tIns="0" rIns="0" bIns="0" rtlCol="0" anchor="ctr">
            <a:normAutofit/>
          </a:bodyPr>
          <a:lstStyle/>
          <a:p>
            <a:pPr algn="ctr" indent="0" marL="0">
              <a:lnSpc>
                <a:spcPts val="2380"/>
              </a:lnSpc>
              <a:buNone/>
            </a:pPr>
            <a:r>
              <a:rPr lang="en-US" sz="1700" dirty="0">
                <a:solidFill>
                  <a:srgbClr val="E9ECEF"/>
                </a:solidFill>
                <a:latin typeface="Raleway" pitchFamily="34" charset="0"/>
                <a:ea typeface="Raleway" pitchFamily="34" charset="-122"/>
                <a:cs typeface="Raleway" pitchFamily="34" charset="-120"/>
              </a:rPr>
              <a:t>determined</a:t>
            </a:r>
            <a:endParaRPr lang="en-US" sz="1700" dirty="0"/>
          </a:p>
        </p:txBody>
      </p:sp>
      <p:sp>
        <p:nvSpPr>
          <p:cNvPr id="17" name="Text 15"/>
          <p:cNvSpPr/>
          <p:nvPr/>
        </p:nvSpPr>
        <p:spPr>
          <a:xfrm>
            <a:off x="7254478" y="2863751"/>
            <a:ext cx="955278" cy="441920"/>
          </a:xfrm>
          <a:prstGeom prst="roundRect">
            <a:avLst>
              <a:gd name="adj" fmla="val 50000"/>
            </a:avLst>
          </a:prstGeom>
          <a:solidFill>
            <a:srgbClr val="1C2619"/>
          </a:solidFill>
          <a:ln w="12700">
            <a:solidFill>
              <a:srgbClr val="2F4A2A"/>
            </a:solidFill>
            <a:prstDash val="solid"/>
          </a:ln>
        </p:spPr>
        <p:txBody>
          <a:bodyPr wrap="none" lIns="0" tIns="0" rIns="0" bIns="0" rtlCol="0" anchor="ctr">
            <a:normAutofit/>
          </a:bodyPr>
          <a:lstStyle/>
          <a:p>
            <a:pPr algn="ctr" indent="0" marL="0">
              <a:lnSpc>
                <a:spcPts val="2380"/>
              </a:lnSpc>
              <a:buNone/>
            </a:pPr>
            <a:r>
              <a:rPr lang="en-US" sz="1700" dirty="0">
                <a:solidFill>
                  <a:srgbClr val="E9ECEF"/>
                </a:solidFill>
                <a:latin typeface="Raleway" pitchFamily="34" charset="0"/>
                <a:ea typeface="Raleway" pitchFamily="34" charset="-122"/>
                <a:cs typeface="Raleway" pitchFamily="34" charset="-120"/>
              </a:rPr>
              <a:t>career</a:t>
            </a:r>
            <a:endParaRPr lang="en-US" sz="1700" dirty="0"/>
          </a:p>
        </p:txBody>
      </p:sp>
      <p:sp>
        <p:nvSpPr>
          <p:cNvPr id="18" name="Text 16"/>
          <p:cNvSpPr/>
          <p:nvPr/>
        </p:nvSpPr>
        <p:spPr>
          <a:xfrm>
            <a:off x="8336756" y="2863751"/>
            <a:ext cx="1081088" cy="441920"/>
          </a:xfrm>
          <a:prstGeom prst="roundRect">
            <a:avLst>
              <a:gd name="adj" fmla="val 50000"/>
            </a:avLst>
          </a:prstGeom>
          <a:solidFill>
            <a:srgbClr val="1C2619"/>
          </a:solidFill>
          <a:ln w="12700">
            <a:solidFill>
              <a:srgbClr val="2F4A2A"/>
            </a:solidFill>
            <a:prstDash val="solid"/>
          </a:ln>
        </p:spPr>
        <p:txBody>
          <a:bodyPr wrap="none" lIns="0" tIns="0" rIns="0" bIns="0" rtlCol="0" anchor="ctr">
            <a:normAutofit/>
          </a:bodyPr>
          <a:lstStyle/>
          <a:p>
            <a:pPr algn="ctr" indent="0" marL="0">
              <a:lnSpc>
                <a:spcPts val="2380"/>
              </a:lnSpc>
              <a:buNone/>
            </a:pPr>
            <a:r>
              <a:rPr lang="en-US" sz="1700" dirty="0">
                <a:solidFill>
                  <a:srgbClr val="E9ECEF"/>
                </a:solidFill>
                <a:latin typeface="Raleway" pitchFamily="34" charset="0"/>
                <a:ea typeface="Raleway" pitchFamily="34" charset="-122"/>
                <a:cs typeface="Raleway" pitchFamily="34" charset="-120"/>
              </a:rPr>
              <a:t>engage</a:t>
            </a:r>
            <a:endParaRPr lang="en-US" sz="1700" dirty="0"/>
          </a:p>
        </p:txBody>
      </p:sp>
      <p:pic>
        <p:nvPicPr>
          <p:cNvPr id="19" name="Image 0" descr="preencoded.png">    </p:cNvPr>
          <p:cNvPicPr>
            <a:picLocks noChangeAspect="1"/>
          </p:cNvPicPr>
          <p:nvPr/>
        </p:nvPicPr>
        <p:blipFill>
          <a:blip r:embed="rId1"/>
          <a:srcRect l="-8594" r="-8594" t="0" b="0"/>
          <a:stretch/>
        </p:blipFill>
        <p:spPr>
          <a:xfrm>
            <a:off x="1130300" y="3388221"/>
            <a:ext cx="10160000" cy="12700"/>
          </a:xfrm>
          <a:prstGeom prst="rect">
            <a:avLst/>
          </a:prstGeom>
        </p:spPr>
      </p:pic>
      <p:sp>
        <p:nvSpPr>
          <p:cNvPr id="20" name="Text 17"/>
          <p:cNvSpPr/>
          <p:nvPr/>
        </p:nvSpPr>
        <p:spPr>
          <a:xfrm>
            <a:off x="1130300" y="3477121"/>
            <a:ext cx="10229342" cy="256530"/>
          </a:xfrm>
          <a:prstGeom prst="rect">
            <a:avLst/>
          </a:prstGeom>
          <a:noFill/>
          <a:ln/>
        </p:spPr>
        <p:txBody>
          <a:bodyPr wrap="square" lIns="0" tIns="0" rIns="0" bIns="0" rtlCol="0" anchor="t">
            <a:normAutofit/>
          </a:bodyPr>
          <a:lstStyle/>
          <a:p>
            <a:pPr algn="l" indent="0" marL="0">
              <a:lnSpc>
                <a:spcPts val="1820"/>
              </a:lnSpc>
              <a:buNone/>
            </a:pPr>
            <a:r>
              <a:rPr lang="en-US" sz="1300" spc="100" kern="0" dirty="0">
                <a:solidFill>
                  <a:srgbClr val="63E14F"/>
                </a:solidFill>
                <a:latin typeface="DM Mono" pitchFamily="49" charset="0"/>
                <a:ea typeface="DM Mono" pitchFamily="49" charset="-122"/>
                <a:cs typeface="DM Mono" pitchFamily="49" charset="-120"/>
              </a:rPr>
              <a:t>AT MASHGIN · ASK THE ROOM</a:t>
            </a:r>
            <a:endParaRPr lang="en-US" sz="1300" dirty="0"/>
          </a:p>
        </p:txBody>
      </p:sp>
      <p:sp>
        <p:nvSpPr>
          <p:cNvPr id="21" name="Text 18"/>
          <p:cNvSpPr/>
          <p:nvPr/>
        </p:nvSpPr>
        <p:spPr>
          <a:xfrm>
            <a:off x="1136650" y="3790801"/>
            <a:ext cx="420241" cy="441920"/>
          </a:xfrm>
          <a:prstGeom prst="roundRect">
            <a:avLst>
              <a:gd name="adj" fmla="val 50000"/>
            </a:avLst>
          </a:prstGeom>
          <a:solidFill>
            <a:srgbClr val="141416"/>
          </a:solidFill>
          <a:ln w="12700">
            <a:solidFill>
              <a:srgbClr val="3A3E47"/>
            </a:solidFill>
            <a:prstDash val="dash"/>
          </a:ln>
        </p:spPr>
        <p:txBody>
          <a:bodyPr wrap="none" lIns="0" tIns="0" rIns="0" bIns="0" rtlCol="0" anchor="ctr">
            <a:normAutofit/>
          </a:bodyPr>
          <a:lstStyle/>
          <a:p>
            <a:pPr algn="ctr" indent="0" marL="0">
              <a:lnSpc>
                <a:spcPts val="2380"/>
              </a:lnSpc>
              <a:buNone/>
            </a:pPr>
            <a:r>
              <a:rPr lang="en-US" sz="1700" dirty="0">
                <a:solidFill>
                  <a:srgbClr val="8B9097"/>
                </a:solidFill>
                <a:latin typeface="Raleway" pitchFamily="34" charset="0"/>
                <a:ea typeface="Raleway" pitchFamily="34" charset="-122"/>
                <a:cs typeface="Raleway" pitchFamily="34" charset="-120"/>
              </a:rPr>
              <a:t>?</a:t>
            </a:r>
            <a:endParaRPr lang="en-US" sz="1700" dirty="0"/>
          </a:p>
        </p:txBody>
      </p:sp>
      <p:sp>
        <p:nvSpPr>
          <p:cNvPr id="22" name="Text 19"/>
          <p:cNvSpPr/>
          <p:nvPr/>
        </p:nvSpPr>
        <p:spPr>
          <a:xfrm>
            <a:off x="1683891" y="3790801"/>
            <a:ext cx="420241" cy="441920"/>
          </a:xfrm>
          <a:prstGeom prst="roundRect">
            <a:avLst>
              <a:gd name="adj" fmla="val 50000"/>
            </a:avLst>
          </a:prstGeom>
          <a:solidFill>
            <a:srgbClr val="141416"/>
          </a:solidFill>
          <a:ln w="12700">
            <a:solidFill>
              <a:srgbClr val="3A3E47"/>
            </a:solidFill>
            <a:prstDash val="dash"/>
          </a:ln>
        </p:spPr>
        <p:txBody>
          <a:bodyPr wrap="none" lIns="0" tIns="0" rIns="0" bIns="0" rtlCol="0" anchor="ctr">
            <a:normAutofit/>
          </a:bodyPr>
          <a:lstStyle/>
          <a:p>
            <a:pPr algn="ctr" indent="0" marL="0">
              <a:lnSpc>
                <a:spcPts val="2380"/>
              </a:lnSpc>
              <a:buNone/>
            </a:pPr>
            <a:r>
              <a:rPr lang="en-US" sz="1700" dirty="0">
                <a:solidFill>
                  <a:srgbClr val="8B9097"/>
                </a:solidFill>
                <a:latin typeface="Raleway" pitchFamily="34" charset="0"/>
                <a:ea typeface="Raleway" pitchFamily="34" charset="-122"/>
                <a:cs typeface="Raleway" pitchFamily="34" charset="-120"/>
              </a:rPr>
              <a:t>?</a:t>
            </a:r>
            <a:endParaRPr lang="en-US" sz="1700" dirty="0"/>
          </a:p>
        </p:txBody>
      </p:sp>
      <p:sp>
        <p:nvSpPr>
          <p:cNvPr id="23" name="Text 20"/>
          <p:cNvSpPr/>
          <p:nvPr/>
        </p:nvSpPr>
        <p:spPr>
          <a:xfrm>
            <a:off x="2231132" y="3790801"/>
            <a:ext cx="420241" cy="441920"/>
          </a:xfrm>
          <a:prstGeom prst="roundRect">
            <a:avLst>
              <a:gd name="adj" fmla="val 50000"/>
            </a:avLst>
          </a:prstGeom>
          <a:solidFill>
            <a:srgbClr val="141416"/>
          </a:solidFill>
          <a:ln w="12700">
            <a:solidFill>
              <a:srgbClr val="3A3E47"/>
            </a:solidFill>
            <a:prstDash val="dash"/>
          </a:ln>
        </p:spPr>
        <p:txBody>
          <a:bodyPr wrap="none" lIns="0" tIns="0" rIns="0" bIns="0" rtlCol="0" anchor="ctr">
            <a:normAutofit/>
          </a:bodyPr>
          <a:lstStyle/>
          <a:p>
            <a:pPr algn="ctr" indent="0" marL="0">
              <a:lnSpc>
                <a:spcPts val="2380"/>
              </a:lnSpc>
              <a:buNone/>
            </a:pPr>
            <a:r>
              <a:rPr lang="en-US" sz="1700" dirty="0">
                <a:solidFill>
                  <a:srgbClr val="8B9097"/>
                </a:solidFill>
                <a:latin typeface="Raleway" pitchFamily="34" charset="0"/>
                <a:ea typeface="Raleway" pitchFamily="34" charset="-122"/>
                <a:cs typeface="Raleway" pitchFamily="34" charset="-120"/>
              </a:rPr>
              <a:t>?</a:t>
            </a:r>
            <a:endParaRPr lang="en-US" sz="1700" dirty="0"/>
          </a:p>
        </p:txBody>
      </p:sp>
      <p:sp>
        <p:nvSpPr>
          <p:cNvPr id="24" name="Text 21"/>
          <p:cNvSpPr/>
          <p:nvPr/>
        </p:nvSpPr>
        <p:spPr>
          <a:xfrm>
            <a:off x="2778373" y="3790801"/>
            <a:ext cx="420241" cy="441920"/>
          </a:xfrm>
          <a:prstGeom prst="roundRect">
            <a:avLst>
              <a:gd name="adj" fmla="val 50000"/>
            </a:avLst>
          </a:prstGeom>
          <a:solidFill>
            <a:srgbClr val="141416"/>
          </a:solidFill>
          <a:ln w="12700">
            <a:solidFill>
              <a:srgbClr val="3A3E47"/>
            </a:solidFill>
            <a:prstDash val="dash"/>
          </a:ln>
        </p:spPr>
        <p:txBody>
          <a:bodyPr wrap="none" lIns="0" tIns="0" rIns="0" bIns="0" rtlCol="0" anchor="ctr">
            <a:normAutofit/>
          </a:bodyPr>
          <a:lstStyle/>
          <a:p>
            <a:pPr algn="ctr" indent="0" marL="0">
              <a:lnSpc>
                <a:spcPts val="2380"/>
              </a:lnSpc>
              <a:buNone/>
            </a:pPr>
            <a:r>
              <a:rPr lang="en-US" sz="1700" dirty="0">
                <a:solidFill>
                  <a:srgbClr val="8B9097"/>
                </a:solidFill>
                <a:latin typeface="Raleway" pitchFamily="34" charset="0"/>
                <a:ea typeface="Raleway" pitchFamily="34" charset="-122"/>
                <a:cs typeface="Raleway" pitchFamily="34" charset="-120"/>
              </a:rPr>
              <a:t>?</a:t>
            </a:r>
            <a:endParaRPr lang="en-US" sz="1700" dirty="0"/>
          </a:p>
        </p:txBody>
      </p:sp>
      <p:sp>
        <p:nvSpPr>
          <p:cNvPr id="25" name="Text 22"/>
          <p:cNvSpPr/>
          <p:nvPr/>
        </p:nvSpPr>
        <p:spPr>
          <a:xfrm>
            <a:off x="3325614" y="3790801"/>
            <a:ext cx="420241" cy="441920"/>
          </a:xfrm>
          <a:prstGeom prst="roundRect">
            <a:avLst>
              <a:gd name="adj" fmla="val 50000"/>
            </a:avLst>
          </a:prstGeom>
          <a:solidFill>
            <a:srgbClr val="141416"/>
          </a:solidFill>
          <a:ln w="12700">
            <a:solidFill>
              <a:srgbClr val="3A3E47"/>
            </a:solidFill>
            <a:prstDash val="dash"/>
          </a:ln>
        </p:spPr>
        <p:txBody>
          <a:bodyPr wrap="none" lIns="0" tIns="0" rIns="0" bIns="0" rtlCol="0" anchor="ctr">
            <a:normAutofit/>
          </a:bodyPr>
          <a:lstStyle/>
          <a:p>
            <a:pPr algn="ctr" indent="0" marL="0">
              <a:lnSpc>
                <a:spcPts val="2380"/>
              </a:lnSpc>
              <a:buNone/>
            </a:pPr>
            <a:r>
              <a:rPr lang="en-US" sz="1700" dirty="0">
                <a:solidFill>
                  <a:srgbClr val="8B9097"/>
                </a:solidFill>
                <a:latin typeface="Raleway" pitchFamily="34" charset="0"/>
                <a:ea typeface="Raleway" pitchFamily="34" charset="-122"/>
                <a:cs typeface="Raleway" pitchFamily="34" charset="-120"/>
              </a:rPr>
              <a:t>?</a:t>
            </a:r>
            <a:endParaRPr lang="en-US" sz="1700" dirty="0"/>
          </a:p>
        </p:txBody>
      </p:sp>
      <p:sp>
        <p:nvSpPr>
          <p:cNvPr id="26" name="Text 23"/>
          <p:cNvSpPr/>
          <p:nvPr/>
        </p:nvSpPr>
        <p:spPr>
          <a:xfrm>
            <a:off x="812800" y="4810571"/>
            <a:ext cx="10883392" cy="436860"/>
          </a:xfrm>
          <a:prstGeom prst="rect">
            <a:avLst/>
          </a:prstGeom>
          <a:noFill/>
          <a:ln/>
        </p:spPr>
        <p:txBody>
          <a:bodyPr wrap="square" lIns="0" tIns="0" rIns="0" bIns="0" rtlCol="0" anchor="t">
            <a:normAutofit/>
          </a:bodyPr>
          <a:lstStyle/>
          <a:p>
            <a:pPr algn="l" indent="0" marL="0">
              <a:lnSpc>
                <a:spcPts val="3240"/>
              </a:lnSpc>
              <a:buNone/>
            </a:pPr>
            <a:r>
              <a:rPr lang="en-US" sz="2400" dirty="0">
                <a:solidFill>
                  <a:srgbClr val="8B9097"/>
                </a:solidFill>
                <a:latin typeface="Raleway" pitchFamily="34" charset="0"/>
                <a:ea typeface="Raleway" pitchFamily="34" charset="-122"/>
                <a:cs typeface="Raleway" pitchFamily="34" charset="-120"/>
              </a:rPr>
              <a:t>VIBE CHECK:</a:t>
            </a:r>
            <a:r>
              <a:rPr lang="en-US" sz="2400" dirty="0">
                <a:solidFill>
                  <a:srgbClr val="E9ECEF"/>
                </a:solidFill>
                <a:latin typeface="Raleway" pitchFamily="34" charset="0"/>
                <a:ea typeface="Raleway" pitchFamily="34" charset="-122"/>
                <a:cs typeface="Raleway" pitchFamily="34" charset="-120"/>
              </a:rPr>
              <a:t> </a:t>
            </a:r>
            <a:r>
              <a:rPr lang="en-US" sz="2400" dirty="0">
                <a:solidFill>
                  <a:srgbClr val="63E14F"/>
                </a:solidFill>
                <a:latin typeface="Raleway" pitchFamily="34" charset="0"/>
                <a:ea typeface="Raleway" pitchFamily="34" charset="-122"/>
                <a:cs typeface="Raleway" pitchFamily="34" charset="-120"/>
              </a:rPr>
              <a:t>“Grow me.”</a:t>
            </a:r>
            <a:endParaRPr lang="en-US" sz="2400" dirty="0"/>
          </a:p>
        </p:txBody>
      </p:sp>
      <p:pic>
        <p:nvPicPr>
          <p:cNvPr id="27" name="Image 1" descr="Mashgin">    </p:cNvPr>
          <p:cNvPicPr>
            <a:picLocks noChangeAspect="1"/>
          </p:cNvPicPr>
          <p:nvPr/>
        </p:nvPicPr>
        <p:blipFill>
          <a:blip r:embed="rId2"/>
          <a:srcRect l="-284" r="-284" t="0" b="0"/>
          <a:stretch/>
        </p:blipFill>
        <p:spPr>
          <a:xfrm>
            <a:off x="10121900" y="406400"/>
            <a:ext cx="1460500" cy="298450"/>
          </a:xfrm>
          <a:prstGeom prst="rect">
            <a:avLst/>
          </a:prstGeom>
        </p:spPr>
      </p:pic>
      <p:sp>
        <p:nvSpPr>
          <p:cNvPr id="28" name="Text 24"/>
          <p:cNvSpPr/>
          <p:nvPr/>
        </p:nvSpPr>
        <p:spPr>
          <a:xfrm>
            <a:off x="812800" y="62382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097"/>
                </a:solidFill>
                <a:latin typeface="DM Mono" pitchFamily="49" charset="0"/>
                <a:ea typeface="DM Mono" pitchFamily="49" charset="-122"/>
                <a:cs typeface="DM Mono" pitchFamily="49" charset="-120"/>
              </a:rPr>
              <a:t>Copyright Dobromir Montauk, 2026</a:t>
            </a:r>
            <a:endParaRPr lang="en-US" sz="1200" dirty="0"/>
          </a:p>
        </p:txBody>
      </p:sp>
      <p:sp>
        <p:nvSpPr>
          <p:cNvPr id="29" name="Text 25"/>
          <p:cNvSpPr/>
          <p:nvPr/>
        </p:nvSpPr>
        <p:spPr>
          <a:xfrm>
            <a:off x="10261600" y="6169670"/>
            <a:ext cx="1320800" cy="345430"/>
          </a:xfrm>
          <a:prstGeom prst="rect">
            <a:avLst/>
          </a:prstGeom>
          <a:noFill/>
          <a:ln/>
        </p:spPr>
        <p:txBody>
          <a:bodyPr wrap="square" lIns="0" tIns="0" rIns="0" bIns="0" rtlCol="0" anchor="t">
            <a:normAutofit/>
          </a:bodyPr>
          <a:lstStyle/>
          <a:p>
            <a:pPr algn="r" indent="0" marL="0">
              <a:lnSpc>
                <a:spcPts val="2520"/>
              </a:lnSpc>
              <a:buNone/>
            </a:pPr>
            <a:r>
              <a:rPr lang="en-US" sz="1800" dirty="0">
                <a:solidFill>
                  <a:srgbClr val="63E14F"/>
                </a:solidFill>
                <a:latin typeface="DM Mono" pitchFamily="49" charset="0"/>
                <a:ea typeface="DM Mono" pitchFamily="49" charset="-122"/>
                <a:cs typeface="DM Mono" pitchFamily="49" charset="-120"/>
              </a:rPr>
              <a:t>[ 14 ]</a:t>
            </a:r>
            <a:endParaRPr lang="en-US"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60607"/>
        </a:solidFill>
      </p:bgPr>
    </p:bg>
    <p:spTree>
      <p:nvGrpSpPr>
        <p:cNvPr id="1" name=""/>
        <p:cNvGrpSpPr/>
        <p:nvPr/>
      </p:nvGrpSpPr>
      <p:grpSpPr>
        <a:xfrm>
          <a:off x="0" y="0"/>
          <a:ext cx="0" cy="0"/>
          <a:chOff x="0" y="0"/>
          <a:chExt cx="0" cy="0"/>
        </a:xfrm>
      </p:grpSpPr>
      <p:sp>
        <p:nvSpPr>
          <p:cNvPr id="2" name="Shape 0"/>
          <p:cNvSpPr/>
          <p:nvPr/>
        </p:nvSpPr>
        <p:spPr>
          <a:xfrm>
            <a:off x="254000" y="0"/>
            <a:ext cx="25400" cy="6858000"/>
          </a:xfrm>
          <a:prstGeom prst="rect">
            <a:avLst/>
          </a:prstGeom>
          <a:gradFill rotWithShape="1">
            <a:gsLst>
              <a:gs pos="0">
                <a:srgbClr val="FF832A"/>
              </a:gs>
              <a:gs pos="35000">
                <a:srgbClr val="FF832A"/>
              </a:gs>
              <a:gs pos="75000">
                <a:srgbClr val="63E14F"/>
              </a:gs>
              <a:gs pos="100000">
                <a:srgbClr val="63E14F"/>
              </a:gs>
            </a:gsLst>
            <a:lin ang="5400000" scaled="0"/>
          </a:gradFill>
          <a:ln/>
        </p:spPr>
      </p:sp>
      <p:sp>
        <p:nvSpPr>
          <p:cNvPr id="3" name="Text 1"/>
          <p:cNvSpPr/>
          <p:nvPr/>
        </p:nvSpPr>
        <p:spPr>
          <a:xfrm>
            <a:off x="812800" y="7112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spc="100" kern="0" dirty="0">
                <a:solidFill>
                  <a:srgbClr val="63E14F"/>
                </a:solidFill>
                <a:latin typeface="DM Mono" pitchFamily="49" charset="0"/>
                <a:ea typeface="DM Mono" pitchFamily="49" charset="-122"/>
                <a:cs typeface="DM Mono" pitchFamily="49" charset="-120"/>
              </a:rPr>
              <a:t>[ FIT · +10 AT MASHGIN ]</a:t>
            </a:r>
            <a:endParaRPr lang="en-US" sz="1400" dirty="0"/>
          </a:p>
        </p:txBody>
      </p:sp>
      <p:sp>
        <p:nvSpPr>
          <p:cNvPr id="4" name="Text 2"/>
          <p:cNvSpPr/>
          <p:nvPr>
            <p:ph type="title"/>
          </p:nvPr>
        </p:nvSpPr>
        <p:spPr>
          <a:xfrm>
            <a:off x="812800" y="121409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63E14F"/>
                </a:solidFill>
                <a:latin typeface="Host Grotesk" pitchFamily="34" charset="0"/>
                <a:ea typeface="Host Grotesk" pitchFamily="34" charset="-122"/>
                <a:cs typeface="Host Grotesk" pitchFamily="34" charset="-120"/>
              </a:rPr>
              <a:t>Missionary</a:t>
            </a:r>
            <a:endParaRPr lang="en-US" sz="3600" dirty="0"/>
          </a:p>
        </p:txBody>
      </p:sp>
      <p:sp>
        <p:nvSpPr>
          <p:cNvPr id="5" name="Shape 3"/>
          <p:cNvSpPr/>
          <p:nvPr/>
        </p:nvSpPr>
        <p:spPr>
          <a:xfrm>
            <a:off x="819150" y="1977330"/>
            <a:ext cx="10553700" cy="2572891"/>
          </a:xfrm>
          <a:prstGeom prst="roundRect">
            <a:avLst>
              <a:gd name="adj" fmla="val 3702"/>
            </a:avLst>
          </a:prstGeom>
          <a:solidFill>
            <a:srgbClr val="1A1A1A"/>
          </a:solidFill>
          <a:ln w="12700">
            <a:solidFill>
              <a:srgbClr val="63E14F"/>
            </a:solidFill>
            <a:prstDash val="solid"/>
          </a:ln>
        </p:spPr>
      </p:sp>
      <p:sp>
        <p:nvSpPr>
          <p:cNvPr id="6" name="Text 4"/>
          <p:cNvSpPr/>
          <p:nvPr/>
        </p:nvSpPr>
        <p:spPr>
          <a:xfrm>
            <a:off x="1136650" y="2294830"/>
            <a:ext cx="1884412" cy="441920"/>
          </a:xfrm>
          <a:prstGeom prst="roundRect">
            <a:avLst>
              <a:gd name="adj" fmla="val 50000"/>
            </a:avLst>
          </a:prstGeom>
          <a:solidFill>
            <a:srgbClr val="1C2619"/>
          </a:solidFill>
          <a:ln w="12700">
            <a:solidFill>
              <a:srgbClr val="2F4A2A"/>
            </a:solidFill>
            <a:prstDash val="solid"/>
          </a:ln>
        </p:spPr>
        <p:txBody>
          <a:bodyPr wrap="none" lIns="0" tIns="0" rIns="0" bIns="0" rtlCol="0" anchor="ctr">
            <a:normAutofit/>
          </a:bodyPr>
          <a:lstStyle/>
          <a:p>
            <a:pPr algn="ctr" indent="0" marL="0">
              <a:lnSpc>
                <a:spcPts val="2380"/>
              </a:lnSpc>
              <a:buNone/>
            </a:pPr>
            <a:r>
              <a:rPr lang="en-US" sz="1700" dirty="0">
                <a:solidFill>
                  <a:srgbClr val="E9ECEF"/>
                </a:solidFill>
                <a:latin typeface="Raleway" pitchFamily="34" charset="0"/>
                <a:ea typeface="Raleway" pitchFamily="34" charset="-122"/>
                <a:cs typeface="Raleway" pitchFamily="34" charset="-120"/>
              </a:rPr>
              <a:t>growth mindset</a:t>
            </a:r>
            <a:endParaRPr lang="en-US" sz="1700" dirty="0"/>
          </a:p>
        </p:txBody>
      </p:sp>
      <p:sp>
        <p:nvSpPr>
          <p:cNvPr id="7" name="Text 5"/>
          <p:cNvSpPr/>
          <p:nvPr/>
        </p:nvSpPr>
        <p:spPr>
          <a:xfrm>
            <a:off x="3148062" y="2294830"/>
            <a:ext cx="1128365" cy="441920"/>
          </a:xfrm>
          <a:prstGeom prst="roundRect">
            <a:avLst>
              <a:gd name="adj" fmla="val 50000"/>
            </a:avLst>
          </a:prstGeom>
          <a:solidFill>
            <a:srgbClr val="1C2619"/>
          </a:solidFill>
          <a:ln w="12700">
            <a:solidFill>
              <a:srgbClr val="2F4A2A"/>
            </a:solidFill>
            <a:prstDash val="solid"/>
          </a:ln>
        </p:spPr>
        <p:txBody>
          <a:bodyPr wrap="none" lIns="0" tIns="0" rIns="0" bIns="0" rtlCol="0" anchor="ctr">
            <a:normAutofit/>
          </a:bodyPr>
          <a:lstStyle/>
          <a:p>
            <a:pPr algn="ctr" indent="0" marL="0">
              <a:lnSpc>
                <a:spcPts val="2380"/>
              </a:lnSpc>
              <a:buNone/>
            </a:pPr>
            <a:r>
              <a:rPr lang="en-US" sz="1700" dirty="0">
                <a:solidFill>
                  <a:srgbClr val="E9ECEF"/>
                </a:solidFill>
                <a:latin typeface="Raleway" pitchFamily="34" charset="0"/>
                <a:ea typeface="Raleway" pitchFamily="34" charset="-122"/>
                <a:cs typeface="Raleway" pitchFamily="34" charset="-120"/>
              </a:rPr>
              <a:t>learning</a:t>
            </a:r>
            <a:endParaRPr lang="en-US" sz="1700" dirty="0"/>
          </a:p>
        </p:txBody>
      </p:sp>
      <p:sp>
        <p:nvSpPr>
          <p:cNvPr id="8" name="Text 6"/>
          <p:cNvSpPr/>
          <p:nvPr/>
        </p:nvSpPr>
        <p:spPr>
          <a:xfrm>
            <a:off x="4403427" y="2294830"/>
            <a:ext cx="615752" cy="441920"/>
          </a:xfrm>
          <a:prstGeom prst="roundRect">
            <a:avLst>
              <a:gd name="adj" fmla="val 50000"/>
            </a:avLst>
          </a:prstGeom>
          <a:solidFill>
            <a:srgbClr val="1C2619"/>
          </a:solidFill>
          <a:ln w="12700">
            <a:solidFill>
              <a:srgbClr val="2F4A2A"/>
            </a:solidFill>
            <a:prstDash val="solid"/>
          </a:ln>
        </p:spPr>
        <p:txBody>
          <a:bodyPr wrap="none" lIns="0" tIns="0" rIns="0" bIns="0" rtlCol="0" anchor="ctr">
            <a:normAutofit/>
          </a:bodyPr>
          <a:lstStyle/>
          <a:p>
            <a:pPr algn="ctr" indent="0" marL="0">
              <a:lnSpc>
                <a:spcPts val="2380"/>
              </a:lnSpc>
              <a:buNone/>
            </a:pPr>
            <a:r>
              <a:rPr lang="en-US" sz="1700" dirty="0">
                <a:solidFill>
                  <a:srgbClr val="E9ECEF"/>
                </a:solidFill>
                <a:latin typeface="Raleway" pitchFamily="34" charset="0"/>
                <a:ea typeface="Raleway" pitchFamily="34" charset="-122"/>
                <a:cs typeface="Raleway" pitchFamily="34" charset="-120"/>
              </a:rPr>
              <a:t>we</a:t>
            </a:r>
            <a:endParaRPr lang="en-US" sz="1700" dirty="0"/>
          </a:p>
        </p:txBody>
      </p:sp>
      <p:sp>
        <p:nvSpPr>
          <p:cNvPr id="9" name="Text 7"/>
          <p:cNvSpPr/>
          <p:nvPr/>
        </p:nvSpPr>
        <p:spPr>
          <a:xfrm>
            <a:off x="5146179" y="2294830"/>
            <a:ext cx="1184325" cy="441920"/>
          </a:xfrm>
          <a:prstGeom prst="roundRect">
            <a:avLst>
              <a:gd name="adj" fmla="val 50000"/>
            </a:avLst>
          </a:prstGeom>
          <a:solidFill>
            <a:srgbClr val="1C2619"/>
          </a:solidFill>
          <a:ln w="12700">
            <a:solidFill>
              <a:srgbClr val="2F4A2A"/>
            </a:solidFill>
            <a:prstDash val="solid"/>
          </a:ln>
        </p:spPr>
        <p:txBody>
          <a:bodyPr wrap="none" lIns="0" tIns="0" rIns="0" bIns="0" rtlCol="0" anchor="ctr">
            <a:normAutofit/>
          </a:bodyPr>
          <a:lstStyle/>
          <a:p>
            <a:pPr algn="ctr" indent="0" marL="0">
              <a:lnSpc>
                <a:spcPts val="2380"/>
              </a:lnSpc>
              <a:buNone/>
            </a:pPr>
            <a:r>
              <a:rPr lang="en-US" sz="1700" dirty="0">
                <a:solidFill>
                  <a:srgbClr val="E9ECEF"/>
                </a:solidFill>
                <a:latin typeface="Raleway" pitchFamily="34" charset="0"/>
                <a:ea typeface="Raleway" pitchFamily="34" charset="-122"/>
                <a:cs typeface="Raleway" pitchFamily="34" charset="-120"/>
              </a:rPr>
              <a:t>intrinsics</a:t>
            </a:r>
            <a:endParaRPr lang="en-US" sz="1700" dirty="0"/>
          </a:p>
        </p:txBody>
      </p:sp>
      <p:sp>
        <p:nvSpPr>
          <p:cNvPr id="10" name="Text 8"/>
          <p:cNvSpPr/>
          <p:nvPr/>
        </p:nvSpPr>
        <p:spPr>
          <a:xfrm>
            <a:off x="6457504" y="2294830"/>
            <a:ext cx="1004887" cy="441920"/>
          </a:xfrm>
          <a:prstGeom prst="roundRect">
            <a:avLst>
              <a:gd name="adj" fmla="val 50000"/>
            </a:avLst>
          </a:prstGeom>
          <a:solidFill>
            <a:srgbClr val="1C2619"/>
          </a:solidFill>
          <a:ln w="12700">
            <a:solidFill>
              <a:srgbClr val="2F4A2A"/>
            </a:solidFill>
            <a:prstDash val="solid"/>
          </a:ln>
        </p:spPr>
        <p:txBody>
          <a:bodyPr wrap="none" lIns="0" tIns="0" rIns="0" bIns="0" rtlCol="0" anchor="ctr">
            <a:normAutofit/>
          </a:bodyPr>
          <a:lstStyle/>
          <a:p>
            <a:pPr algn="ctr" indent="0" marL="0">
              <a:lnSpc>
                <a:spcPts val="2380"/>
              </a:lnSpc>
              <a:buNone/>
            </a:pPr>
            <a:r>
              <a:rPr lang="en-US" sz="1700" dirty="0">
                <a:solidFill>
                  <a:srgbClr val="E9ECEF"/>
                </a:solidFill>
                <a:latin typeface="Raleway" pitchFamily="34" charset="0"/>
                <a:ea typeface="Raleway" pitchFamily="34" charset="-122"/>
                <a:cs typeface="Raleway" pitchFamily="34" charset="-120"/>
              </a:rPr>
              <a:t>impact</a:t>
            </a:r>
            <a:endParaRPr lang="en-US" sz="1700" dirty="0"/>
          </a:p>
        </p:txBody>
      </p:sp>
      <p:sp>
        <p:nvSpPr>
          <p:cNvPr id="11" name="Text 9"/>
          <p:cNvSpPr/>
          <p:nvPr/>
        </p:nvSpPr>
        <p:spPr>
          <a:xfrm>
            <a:off x="7589391" y="2294830"/>
            <a:ext cx="1043384" cy="441920"/>
          </a:xfrm>
          <a:prstGeom prst="roundRect">
            <a:avLst>
              <a:gd name="adj" fmla="val 50000"/>
            </a:avLst>
          </a:prstGeom>
          <a:solidFill>
            <a:srgbClr val="1C2619"/>
          </a:solidFill>
          <a:ln w="12700">
            <a:solidFill>
              <a:srgbClr val="2F4A2A"/>
            </a:solidFill>
            <a:prstDash val="solid"/>
          </a:ln>
        </p:spPr>
        <p:txBody>
          <a:bodyPr wrap="none" lIns="0" tIns="0" rIns="0" bIns="0" rtlCol="0" anchor="ctr">
            <a:normAutofit/>
          </a:bodyPr>
          <a:lstStyle/>
          <a:p>
            <a:pPr algn="ctr" indent="0" marL="0">
              <a:lnSpc>
                <a:spcPts val="2380"/>
              </a:lnSpc>
              <a:buNone/>
            </a:pPr>
            <a:r>
              <a:rPr lang="en-US" sz="1700" dirty="0">
                <a:solidFill>
                  <a:srgbClr val="E9ECEF"/>
                </a:solidFill>
                <a:latin typeface="Raleway" pitchFamily="34" charset="0"/>
                <a:ea typeface="Raleway" pitchFamily="34" charset="-122"/>
                <a:cs typeface="Raleway" pitchFamily="34" charset="-120"/>
              </a:rPr>
              <a:t>diverse</a:t>
            </a:r>
            <a:endParaRPr lang="en-US" sz="1700" dirty="0"/>
          </a:p>
        </p:txBody>
      </p:sp>
      <p:sp>
        <p:nvSpPr>
          <p:cNvPr id="12" name="Text 10"/>
          <p:cNvSpPr/>
          <p:nvPr/>
        </p:nvSpPr>
        <p:spPr>
          <a:xfrm>
            <a:off x="8759775" y="2294830"/>
            <a:ext cx="2235944" cy="441920"/>
          </a:xfrm>
          <a:prstGeom prst="roundRect">
            <a:avLst>
              <a:gd name="adj" fmla="val 50000"/>
            </a:avLst>
          </a:prstGeom>
          <a:solidFill>
            <a:srgbClr val="1C2619"/>
          </a:solidFill>
          <a:ln w="12700">
            <a:solidFill>
              <a:srgbClr val="2F4A2A"/>
            </a:solidFill>
            <a:prstDash val="solid"/>
          </a:ln>
        </p:spPr>
        <p:txBody>
          <a:bodyPr wrap="none" lIns="0" tIns="0" rIns="0" bIns="0" rtlCol="0" anchor="ctr">
            <a:normAutofit/>
          </a:bodyPr>
          <a:lstStyle/>
          <a:p>
            <a:pPr algn="ctr" indent="0" marL="0">
              <a:lnSpc>
                <a:spcPts val="2380"/>
              </a:lnSpc>
              <a:buNone/>
            </a:pPr>
            <a:r>
              <a:rPr lang="en-US" sz="1700" dirty="0">
                <a:solidFill>
                  <a:srgbClr val="E9ECEF"/>
                </a:solidFill>
                <a:latin typeface="Raleway" pitchFamily="34" charset="0"/>
                <a:ea typeface="Raleway" pitchFamily="34" charset="-122"/>
                <a:cs typeface="Raleway" pitchFamily="34" charset="-120"/>
              </a:rPr>
              <a:t>exponential growth</a:t>
            </a:r>
            <a:endParaRPr lang="en-US" sz="1700" dirty="0"/>
          </a:p>
        </p:txBody>
      </p:sp>
      <p:sp>
        <p:nvSpPr>
          <p:cNvPr id="13" name="Text 11"/>
          <p:cNvSpPr/>
          <p:nvPr/>
        </p:nvSpPr>
        <p:spPr>
          <a:xfrm>
            <a:off x="1136650" y="2863751"/>
            <a:ext cx="945902" cy="441920"/>
          </a:xfrm>
          <a:prstGeom prst="roundRect">
            <a:avLst>
              <a:gd name="adj" fmla="val 50000"/>
            </a:avLst>
          </a:prstGeom>
          <a:solidFill>
            <a:srgbClr val="1C2619"/>
          </a:solidFill>
          <a:ln w="12700">
            <a:solidFill>
              <a:srgbClr val="2F4A2A"/>
            </a:solidFill>
            <a:prstDash val="solid"/>
          </a:ln>
        </p:spPr>
        <p:txBody>
          <a:bodyPr wrap="none" lIns="0" tIns="0" rIns="0" bIns="0" rtlCol="0" anchor="ctr">
            <a:normAutofit/>
          </a:bodyPr>
          <a:lstStyle/>
          <a:p>
            <a:pPr algn="ctr" indent="0" marL="0">
              <a:lnSpc>
                <a:spcPts val="2380"/>
              </a:lnSpc>
              <a:buNone/>
            </a:pPr>
            <a:r>
              <a:rPr lang="en-US" sz="1700" dirty="0">
                <a:solidFill>
                  <a:srgbClr val="E9ECEF"/>
                </a:solidFill>
                <a:latin typeface="Raleway" pitchFamily="34" charset="0"/>
                <a:ea typeface="Raleway" pitchFamily="34" charset="-122"/>
                <a:cs typeface="Raleway" pitchFamily="34" charset="-120"/>
              </a:rPr>
              <a:t>owner</a:t>
            </a:r>
            <a:endParaRPr lang="en-US" sz="1700" dirty="0"/>
          </a:p>
        </p:txBody>
      </p:sp>
      <p:sp>
        <p:nvSpPr>
          <p:cNvPr id="14" name="Text 12"/>
          <p:cNvSpPr/>
          <p:nvPr/>
        </p:nvSpPr>
        <p:spPr>
          <a:xfrm>
            <a:off x="2209552" y="2863751"/>
            <a:ext cx="1454448" cy="441920"/>
          </a:xfrm>
          <a:prstGeom prst="roundRect">
            <a:avLst>
              <a:gd name="adj" fmla="val 50000"/>
            </a:avLst>
          </a:prstGeom>
          <a:solidFill>
            <a:srgbClr val="1C2619"/>
          </a:solidFill>
          <a:ln w="12700">
            <a:solidFill>
              <a:srgbClr val="2F4A2A"/>
            </a:solidFill>
            <a:prstDash val="solid"/>
          </a:ln>
        </p:spPr>
        <p:txBody>
          <a:bodyPr wrap="none" lIns="0" tIns="0" rIns="0" bIns="0" rtlCol="0" anchor="ctr">
            <a:normAutofit/>
          </a:bodyPr>
          <a:lstStyle/>
          <a:p>
            <a:pPr algn="ctr" indent="0" marL="0">
              <a:lnSpc>
                <a:spcPts val="2380"/>
              </a:lnSpc>
              <a:buNone/>
            </a:pPr>
            <a:r>
              <a:rPr lang="en-US" sz="1700" dirty="0">
                <a:solidFill>
                  <a:srgbClr val="E9ECEF"/>
                </a:solidFill>
                <a:latin typeface="Raleway" pitchFamily="34" charset="0"/>
                <a:ea typeface="Raleway" pitchFamily="34" charset="-122"/>
                <a:cs typeface="Raleway" pitchFamily="34" charset="-120"/>
              </a:rPr>
              <a:t>empathetic</a:t>
            </a:r>
            <a:endParaRPr lang="en-US" sz="1700" dirty="0"/>
          </a:p>
        </p:txBody>
      </p:sp>
      <p:sp>
        <p:nvSpPr>
          <p:cNvPr id="15" name="Text 13"/>
          <p:cNvSpPr/>
          <p:nvPr/>
        </p:nvSpPr>
        <p:spPr>
          <a:xfrm>
            <a:off x="3791000" y="2863751"/>
            <a:ext cx="1727051" cy="441920"/>
          </a:xfrm>
          <a:prstGeom prst="roundRect">
            <a:avLst>
              <a:gd name="adj" fmla="val 50000"/>
            </a:avLst>
          </a:prstGeom>
          <a:solidFill>
            <a:srgbClr val="1C2619"/>
          </a:solidFill>
          <a:ln w="12700">
            <a:solidFill>
              <a:srgbClr val="2F4A2A"/>
            </a:solidFill>
            <a:prstDash val="solid"/>
          </a:ln>
        </p:spPr>
        <p:txBody>
          <a:bodyPr wrap="none" lIns="0" tIns="0" rIns="0" bIns="0" rtlCol="0" anchor="ctr">
            <a:normAutofit/>
          </a:bodyPr>
          <a:lstStyle/>
          <a:p>
            <a:pPr algn="ctr" indent="0" marL="0">
              <a:lnSpc>
                <a:spcPts val="2380"/>
              </a:lnSpc>
              <a:buNone/>
            </a:pPr>
            <a:r>
              <a:rPr lang="en-US" sz="1700" dirty="0">
                <a:solidFill>
                  <a:srgbClr val="E9ECEF"/>
                </a:solidFill>
                <a:latin typeface="Raleway" pitchFamily="34" charset="0"/>
                <a:ea typeface="Raleway" pitchFamily="34" charset="-122"/>
                <a:cs typeface="Raleway" pitchFamily="34" charset="-120"/>
              </a:rPr>
              <a:t>accomplished</a:t>
            </a:r>
            <a:endParaRPr lang="en-US" sz="1700" dirty="0"/>
          </a:p>
        </p:txBody>
      </p:sp>
      <p:sp>
        <p:nvSpPr>
          <p:cNvPr id="16" name="Text 14"/>
          <p:cNvSpPr/>
          <p:nvPr/>
        </p:nvSpPr>
        <p:spPr>
          <a:xfrm>
            <a:off x="5645051" y="2863751"/>
            <a:ext cx="1482427" cy="441920"/>
          </a:xfrm>
          <a:prstGeom prst="roundRect">
            <a:avLst>
              <a:gd name="adj" fmla="val 50000"/>
            </a:avLst>
          </a:prstGeom>
          <a:solidFill>
            <a:srgbClr val="1C2619"/>
          </a:solidFill>
          <a:ln w="12700">
            <a:solidFill>
              <a:srgbClr val="2F4A2A"/>
            </a:solidFill>
            <a:prstDash val="solid"/>
          </a:ln>
        </p:spPr>
        <p:txBody>
          <a:bodyPr wrap="none" lIns="0" tIns="0" rIns="0" bIns="0" rtlCol="0" anchor="ctr">
            <a:normAutofit/>
          </a:bodyPr>
          <a:lstStyle/>
          <a:p>
            <a:pPr algn="ctr" indent="0" marL="0">
              <a:lnSpc>
                <a:spcPts val="2380"/>
              </a:lnSpc>
              <a:buNone/>
            </a:pPr>
            <a:r>
              <a:rPr lang="en-US" sz="1700" dirty="0">
                <a:solidFill>
                  <a:srgbClr val="E9ECEF"/>
                </a:solidFill>
                <a:latin typeface="Raleway" pitchFamily="34" charset="0"/>
                <a:ea typeface="Raleway" pitchFamily="34" charset="-122"/>
                <a:cs typeface="Raleway" pitchFamily="34" charset="-120"/>
              </a:rPr>
              <a:t>determined</a:t>
            </a:r>
            <a:endParaRPr lang="en-US" sz="1700" dirty="0"/>
          </a:p>
        </p:txBody>
      </p:sp>
      <p:sp>
        <p:nvSpPr>
          <p:cNvPr id="17" name="Text 15"/>
          <p:cNvSpPr/>
          <p:nvPr/>
        </p:nvSpPr>
        <p:spPr>
          <a:xfrm>
            <a:off x="7254478" y="2863751"/>
            <a:ext cx="955278" cy="441920"/>
          </a:xfrm>
          <a:prstGeom prst="roundRect">
            <a:avLst>
              <a:gd name="adj" fmla="val 50000"/>
            </a:avLst>
          </a:prstGeom>
          <a:solidFill>
            <a:srgbClr val="1C2619"/>
          </a:solidFill>
          <a:ln w="12700">
            <a:solidFill>
              <a:srgbClr val="2F4A2A"/>
            </a:solidFill>
            <a:prstDash val="solid"/>
          </a:ln>
        </p:spPr>
        <p:txBody>
          <a:bodyPr wrap="none" lIns="0" tIns="0" rIns="0" bIns="0" rtlCol="0" anchor="ctr">
            <a:normAutofit/>
          </a:bodyPr>
          <a:lstStyle/>
          <a:p>
            <a:pPr algn="ctr" indent="0" marL="0">
              <a:lnSpc>
                <a:spcPts val="2380"/>
              </a:lnSpc>
              <a:buNone/>
            </a:pPr>
            <a:r>
              <a:rPr lang="en-US" sz="1700" dirty="0">
                <a:solidFill>
                  <a:srgbClr val="E9ECEF"/>
                </a:solidFill>
                <a:latin typeface="Raleway" pitchFamily="34" charset="0"/>
                <a:ea typeface="Raleway" pitchFamily="34" charset="-122"/>
                <a:cs typeface="Raleway" pitchFamily="34" charset="-120"/>
              </a:rPr>
              <a:t>career</a:t>
            </a:r>
            <a:endParaRPr lang="en-US" sz="1700" dirty="0"/>
          </a:p>
        </p:txBody>
      </p:sp>
      <p:sp>
        <p:nvSpPr>
          <p:cNvPr id="18" name="Text 16"/>
          <p:cNvSpPr/>
          <p:nvPr/>
        </p:nvSpPr>
        <p:spPr>
          <a:xfrm>
            <a:off x="8336756" y="2863751"/>
            <a:ext cx="1081088" cy="441920"/>
          </a:xfrm>
          <a:prstGeom prst="roundRect">
            <a:avLst>
              <a:gd name="adj" fmla="val 50000"/>
            </a:avLst>
          </a:prstGeom>
          <a:solidFill>
            <a:srgbClr val="1C2619"/>
          </a:solidFill>
          <a:ln w="12700">
            <a:solidFill>
              <a:srgbClr val="2F4A2A"/>
            </a:solidFill>
            <a:prstDash val="solid"/>
          </a:ln>
        </p:spPr>
        <p:txBody>
          <a:bodyPr wrap="none" lIns="0" tIns="0" rIns="0" bIns="0" rtlCol="0" anchor="ctr">
            <a:normAutofit/>
          </a:bodyPr>
          <a:lstStyle/>
          <a:p>
            <a:pPr algn="ctr" indent="0" marL="0">
              <a:lnSpc>
                <a:spcPts val="2380"/>
              </a:lnSpc>
              <a:buNone/>
            </a:pPr>
            <a:r>
              <a:rPr lang="en-US" sz="1700" dirty="0">
                <a:solidFill>
                  <a:srgbClr val="E9ECEF"/>
                </a:solidFill>
                <a:latin typeface="Raleway" pitchFamily="34" charset="0"/>
                <a:ea typeface="Raleway" pitchFamily="34" charset="-122"/>
                <a:cs typeface="Raleway" pitchFamily="34" charset="-120"/>
              </a:rPr>
              <a:t>engage</a:t>
            </a:r>
            <a:endParaRPr lang="en-US" sz="1700" dirty="0"/>
          </a:p>
        </p:txBody>
      </p:sp>
      <p:pic>
        <p:nvPicPr>
          <p:cNvPr id="19" name="Image 0" descr="preencoded.png">    </p:cNvPr>
          <p:cNvPicPr>
            <a:picLocks noChangeAspect="1"/>
          </p:cNvPicPr>
          <p:nvPr/>
        </p:nvPicPr>
        <p:blipFill>
          <a:blip r:embed="rId1"/>
          <a:srcRect l="-8594" r="-8594" t="0" b="0"/>
          <a:stretch/>
        </p:blipFill>
        <p:spPr>
          <a:xfrm>
            <a:off x="1130300" y="3388221"/>
            <a:ext cx="10160000" cy="12700"/>
          </a:xfrm>
          <a:prstGeom prst="rect">
            <a:avLst/>
          </a:prstGeom>
        </p:spPr>
      </p:pic>
      <p:sp>
        <p:nvSpPr>
          <p:cNvPr id="20" name="Text 17"/>
          <p:cNvSpPr/>
          <p:nvPr/>
        </p:nvSpPr>
        <p:spPr>
          <a:xfrm>
            <a:off x="1130300" y="3477121"/>
            <a:ext cx="10229342" cy="256530"/>
          </a:xfrm>
          <a:prstGeom prst="rect">
            <a:avLst/>
          </a:prstGeom>
          <a:noFill/>
          <a:ln/>
        </p:spPr>
        <p:txBody>
          <a:bodyPr wrap="square" lIns="0" tIns="0" rIns="0" bIns="0" rtlCol="0" anchor="t">
            <a:normAutofit/>
          </a:bodyPr>
          <a:lstStyle/>
          <a:p>
            <a:pPr algn="l" indent="0" marL="0">
              <a:lnSpc>
                <a:spcPts val="1820"/>
              </a:lnSpc>
              <a:buNone/>
            </a:pPr>
            <a:r>
              <a:rPr lang="en-US" sz="1300" spc="100" kern="0" dirty="0">
                <a:solidFill>
                  <a:srgbClr val="63E14F"/>
                </a:solidFill>
                <a:latin typeface="DM Mono" pitchFamily="49" charset="0"/>
                <a:ea typeface="DM Mono" pitchFamily="49" charset="-122"/>
                <a:cs typeface="DM Mono" pitchFamily="49" charset="-120"/>
              </a:rPr>
              <a:t>AT MASHGIN</a:t>
            </a:r>
            <a:endParaRPr lang="en-US" sz="1300" dirty="0"/>
          </a:p>
        </p:txBody>
      </p:sp>
      <p:sp>
        <p:nvSpPr>
          <p:cNvPr id="21" name="Text 18"/>
          <p:cNvSpPr/>
          <p:nvPr/>
        </p:nvSpPr>
        <p:spPr>
          <a:xfrm>
            <a:off x="1136650" y="3790801"/>
            <a:ext cx="1113135" cy="441920"/>
          </a:xfrm>
          <a:prstGeom prst="roundRect">
            <a:avLst>
              <a:gd name="adj" fmla="val 50000"/>
            </a:avLst>
          </a:prstGeom>
          <a:solidFill>
            <a:srgbClr val="63E14F"/>
          </a:solidFill>
          <a:ln w="12700">
            <a:solidFill>
              <a:srgbClr val="63E14F"/>
            </a:solidFill>
            <a:prstDash val="solid"/>
          </a:ln>
        </p:spPr>
        <p:txBody>
          <a:bodyPr wrap="none" lIns="0" tIns="0" rIns="0" bIns="0" rtlCol="0" anchor="ctr">
            <a:normAutofit/>
          </a:bodyPr>
          <a:lstStyle/>
          <a:p>
            <a:pPr algn="ctr" indent="0" marL="0">
              <a:lnSpc>
                <a:spcPts val="2380"/>
              </a:lnSpc>
              <a:buNone/>
            </a:pPr>
            <a:r>
              <a:rPr lang="en-US" sz="1700" dirty="0">
                <a:solidFill>
                  <a:srgbClr val="060607"/>
                </a:solidFill>
                <a:latin typeface="Raleway" pitchFamily="34" charset="0"/>
                <a:ea typeface="Raleway" pitchFamily="34" charset="-122"/>
                <a:cs typeface="Raleway" pitchFamily="34" charset="-120"/>
              </a:rPr>
              <a:t>scrappy</a:t>
            </a:r>
            <a:endParaRPr lang="en-US" sz="1700" dirty="0"/>
          </a:p>
        </p:txBody>
      </p:sp>
      <p:sp>
        <p:nvSpPr>
          <p:cNvPr id="22" name="Text 19"/>
          <p:cNvSpPr/>
          <p:nvPr/>
        </p:nvSpPr>
        <p:spPr>
          <a:xfrm>
            <a:off x="2376785" y="3790801"/>
            <a:ext cx="1838027" cy="441920"/>
          </a:xfrm>
          <a:prstGeom prst="roundRect">
            <a:avLst>
              <a:gd name="adj" fmla="val 50000"/>
            </a:avLst>
          </a:prstGeom>
          <a:solidFill>
            <a:srgbClr val="63E14F"/>
          </a:solidFill>
          <a:ln w="12700">
            <a:solidFill>
              <a:srgbClr val="63E14F"/>
            </a:solidFill>
            <a:prstDash val="solid"/>
          </a:ln>
        </p:spPr>
        <p:txBody>
          <a:bodyPr wrap="none" lIns="0" tIns="0" rIns="0" bIns="0" rtlCol="0" anchor="ctr">
            <a:normAutofit/>
          </a:bodyPr>
          <a:lstStyle/>
          <a:p>
            <a:pPr algn="ctr" indent="0" marL="0">
              <a:lnSpc>
                <a:spcPts val="2380"/>
              </a:lnSpc>
              <a:buNone/>
            </a:pPr>
            <a:r>
              <a:rPr lang="en-US" sz="1700" dirty="0">
                <a:solidFill>
                  <a:srgbClr val="060607"/>
                </a:solidFill>
                <a:latin typeface="Raleway" pitchFamily="34" charset="0"/>
                <a:ea typeface="Raleway" pitchFamily="34" charset="-122"/>
                <a:cs typeface="Raleway" pitchFamily="34" charset="-120"/>
              </a:rPr>
              <a:t>loves hardware</a:t>
            </a:r>
            <a:endParaRPr lang="en-US" sz="1700" dirty="0"/>
          </a:p>
        </p:txBody>
      </p:sp>
      <p:sp>
        <p:nvSpPr>
          <p:cNvPr id="23" name="Text 20"/>
          <p:cNvSpPr/>
          <p:nvPr/>
        </p:nvSpPr>
        <p:spPr>
          <a:xfrm>
            <a:off x="4341813" y="3790801"/>
            <a:ext cx="1253232" cy="441920"/>
          </a:xfrm>
          <a:prstGeom prst="roundRect">
            <a:avLst>
              <a:gd name="adj" fmla="val 50000"/>
            </a:avLst>
          </a:prstGeom>
          <a:solidFill>
            <a:srgbClr val="63E14F"/>
          </a:solidFill>
          <a:ln w="12700">
            <a:solidFill>
              <a:srgbClr val="63E14F"/>
            </a:solidFill>
            <a:prstDash val="solid"/>
          </a:ln>
        </p:spPr>
        <p:txBody>
          <a:bodyPr wrap="none" lIns="0" tIns="0" rIns="0" bIns="0" rtlCol="0" anchor="ctr">
            <a:normAutofit/>
          </a:bodyPr>
          <a:lstStyle/>
          <a:p>
            <a:pPr algn="ctr" indent="0" marL="0">
              <a:lnSpc>
                <a:spcPts val="2380"/>
              </a:lnSpc>
              <a:buNone/>
            </a:pPr>
            <a:r>
              <a:rPr lang="en-US" sz="1700" dirty="0">
                <a:solidFill>
                  <a:srgbClr val="060607"/>
                </a:solidFill>
                <a:latin typeface="Raleway" pitchFamily="34" charset="0"/>
                <a:ea typeface="Raleway" pitchFamily="34" charset="-122"/>
                <a:cs typeface="Raleway" pitchFamily="34" charset="-120"/>
              </a:rPr>
              <a:t>efficiency</a:t>
            </a:r>
            <a:endParaRPr lang="en-US" sz="1700" dirty="0"/>
          </a:p>
        </p:txBody>
      </p:sp>
      <p:sp>
        <p:nvSpPr>
          <p:cNvPr id="24" name="Text 21"/>
          <p:cNvSpPr/>
          <p:nvPr/>
        </p:nvSpPr>
        <p:spPr>
          <a:xfrm>
            <a:off x="5722045" y="3790801"/>
            <a:ext cx="1704132" cy="441920"/>
          </a:xfrm>
          <a:prstGeom prst="roundRect">
            <a:avLst>
              <a:gd name="adj" fmla="val 50000"/>
            </a:avLst>
          </a:prstGeom>
          <a:solidFill>
            <a:srgbClr val="63E14F"/>
          </a:solidFill>
          <a:ln w="12700">
            <a:solidFill>
              <a:srgbClr val="63E14F"/>
            </a:solidFill>
            <a:prstDash val="solid"/>
          </a:ln>
        </p:spPr>
        <p:txBody>
          <a:bodyPr wrap="none" lIns="0" tIns="0" rIns="0" bIns="0" rtlCol="0" anchor="ctr">
            <a:normAutofit/>
          </a:bodyPr>
          <a:lstStyle/>
          <a:p>
            <a:pPr algn="ctr" indent="0" marL="0">
              <a:lnSpc>
                <a:spcPts val="2380"/>
              </a:lnSpc>
              <a:buNone/>
            </a:pPr>
            <a:r>
              <a:rPr lang="en-US" sz="1700" dirty="0">
                <a:solidFill>
                  <a:srgbClr val="060607"/>
                </a:solidFill>
                <a:latin typeface="Raleway" pitchFamily="34" charset="0"/>
                <a:ea typeface="Raleway" pitchFamily="34" charset="-122"/>
                <a:cs typeface="Raleway" pitchFamily="34" charset="-120"/>
              </a:rPr>
              <a:t>first principles</a:t>
            </a:r>
            <a:endParaRPr lang="en-US" sz="1700" dirty="0"/>
          </a:p>
        </p:txBody>
      </p:sp>
      <p:sp>
        <p:nvSpPr>
          <p:cNvPr id="25" name="Text 22"/>
          <p:cNvSpPr/>
          <p:nvPr/>
        </p:nvSpPr>
        <p:spPr>
          <a:xfrm>
            <a:off x="7553176" y="3790801"/>
            <a:ext cx="1857673" cy="441920"/>
          </a:xfrm>
          <a:prstGeom prst="roundRect">
            <a:avLst>
              <a:gd name="adj" fmla="val 50000"/>
            </a:avLst>
          </a:prstGeom>
          <a:solidFill>
            <a:srgbClr val="63E14F"/>
          </a:solidFill>
          <a:ln w="12700">
            <a:solidFill>
              <a:srgbClr val="63E14F"/>
            </a:solidFill>
            <a:prstDash val="solid"/>
          </a:ln>
        </p:spPr>
        <p:txBody>
          <a:bodyPr wrap="none" lIns="0" tIns="0" rIns="0" bIns="0" rtlCol="0" anchor="ctr">
            <a:normAutofit/>
          </a:bodyPr>
          <a:lstStyle/>
          <a:p>
            <a:pPr algn="ctr" indent="0" marL="0">
              <a:lnSpc>
                <a:spcPts val="2380"/>
              </a:lnSpc>
              <a:buNone/>
            </a:pPr>
            <a:r>
              <a:rPr lang="en-US" sz="1700" dirty="0">
                <a:solidFill>
                  <a:srgbClr val="060607"/>
                </a:solidFill>
                <a:latin typeface="Raleway" pitchFamily="34" charset="0"/>
                <a:ea typeface="Raleway" pitchFamily="34" charset="-122"/>
                <a:cs typeface="Raleway" pitchFamily="34" charset="-120"/>
              </a:rPr>
              <a:t>build, don't buy</a:t>
            </a:r>
            <a:endParaRPr lang="en-US" sz="1700" dirty="0"/>
          </a:p>
        </p:txBody>
      </p:sp>
      <p:sp>
        <p:nvSpPr>
          <p:cNvPr id="26" name="Text 23"/>
          <p:cNvSpPr/>
          <p:nvPr/>
        </p:nvSpPr>
        <p:spPr>
          <a:xfrm>
            <a:off x="812800" y="4810571"/>
            <a:ext cx="10883392" cy="436860"/>
          </a:xfrm>
          <a:prstGeom prst="rect">
            <a:avLst/>
          </a:prstGeom>
          <a:noFill/>
          <a:ln/>
        </p:spPr>
        <p:txBody>
          <a:bodyPr wrap="square" lIns="0" tIns="0" rIns="0" bIns="0" rtlCol="0" anchor="t">
            <a:normAutofit/>
          </a:bodyPr>
          <a:lstStyle/>
          <a:p>
            <a:pPr algn="l" indent="0" marL="0">
              <a:lnSpc>
                <a:spcPts val="3240"/>
              </a:lnSpc>
              <a:buNone/>
            </a:pPr>
            <a:r>
              <a:rPr lang="en-US" sz="2400" dirty="0">
                <a:solidFill>
                  <a:srgbClr val="8B9097"/>
                </a:solidFill>
                <a:latin typeface="Raleway" pitchFamily="34" charset="0"/>
                <a:ea typeface="Raleway" pitchFamily="34" charset="-122"/>
                <a:cs typeface="Raleway" pitchFamily="34" charset="-120"/>
              </a:rPr>
              <a:t>VIBE CHECK:</a:t>
            </a:r>
            <a:r>
              <a:rPr lang="en-US" sz="2400" dirty="0">
                <a:solidFill>
                  <a:srgbClr val="E9ECEF"/>
                </a:solidFill>
                <a:latin typeface="Raleway" pitchFamily="34" charset="0"/>
                <a:ea typeface="Raleway" pitchFamily="34" charset="-122"/>
                <a:cs typeface="Raleway" pitchFamily="34" charset="-120"/>
              </a:rPr>
              <a:t> </a:t>
            </a:r>
            <a:r>
              <a:rPr lang="en-US" sz="2400" dirty="0">
                <a:solidFill>
                  <a:srgbClr val="63E14F"/>
                </a:solidFill>
                <a:latin typeface="Raleway" pitchFamily="34" charset="0"/>
                <a:ea typeface="Raleway" pitchFamily="34" charset="-122"/>
                <a:cs typeface="Raleway" pitchFamily="34" charset="-120"/>
              </a:rPr>
              <a:t>“Grow me.”</a:t>
            </a:r>
            <a:endParaRPr lang="en-US" sz="2400" dirty="0"/>
          </a:p>
        </p:txBody>
      </p:sp>
      <p:pic>
        <p:nvPicPr>
          <p:cNvPr id="27" name="Image 1" descr="Mashgin">    </p:cNvPr>
          <p:cNvPicPr>
            <a:picLocks noChangeAspect="1"/>
          </p:cNvPicPr>
          <p:nvPr/>
        </p:nvPicPr>
        <p:blipFill>
          <a:blip r:embed="rId2"/>
          <a:srcRect l="-284" r="-284" t="0" b="0"/>
          <a:stretch/>
        </p:blipFill>
        <p:spPr>
          <a:xfrm>
            <a:off x="10121900" y="406400"/>
            <a:ext cx="1460500" cy="298450"/>
          </a:xfrm>
          <a:prstGeom prst="rect">
            <a:avLst/>
          </a:prstGeom>
        </p:spPr>
      </p:pic>
      <p:sp>
        <p:nvSpPr>
          <p:cNvPr id="28" name="Text 24"/>
          <p:cNvSpPr/>
          <p:nvPr/>
        </p:nvSpPr>
        <p:spPr>
          <a:xfrm>
            <a:off x="812800" y="62382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097"/>
                </a:solidFill>
                <a:latin typeface="DM Mono" pitchFamily="49" charset="0"/>
                <a:ea typeface="DM Mono" pitchFamily="49" charset="-122"/>
                <a:cs typeface="DM Mono" pitchFamily="49" charset="-120"/>
              </a:rPr>
              <a:t>Copyright Dobromir Montauk, 2026</a:t>
            </a:r>
            <a:endParaRPr lang="en-US" sz="1200" dirty="0"/>
          </a:p>
        </p:txBody>
      </p:sp>
      <p:sp>
        <p:nvSpPr>
          <p:cNvPr id="29" name="Text 25"/>
          <p:cNvSpPr/>
          <p:nvPr/>
        </p:nvSpPr>
        <p:spPr>
          <a:xfrm>
            <a:off x="10261600" y="6169670"/>
            <a:ext cx="1320800" cy="345430"/>
          </a:xfrm>
          <a:prstGeom prst="rect">
            <a:avLst/>
          </a:prstGeom>
          <a:noFill/>
          <a:ln/>
        </p:spPr>
        <p:txBody>
          <a:bodyPr wrap="square" lIns="0" tIns="0" rIns="0" bIns="0" rtlCol="0" anchor="t">
            <a:normAutofit/>
          </a:bodyPr>
          <a:lstStyle/>
          <a:p>
            <a:pPr algn="r" indent="0" marL="0">
              <a:lnSpc>
                <a:spcPts val="2520"/>
              </a:lnSpc>
              <a:buNone/>
            </a:pPr>
            <a:r>
              <a:rPr lang="en-US" sz="1800" dirty="0">
                <a:solidFill>
                  <a:srgbClr val="63E14F"/>
                </a:solidFill>
                <a:latin typeface="DM Mono" pitchFamily="49" charset="0"/>
                <a:ea typeface="DM Mono" pitchFamily="49" charset="-122"/>
                <a:cs typeface="DM Mono" pitchFamily="49" charset="-120"/>
              </a:rPr>
              <a:t>[ 15 ]</a:t>
            </a:r>
            <a:endParaRPr lang="en-US"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60607"/>
        </a:solidFill>
      </p:bgPr>
    </p:bg>
    <p:spTree>
      <p:nvGrpSpPr>
        <p:cNvPr id="1" name=""/>
        <p:cNvGrpSpPr/>
        <p:nvPr/>
      </p:nvGrpSpPr>
      <p:grpSpPr>
        <a:xfrm>
          <a:off x="0" y="0"/>
          <a:ext cx="0" cy="0"/>
          <a:chOff x="0" y="0"/>
          <a:chExt cx="0" cy="0"/>
        </a:xfrm>
      </p:grpSpPr>
      <p:sp>
        <p:nvSpPr>
          <p:cNvPr id="2" name="Shape 0"/>
          <p:cNvSpPr/>
          <p:nvPr/>
        </p:nvSpPr>
        <p:spPr>
          <a:xfrm>
            <a:off x="254000" y="0"/>
            <a:ext cx="25400" cy="6858000"/>
          </a:xfrm>
          <a:prstGeom prst="rect">
            <a:avLst/>
          </a:prstGeom>
          <a:gradFill rotWithShape="1">
            <a:gsLst>
              <a:gs pos="0">
                <a:srgbClr val="FF832A"/>
              </a:gs>
              <a:gs pos="35000">
                <a:srgbClr val="FF832A"/>
              </a:gs>
              <a:gs pos="75000">
                <a:srgbClr val="63E14F"/>
              </a:gs>
              <a:gs pos="100000">
                <a:srgbClr val="63E14F"/>
              </a:gs>
            </a:gsLst>
            <a:lin ang="5400000" scaled="0"/>
          </a:gradFill>
          <a:ln/>
        </p:spPr>
      </p:sp>
      <p:sp>
        <p:nvSpPr>
          <p:cNvPr id="3" name="Text 1"/>
          <p:cNvSpPr/>
          <p:nvPr/>
        </p:nvSpPr>
        <p:spPr>
          <a:xfrm>
            <a:off x="812800" y="7112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spc="100" kern="0" dirty="0">
                <a:solidFill>
                  <a:srgbClr val="63E14F"/>
                </a:solidFill>
                <a:latin typeface="DM Mono" pitchFamily="49" charset="0"/>
                <a:ea typeface="DM Mono" pitchFamily="49" charset="-122"/>
                <a:cs typeface="DM Mono" pitchFamily="49" charset="-120"/>
              </a:rPr>
              <a:t>[ WHY FIT? ]</a:t>
            </a:r>
            <a:endParaRPr lang="en-US" sz="1400" dirty="0"/>
          </a:p>
        </p:txBody>
      </p:sp>
      <p:sp>
        <p:nvSpPr>
          <p:cNvPr id="4" name="Text 2"/>
          <p:cNvSpPr/>
          <p:nvPr>
            <p:ph type="title"/>
          </p:nvPr>
        </p:nvSpPr>
        <p:spPr>
          <a:xfrm>
            <a:off x="812800" y="121409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4F5F7"/>
                </a:solidFill>
                <a:latin typeface="Host Grotesk" pitchFamily="34" charset="0"/>
                <a:ea typeface="Host Grotesk" pitchFamily="34" charset="-122"/>
                <a:cs typeface="Host Grotesk" pitchFamily="34" charset="-120"/>
              </a:rPr>
              <a:t>Why is fit </a:t>
            </a:r>
            <a:r>
              <a:rPr lang="en-US" sz="3600" b="1" i="0" dirty="0">
                <a:solidFill>
                  <a:srgbClr val="63E14F"/>
                </a:solidFill>
                <a:latin typeface="Host Grotesk" pitchFamily="34" charset="0"/>
                <a:ea typeface="Host Grotesk" pitchFamily="34" charset="-122"/>
                <a:cs typeface="Host Grotesk" pitchFamily="34" charset="-120"/>
              </a:rPr>
              <a:t>SO</a:t>
            </a:r>
            <a:r>
              <a:rPr lang="en-US" sz="3600" b="1" i="0" dirty="0">
                <a:solidFill>
                  <a:srgbClr val="F4F5F7"/>
                </a:solidFill>
                <a:latin typeface="Host Grotesk" pitchFamily="34" charset="0"/>
                <a:ea typeface="Host Grotesk" pitchFamily="34" charset="-122"/>
                <a:cs typeface="Host Grotesk" pitchFamily="34" charset="-120"/>
              </a:rPr>
              <a:t> important — at a </a:t>
            </a:r>
            <a:r>
              <a:rPr lang="en-US" sz="3600" b="1" i="0" dirty="0">
                <a:solidFill>
                  <a:srgbClr val="63E14F"/>
                </a:solidFill>
                <a:latin typeface="Host Grotesk" pitchFamily="34" charset="0"/>
                <a:ea typeface="Host Grotesk" pitchFamily="34" charset="-122"/>
                <a:cs typeface="Host Grotesk" pitchFamily="34" charset="-120"/>
              </a:rPr>
              <a:t>STARTUP</a:t>
            </a:r>
            <a:r>
              <a:rPr lang="en-US" sz="3600" b="1" i="0" dirty="0">
                <a:solidFill>
                  <a:srgbClr val="F4F5F7"/>
                </a:solidFill>
                <a:latin typeface="Host Grotesk" pitchFamily="34" charset="0"/>
                <a:ea typeface="Host Grotesk" pitchFamily="34" charset="-122"/>
                <a:cs typeface="Host Grotesk" pitchFamily="34" charset="-120"/>
              </a:rPr>
              <a:t>?</a:t>
            </a:r>
            <a:endParaRPr lang="en-US" sz="3600" dirty="0"/>
          </a:p>
        </p:txBody>
      </p:sp>
      <p:sp>
        <p:nvSpPr>
          <p:cNvPr id="5" name="Text 3"/>
          <p:cNvSpPr/>
          <p:nvPr/>
        </p:nvSpPr>
        <p:spPr>
          <a:xfrm>
            <a:off x="2489200" y="1970980"/>
            <a:ext cx="2947568" cy="292100"/>
          </a:xfrm>
          <a:prstGeom prst="rect">
            <a:avLst/>
          </a:prstGeom>
          <a:noFill/>
          <a:ln/>
        </p:spPr>
        <p:txBody>
          <a:bodyPr wrap="square" lIns="0" tIns="0" rIns="0" bIns="0" rtlCol="0" anchor="t">
            <a:normAutofit/>
          </a:bodyPr>
          <a:lstStyle/>
          <a:p>
            <a:pPr algn="l" indent="0" marL="0">
              <a:lnSpc>
                <a:spcPts val="2100"/>
              </a:lnSpc>
              <a:buNone/>
            </a:pPr>
            <a:r>
              <a:rPr lang="en-US" sz="1500" spc="100" kern="0" dirty="0">
                <a:solidFill>
                  <a:srgbClr val="8B9097"/>
                </a:solidFill>
                <a:latin typeface="DM Mono" pitchFamily="49" charset="0"/>
                <a:ea typeface="DM Mono" pitchFamily="49" charset="-122"/>
                <a:cs typeface="DM Mono" pitchFamily="49" charset="-120"/>
              </a:rPr>
              <a:t>RISK</a:t>
            </a:r>
            <a:endParaRPr lang="en-US" sz="1500" dirty="0"/>
          </a:p>
        </p:txBody>
      </p:sp>
      <p:sp>
        <p:nvSpPr>
          <p:cNvPr id="6" name="Text 4"/>
          <p:cNvSpPr/>
          <p:nvPr/>
        </p:nvSpPr>
        <p:spPr>
          <a:xfrm>
            <a:off x="5503317" y="1970980"/>
            <a:ext cx="2947619" cy="292100"/>
          </a:xfrm>
          <a:prstGeom prst="rect">
            <a:avLst/>
          </a:prstGeom>
          <a:noFill/>
          <a:ln/>
        </p:spPr>
        <p:txBody>
          <a:bodyPr wrap="square" lIns="0" tIns="0" rIns="0" bIns="0" rtlCol="0" anchor="t">
            <a:normAutofit/>
          </a:bodyPr>
          <a:lstStyle/>
          <a:p>
            <a:pPr algn="l" indent="0" marL="0">
              <a:lnSpc>
                <a:spcPts val="2100"/>
              </a:lnSpc>
              <a:buNone/>
            </a:pPr>
            <a:r>
              <a:rPr lang="en-US" sz="1500" spc="100" kern="0" dirty="0">
                <a:solidFill>
                  <a:srgbClr val="8B9097"/>
                </a:solidFill>
                <a:latin typeface="DM Mono" pitchFamily="49" charset="0"/>
                <a:ea typeface="DM Mono" pitchFamily="49" charset="-122"/>
                <a:cs typeface="DM Mono" pitchFamily="49" charset="-120"/>
              </a:rPr>
              <a:t>CONVERSION</a:t>
            </a:r>
            <a:endParaRPr lang="en-US" sz="1500" dirty="0"/>
          </a:p>
        </p:txBody>
      </p:sp>
      <p:sp>
        <p:nvSpPr>
          <p:cNvPr id="7" name="Text 5"/>
          <p:cNvSpPr/>
          <p:nvPr/>
        </p:nvSpPr>
        <p:spPr>
          <a:xfrm>
            <a:off x="8517483" y="1970980"/>
            <a:ext cx="2947568" cy="292100"/>
          </a:xfrm>
          <a:prstGeom prst="rect">
            <a:avLst/>
          </a:prstGeom>
          <a:noFill/>
          <a:ln/>
        </p:spPr>
        <p:txBody>
          <a:bodyPr wrap="square" lIns="0" tIns="0" rIns="0" bIns="0" rtlCol="0" anchor="t">
            <a:normAutofit/>
          </a:bodyPr>
          <a:lstStyle/>
          <a:p>
            <a:pPr algn="l" indent="0" marL="0">
              <a:lnSpc>
                <a:spcPts val="2100"/>
              </a:lnSpc>
              <a:buNone/>
            </a:pPr>
            <a:r>
              <a:rPr lang="en-US" sz="1500" spc="100" kern="0" dirty="0">
                <a:solidFill>
                  <a:srgbClr val="8B9097"/>
                </a:solidFill>
                <a:latin typeface="DM Mono" pitchFamily="49" charset="0"/>
                <a:ea typeface="DM Mono" pitchFamily="49" charset="-122"/>
                <a:cs typeface="DM Mono" pitchFamily="49" charset="-120"/>
              </a:rPr>
              <a:t>MASLOW MOTIVATION</a:t>
            </a:r>
            <a:endParaRPr lang="en-US" sz="1500" dirty="0"/>
          </a:p>
        </p:txBody>
      </p:sp>
      <p:sp>
        <p:nvSpPr>
          <p:cNvPr id="8" name="Text 6"/>
          <p:cNvSpPr/>
          <p:nvPr/>
        </p:nvSpPr>
        <p:spPr>
          <a:xfrm>
            <a:off x="812800" y="3004145"/>
            <a:ext cx="1574800" cy="327620"/>
          </a:xfrm>
          <a:prstGeom prst="rect">
            <a:avLst/>
          </a:prstGeom>
          <a:noFill/>
          <a:ln/>
        </p:spPr>
        <p:txBody>
          <a:bodyPr wrap="square" lIns="0" tIns="0" rIns="0" bIns="0" rtlCol="0" anchor="t">
            <a:normAutofit/>
          </a:bodyPr>
          <a:lstStyle/>
          <a:p>
            <a:pPr algn="l" indent="0" marL="0">
              <a:lnSpc>
                <a:spcPts val="2380"/>
              </a:lnSpc>
              <a:buNone/>
            </a:pPr>
            <a:r>
              <a:rPr lang="en-US" sz="1700" spc="100" kern="0" dirty="0">
                <a:solidFill>
                  <a:srgbClr val="A3A8B0"/>
                </a:solidFill>
                <a:latin typeface="DM Mono" pitchFamily="49" charset="0"/>
                <a:ea typeface="DM Mono" pitchFamily="49" charset="-122"/>
                <a:cs typeface="DM Mono" pitchFamily="49" charset="-120"/>
              </a:rPr>
              <a:t>BIG TECH</a:t>
            </a:r>
            <a:endParaRPr lang="en-US" sz="1700" dirty="0"/>
          </a:p>
        </p:txBody>
      </p:sp>
      <p:sp>
        <p:nvSpPr>
          <p:cNvPr id="9" name="Text 7"/>
          <p:cNvSpPr/>
          <p:nvPr/>
        </p:nvSpPr>
        <p:spPr>
          <a:xfrm>
            <a:off x="2495550" y="2399605"/>
            <a:ext cx="2849017" cy="1511300"/>
          </a:xfrm>
          <a:prstGeom prst="roundRect">
            <a:avLst>
              <a:gd name="adj" fmla="val 6303"/>
            </a:avLst>
          </a:prstGeom>
          <a:solidFill>
            <a:srgbClr val="1A1A1A"/>
          </a:solidFill>
          <a:ln w="12700">
            <a:solidFill>
              <a:srgbClr val="2B2B2B"/>
            </a:solidFill>
            <a:prstDash val="solid"/>
          </a:ln>
        </p:spPr>
        <p:txBody>
          <a:bodyPr wrap="square" lIns="207052" tIns="207052" rIns="135679" bIns="207052" rtlCol="0" anchor="ctr">
            <a:normAutofit/>
          </a:bodyPr>
          <a:lstStyle/>
          <a:p>
            <a:pPr algn="l" indent="0" marL="0">
              <a:lnSpc>
                <a:spcPts val="2750"/>
              </a:lnSpc>
              <a:buNone/>
            </a:pPr>
            <a:r>
              <a:rPr lang="en-US" sz="2200" dirty="0">
                <a:solidFill>
                  <a:srgbClr val="A3A8B0"/>
                </a:solidFill>
                <a:latin typeface="Raleway" pitchFamily="34" charset="0"/>
                <a:ea typeface="Raleway" pitchFamily="34" charset="-122"/>
                <a:cs typeface="Raleway" pitchFamily="34" charset="-120"/>
              </a:rPr>
              <a:t>Lots of teams. Can switch if needed.</a:t>
            </a:r>
            <a:endParaRPr lang="en-US" sz="2200" dirty="0"/>
          </a:p>
        </p:txBody>
      </p:sp>
      <p:sp>
        <p:nvSpPr>
          <p:cNvPr id="10" name="Text 8"/>
          <p:cNvSpPr/>
          <p:nvPr/>
        </p:nvSpPr>
        <p:spPr>
          <a:xfrm>
            <a:off x="5509667" y="2396430"/>
            <a:ext cx="2849066" cy="1517650"/>
          </a:xfrm>
          <a:prstGeom prst="roundRect">
            <a:avLst>
              <a:gd name="adj" fmla="val 6276"/>
            </a:avLst>
          </a:prstGeom>
          <a:solidFill>
            <a:srgbClr val="1A1A1A"/>
          </a:solidFill>
          <a:ln w="12700">
            <a:solidFill>
              <a:srgbClr val="2B2B2B"/>
            </a:solidFill>
            <a:prstDash val="solid"/>
          </a:ln>
        </p:spPr>
        <p:txBody>
          <a:bodyPr wrap="square" lIns="207052" tIns="194352" rIns="135677" bIns="194352" rtlCol="0" anchor="ctr">
            <a:normAutofit/>
          </a:bodyPr>
          <a:lstStyle/>
          <a:p>
            <a:pPr algn="l" indent="0" marL="0">
              <a:lnSpc>
                <a:spcPts val="2750"/>
              </a:lnSpc>
              <a:buNone/>
            </a:pPr>
            <a:r>
              <a:rPr lang="en-US" sz="2200" dirty="0">
                <a:solidFill>
                  <a:srgbClr val="A3A8B0"/>
                </a:solidFill>
                <a:latin typeface="Raleway" pitchFamily="34" charset="0"/>
                <a:ea typeface="Raleway" pitchFamily="34" charset="-122"/>
                <a:cs typeface="Raleway" pitchFamily="34" charset="-120"/>
              </a:rPr>
              <a:t>OK being a small part of something </a:t>
            </a:r>
            <a:r>
              <a:rPr lang="en-US" sz="2200" b="1" dirty="0">
                <a:solidFill>
                  <a:srgbClr val="A3A8B0"/>
                </a:solidFill>
                <a:latin typeface="Raleway" pitchFamily="34" charset="0"/>
                <a:ea typeface="Raleway" pitchFamily="34" charset="-122"/>
                <a:cs typeface="Raleway" pitchFamily="34" charset="-120"/>
              </a:rPr>
              <a:t>BIG</a:t>
            </a:r>
            <a:r>
              <a:rPr lang="en-US" sz="2200" dirty="0">
                <a:solidFill>
                  <a:srgbClr val="A3A8B0"/>
                </a:solidFill>
                <a:latin typeface="Raleway" pitchFamily="34" charset="0"/>
                <a:ea typeface="Raleway" pitchFamily="34" charset="-122"/>
                <a:cs typeface="Raleway" pitchFamily="34" charset="-120"/>
              </a:rPr>
              <a:t>.</a:t>
            </a:r>
            <a:endParaRPr lang="en-US" sz="2200" dirty="0"/>
          </a:p>
        </p:txBody>
      </p:sp>
      <p:sp>
        <p:nvSpPr>
          <p:cNvPr id="11" name="Text 9"/>
          <p:cNvSpPr/>
          <p:nvPr/>
        </p:nvSpPr>
        <p:spPr>
          <a:xfrm>
            <a:off x="8523833" y="2399605"/>
            <a:ext cx="2849017" cy="1511300"/>
          </a:xfrm>
          <a:prstGeom prst="roundRect">
            <a:avLst>
              <a:gd name="adj" fmla="val 6303"/>
            </a:avLst>
          </a:prstGeom>
          <a:solidFill>
            <a:srgbClr val="1A1A1A"/>
          </a:solidFill>
          <a:ln w="12700">
            <a:solidFill>
              <a:srgbClr val="2B2B2B"/>
            </a:solidFill>
            <a:prstDash val="solid"/>
          </a:ln>
        </p:spPr>
        <p:txBody>
          <a:bodyPr wrap="square" lIns="207052" tIns="207052" rIns="159439" bIns="207052" rtlCol="0" anchor="ctr">
            <a:normAutofit/>
          </a:bodyPr>
          <a:lstStyle/>
          <a:p>
            <a:pPr algn="l" indent="0" marL="0">
              <a:lnSpc>
                <a:spcPts val="2750"/>
              </a:lnSpc>
              <a:buNone/>
            </a:pPr>
            <a:r>
              <a:rPr lang="en-US" sz="2200" dirty="0">
                <a:solidFill>
                  <a:srgbClr val="A3A8B0"/>
                </a:solidFill>
                <a:latin typeface="Raleway" pitchFamily="34" charset="0"/>
                <a:ea typeface="Raleway" pitchFamily="34" charset="-122"/>
                <a:cs typeface="Raleway" pitchFamily="34" charset="-120"/>
              </a:rPr>
              <a:t>Wants $ / Esteem</a:t>
            </a:r>
            <a:endParaRPr lang="en-US" sz="2200" dirty="0"/>
          </a:p>
        </p:txBody>
      </p:sp>
      <p:sp>
        <p:nvSpPr>
          <p:cNvPr id="12" name="Text 10"/>
          <p:cNvSpPr/>
          <p:nvPr/>
        </p:nvSpPr>
        <p:spPr>
          <a:xfrm>
            <a:off x="812800" y="4686895"/>
            <a:ext cx="1574800" cy="327620"/>
          </a:xfrm>
          <a:prstGeom prst="rect">
            <a:avLst/>
          </a:prstGeom>
          <a:noFill/>
          <a:ln/>
        </p:spPr>
        <p:txBody>
          <a:bodyPr wrap="square" lIns="0" tIns="0" rIns="0" bIns="0" rtlCol="0" anchor="t">
            <a:normAutofit/>
          </a:bodyPr>
          <a:lstStyle/>
          <a:p>
            <a:pPr algn="l" indent="0" marL="0">
              <a:lnSpc>
                <a:spcPts val="2380"/>
              </a:lnSpc>
              <a:buNone/>
            </a:pPr>
            <a:r>
              <a:rPr lang="en-US" sz="1700" spc="100" kern="0" dirty="0">
                <a:solidFill>
                  <a:srgbClr val="63E14F"/>
                </a:solidFill>
                <a:latin typeface="DM Mono" pitchFamily="49" charset="0"/>
                <a:ea typeface="DM Mono" pitchFamily="49" charset="-122"/>
                <a:cs typeface="DM Mono" pitchFamily="49" charset="-120"/>
              </a:rPr>
              <a:t>MASHGIN</a:t>
            </a:r>
            <a:endParaRPr lang="en-US" sz="1700" dirty="0"/>
          </a:p>
        </p:txBody>
      </p:sp>
      <p:sp>
        <p:nvSpPr>
          <p:cNvPr id="13" name="Text 11"/>
          <p:cNvSpPr/>
          <p:nvPr/>
        </p:nvSpPr>
        <p:spPr>
          <a:xfrm>
            <a:off x="2495550" y="4079180"/>
            <a:ext cx="2849017" cy="1517650"/>
          </a:xfrm>
          <a:prstGeom prst="roundRect">
            <a:avLst>
              <a:gd name="adj" fmla="val 6276"/>
            </a:avLst>
          </a:prstGeom>
          <a:solidFill>
            <a:srgbClr val="1A1A1A"/>
          </a:solidFill>
          <a:ln w="12700">
            <a:solidFill>
              <a:srgbClr val="63E14F"/>
            </a:solidFill>
            <a:prstDash val="solid"/>
          </a:ln>
        </p:spPr>
        <p:txBody>
          <a:bodyPr wrap="square" lIns="207052" tIns="194352" rIns="135679" bIns="194352" rtlCol="0" anchor="ctr">
            <a:normAutofit/>
          </a:bodyPr>
          <a:lstStyle/>
          <a:p>
            <a:pPr algn="l" indent="0" marL="0">
              <a:lnSpc>
                <a:spcPts val="2750"/>
              </a:lnSpc>
              <a:buNone/>
            </a:pPr>
            <a:r>
              <a:rPr lang="en-US" sz="2200" dirty="0">
                <a:solidFill>
                  <a:srgbClr val="E9ECEF"/>
                </a:solidFill>
                <a:latin typeface="Raleway" pitchFamily="34" charset="0"/>
                <a:ea typeface="Raleway" pitchFamily="34" charset="-122"/>
                <a:cs typeface="Raleway" pitchFamily="34" charset="-120"/>
              </a:rPr>
              <a:t>Must fit on </a:t>
            </a:r>
            <a:r>
              <a:rPr lang="en-US" sz="2200" b="1" dirty="0">
                <a:solidFill>
                  <a:srgbClr val="E9ECEF"/>
                </a:solidFill>
                <a:latin typeface="Raleway" pitchFamily="34" charset="0"/>
                <a:ea typeface="Raleway" pitchFamily="34" charset="-122"/>
                <a:cs typeface="Raleway" pitchFamily="34" charset="-120"/>
              </a:rPr>
              <a:t>THIS</a:t>
            </a:r>
            <a:r>
              <a:rPr lang="en-US" sz="2200" dirty="0">
                <a:solidFill>
                  <a:srgbClr val="E9ECEF"/>
                </a:solidFill>
                <a:latin typeface="Raleway" pitchFamily="34" charset="0"/>
                <a:ea typeface="Raleway" pitchFamily="34" charset="-122"/>
                <a:cs typeface="Raleway" pitchFamily="34" charset="-120"/>
              </a:rPr>
              <a:t> team, otherwise fired.</a:t>
            </a:r>
            <a:endParaRPr lang="en-US" sz="2200" dirty="0"/>
          </a:p>
        </p:txBody>
      </p:sp>
      <p:sp>
        <p:nvSpPr>
          <p:cNvPr id="14" name="Text 12"/>
          <p:cNvSpPr/>
          <p:nvPr/>
        </p:nvSpPr>
        <p:spPr>
          <a:xfrm>
            <a:off x="5509667" y="4079180"/>
            <a:ext cx="2849066" cy="1517650"/>
          </a:xfrm>
          <a:prstGeom prst="roundRect">
            <a:avLst>
              <a:gd name="adj" fmla="val 6276"/>
            </a:avLst>
          </a:prstGeom>
          <a:solidFill>
            <a:srgbClr val="1A1A1A"/>
          </a:solidFill>
          <a:ln w="12700">
            <a:solidFill>
              <a:srgbClr val="63E14F"/>
            </a:solidFill>
            <a:prstDash val="solid"/>
          </a:ln>
        </p:spPr>
        <p:txBody>
          <a:bodyPr wrap="square" lIns="207052" tIns="194352" rIns="135677" bIns="194352" rtlCol="0" anchor="ctr">
            <a:normAutofit/>
          </a:bodyPr>
          <a:lstStyle/>
          <a:p>
            <a:pPr algn="l" indent="0" marL="0">
              <a:lnSpc>
                <a:spcPts val="2750"/>
              </a:lnSpc>
              <a:buNone/>
            </a:pPr>
            <a:r>
              <a:rPr lang="en-US" sz="2200" dirty="0">
                <a:solidFill>
                  <a:srgbClr val="E9ECEF"/>
                </a:solidFill>
                <a:latin typeface="Raleway" pitchFamily="34" charset="0"/>
                <a:ea typeface="Raleway" pitchFamily="34" charset="-122"/>
                <a:cs typeface="Raleway" pitchFamily="34" charset="-120"/>
              </a:rPr>
              <a:t>Wants to be the </a:t>
            </a:r>
            <a:r>
              <a:rPr lang="en-US" sz="2200" b="1" dirty="0">
                <a:solidFill>
                  <a:srgbClr val="E9ECEF"/>
                </a:solidFill>
                <a:latin typeface="Raleway" pitchFamily="34" charset="0"/>
                <a:ea typeface="Raleway" pitchFamily="34" charset="-122"/>
                <a:cs typeface="Raleway" pitchFamily="34" charset="-120"/>
              </a:rPr>
              <a:t>HERO</a:t>
            </a:r>
            <a:r>
              <a:rPr lang="en-US" sz="2200" dirty="0">
                <a:solidFill>
                  <a:srgbClr val="E9ECEF"/>
                </a:solidFill>
                <a:latin typeface="Raleway" pitchFamily="34" charset="0"/>
                <a:ea typeface="Raleway" pitchFamily="34" charset="-122"/>
                <a:cs typeface="Raleway" pitchFamily="34" charset="-120"/>
              </a:rPr>
              <a:t> in their thing.</a:t>
            </a:r>
            <a:endParaRPr lang="en-US" sz="2200" dirty="0"/>
          </a:p>
        </p:txBody>
      </p:sp>
      <p:sp>
        <p:nvSpPr>
          <p:cNvPr id="15" name="Text 13"/>
          <p:cNvSpPr/>
          <p:nvPr/>
        </p:nvSpPr>
        <p:spPr>
          <a:xfrm>
            <a:off x="8523833" y="4082355"/>
            <a:ext cx="2849017" cy="1511300"/>
          </a:xfrm>
          <a:prstGeom prst="roundRect">
            <a:avLst>
              <a:gd name="adj" fmla="val 6303"/>
            </a:avLst>
          </a:prstGeom>
          <a:solidFill>
            <a:srgbClr val="1A1A1A"/>
          </a:solidFill>
          <a:ln w="12700">
            <a:solidFill>
              <a:srgbClr val="63E14F"/>
            </a:solidFill>
            <a:prstDash val="solid"/>
          </a:ln>
        </p:spPr>
        <p:txBody>
          <a:bodyPr wrap="square" lIns="207052" tIns="207052" rIns="135679" bIns="207052" rtlCol="0" anchor="ctr">
            <a:normAutofit/>
          </a:bodyPr>
          <a:lstStyle/>
          <a:p>
            <a:pPr algn="l" indent="0" marL="0">
              <a:lnSpc>
                <a:spcPts val="2750"/>
              </a:lnSpc>
              <a:buNone/>
            </a:pPr>
            <a:r>
              <a:rPr lang="en-US" sz="2200" dirty="0">
                <a:solidFill>
                  <a:srgbClr val="E9ECEF"/>
                </a:solidFill>
                <a:latin typeface="Raleway" pitchFamily="34" charset="0"/>
                <a:ea typeface="Raleway" pitchFamily="34" charset="-122"/>
                <a:cs typeface="Raleway" pitchFamily="34" charset="-120"/>
              </a:rPr>
              <a:t>Seeking Self-Actualization</a:t>
            </a:r>
            <a:endParaRPr lang="en-US" sz="2200" dirty="0"/>
          </a:p>
        </p:txBody>
      </p:sp>
      <p:pic>
        <p:nvPicPr>
          <p:cNvPr id="16" name="Image 0" descr="Mashgin">    </p:cNvPr>
          <p:cNvPicPr>
            <a:picLocks noChangeAspect="1"/>
          </p:cNvPicPr>
          <p:nvPr/>
        </p:nvPicPr>
        <p:blipFill>
          <a:blip r:embed="rId1"/>
          <a:srcRect l="-284" r="-284" t="0" b="0"/>
          <a:stretch/>
        </p:blipFill>
        <p:spPr>
          <a:xfrm>
            <a:off x="10121900" y="406400"/>
            <a:ext cx="1460500" cy="298450"/>
          </a:xfrm>
          <a:prstGeom prst="rect">
            <a:avLst/>
          </a:prstGeom>
        </p:spPr>
      </p:pic>
      <p:sp>
        <p:nvSpPr>
          <p:cNvPr id="17" name="Text 14"/>
          <p:cNvSpPr/>
          <p:nvPr/>
        </p:nvSpPr>
        <p:spPr>
          <a:xfrm>
            <a:off x="812800" y="62382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097"/>
                </a:solidFill>
                <a:latin typeface="DM Mono" pitchFamily="49" charset="0"/>
                <a:ea typeface="DM Mono" pitchFamily="49" charset="-122"/>
                <a:cs typeface="DM Mono" pitchFamily="49" charset="-120"/>
              </a:rPr>
              <a:t>Copyright Dobromir Montauk, 2026</a:t>
            </a:r>
            <a:endParaRPr lang="en-US" sz="1200" dirty="0"/>
          </a:p>
        </p:txBody>
      </p:sp>
      <p:sp>
        <p:nvSpPr>
          <p:cNvPr id="18" name="Text 15"/>
          <p:cNvSpPr/>
          <p:nvPr/>
        </p:nvSpPr>
        <p:spPr>
          <a:xfrm>
            <a:off x="10261600" y="6169670"/>
            <a:ext cx="1320800" cy="345430"/>
          </a:xfrm>
          <a:prstGeom prst="rect">
            <a:avLst/>
          </a:prstGeom>
          <a:noFill/>
          <a:ln/>
        </p:spPr>
        <p:txBody>
          <a:bodyPr wrap="square" lIns="0" tIns="0" rIns="0" bIns="0" rtlCol="0" anchor="t">
            <a:normAutofit/>
          </a:bodyPr>
          <a:lstStyle/>
          <a:p>
            <a:pPr algn="r" indent="0" marL="0">
              <a:lnSpc>
                <a:spcPts val="2520"/>
              </a:lnSpc>
              <a:buNone/>
            </a:pPr>
            <a:r>
              <a:rPr lang="en-US" sz="1800" dirty="0">
                <a:solidFill>
                  <a:srgbClr val="63E14F"/>
                </a:solidFill>
                <a:latin typeface="DM Mono" pitchFamily="49" charset="0"/>
                <a:ea typeface="DM Mono" pitchFamily="49" charset="-122"/>
                <a:cs typeface="DM Mono" pitchFamily="49" charset="-120"/>
              </a:rPr>
              <a:t>[ 16 ]</a:t>
            </a:r>
            <a:endParaRPr lang="en-US" sz="1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60607"/>
        </a:solidFill>
      </p:bgPr>
    </p:bg>
    <p:spTree>
      <p:nvGrpSpPr>
        <p:cNvPr id="1" name=""/>
        <p:cNvGrpSpPr/>
        <p:nvPr/>
      </p:nvGrpSpPr>
      <p:grpSpPr>
        <a:xfrm>
          <a:off x="0" y="0"/>
          <a:ext cx="0" cy="0"/>
          <a:chOff x="0" y="0"/>
          <a:chExt cx="0" cy="0"/>
        </a:xfrm>
      </p:grpSpPr>
      <p:sp>
        <p:nvSpPr>
          <p:cNvPr id="2" name="Shape 0"/>
          <p:cNvSpPr/>
          <p:nvPr/>
        </p:nvSpPr>
        <p:spPr>
          <a:xfrm>
            <a:off x="254000" y="0"/>
            <a:ext cx="25400" cy="6858000"/>
          </a:xfrm>
          <a:prstGeom prst="rect">
            <a:avLst/>
          </a:prstGeom>
          <a:gradFill rotWithShape="1">
            <a:gsLst>
              <a:gs pos="0">
                <a:srgbClr val="FF832A"/>
              </a:gs>
              <a:gs pos="35000">
                <a:srgbClr val="FF832A"/>
              </a:gs>
              <a:gs pos="75000">
                <a:srgbClr val="63E14F"/>
              </a:gs>
              <a:gs pos="100000">
                <a:srgbClr val="63E14F"/>
              </a:gs>
            </a:gsLst>
            <a:lin ang="5400000" scaled="0"/>
          </a:gradFill>
          <a:ln/>
        </p:spPr>
      </p:sp>
      <p:sp>
        <p:nvSpPr>
          <p:cNvPr id="3" name="Text 1"/>
          <p:cNvSpPr/>
          <p:nvPr/>
        </p:nvSpPr>
        <p:spPr>
          <a:xfrm>
            <a:off x="812800" y="7112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spc="100" kern="0" dirty="0">
                <a:solidFill>
                  <a:srgbClr val="63E14F"/>
                </a:solidFill>
                <a:latin typeface="DM Mono" pitchFamily="49" charset="0"/>
                <a:ea typeface="DM Mono" pitchFamily="49" charset="-122"/>
                <a:cs typeface="DM Mono" pitchFamily="49" charset="-120"/>
              </a:rPr>
              <a:t>[ SHOULD YOU HIRE THEM? ]</a:t>
            </a:r>
            <a:endParaRPr lang="en-US" sz="1400" dirty="0"/>
          </a:p>
        </p:txBody>
      </p:sp>
      <p:sp>
        <p:nvSpPr>
          <p:cNvPr id="4" name="Text 2"/>
          <p:cNvSpPr/>
          <p:nvPr>
            <p:ph type="title"/>
          </p:nvPr>
        </p:nvSpPr>
        <p:spPr>
          <a:xfrm>
            <a:off x="812800" y="121409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4F5F7"/>
                </a:solidFill>
                <a:latin typeface="Host Grotesk" pitchFamily="34" charset="0"/>
                <a:ea typeface="Host Grotesk" pitchFamily="34" charset="-122"/>
                <a:cs typeface="Host Grotesk" pitchFamily="34" charset="-120"/>
              </a:rPr>
              <a:t>Strength </a:t>
            </a:r>
            <a:r>
              <a:rPr lang="en-US" sz="3200" b="1" i="0" dirty="0">
                <a:solidFill>
                  <a:srgbClr val="63E14F"/>
                </a:solidFill>
                <a:latin typeface="Host Grotesk" pitchFamily="34" charset="0"/>
                <a:ea typeface="Host Grotesk" pitchFamily="34" charset="-122"/>
                <a:cs typeface="Host Grotesk" pitchFamily="34" charset="-120"/>
              </a:rPr>
              <a:t>× Fit</a:t>
            </a:r>
            <a:endParaRPr lang="en-US" sz="3200" dirty="0"/>
          </a:p>
        </p:txBody>
      </p:sp>
      <p:pic>
        <p:nvPicPr>
          <p:cNvPr id="5" name="Image 0" descr="Strength axis">    </p:cNvPr>
          <p:cNvPicPr>
            <a:picLocks noChangeAspect="1"/>
          </p:cNvPicPr>
          <p:nvPr/>
        </p:nvPicPr>
        <p:blipFill>
          <a:blip r:embed="rId1"/>
          <a:srcRect l="0" r="0" t="0" b="0"/>
          <a:stretch/>
        </p:blipFill>
        <p:spPr>
          <a:xfrm>
            <a:off x="812800" y="1915120"/>
            <a:ext cx="279400" cy="3225800"/>
          </a:xfrm>
          <a:prstGeom prst="rect">
            <a:avLst/>
          </a:prstGeom>
        </p:spPr>
      </p:pic>
      <p:sp>
        <p:nvSpPr>
          <p:cNvPr id="6" name="Text 3"/>
          <p:cNvSpPr/>
          <p:nvPr/>
        </p:nvSpPr>
        <p:spPr>
          <a:xfrm>
            <a:off x="1353641" y="2094210"/>
            <a:ext cx="239117" cy="416520"/>
          </a:xfrm>
          <a:prstGeom prst="rect">
            <a:avLst/>
          </a:prstGeom>
          <a:noFill/>
          <a:ln/>
        </p:spPr>
        <p:txBody>
          <a:bodyPr wrap="square" lIns="0" tIns="0" rIns="0" bIns="0" rtlCol="0" anchor="t">
            <a:normAutofit/>
          </a:bodyPr>
          <a:lstStyle/>
          <a:p>
            <a:pPr algn="ctr" indent="0" marL="0">
              <a:lnSpc>
                <a:spcPts val="3080"/>
              </a:lnSpc>
              <a:buNone/>
            </a:pPr>
            <a:r>
              <a:rPr lang="en-US" sz="2200" b="1" dirty="0">
                <a:solidFill>
                  <a:srgbClr val="E9ECEF"/>
                </a:solidFill>
                <a:latin typeface="Host Grotesk" pitchFamily="34" charset="0"/>
                <a:ea typeface="Host Grotesk" pitchFamily="34" charset="-122"/>
                <a:cs typeface="Host Grotesk" pitchFamily="34" charset="-120"/>
              </a:rPr>
              <a:t>A</a:t>
            </a:r>
            <a:endParaRPr lang="en-US" sz="2200" dirty="0"/>
          </a:p>
        </p:txBody>
      </p:sp>
      <p:sp>
        <p:nvSpPr>
          <p:cNvPr id="7" name="Text 4"/>
          <p:cNvSpPr/>
          <p:nvPr/>
        </p:nvSpPr>
        <p:spPr>
          <a:xfrm>
            <a:off x="1860550" y="1921470"/>
            <a:ext cx="1892300" cy="736600"/>
          </a:xfrm>
          <a:prstGeom prst="roundRect">
            <a:avLst>
              <a:gd name="adj" fmla="val 9483"/>
            </a:avLst>
          </a:prstGeom>
          <a:solidFill>
            <a:srgbClr val="141416"/>
          </a:solidFill>
          <a:ln w="12700">
            <a:solidFill>
              <a:srgbClr val="2B2B2B"/>
            </a:solidFill>
            <a:prstDash val="solid"/>
          </a:ln>
        </p:spPr>
        <p:txBody>
          <a:bodyPr wrap="square" lIns="36692" tIns="36692" rIns="36692" bIns="36692" rtlCol="0" anchor="ctr">
            <a:normAutofit/>
          </a:bodyPr>
          <a:lstStyle/>
          <a:p>
            <a:pPr algn="ctr" indent="0" marL="0">
              <a:lnSpc>
                <a:spcPts val="1610"/>
              </a:lnSpc>
              <a:buNone/>
            </a:pPr>
            <a:r>
              <a:rPr lang="en-US" sz="1400" dirty="0">
                <a:solidFill>
                  <a:srgbClr val="E9ECEF"/>
                </a:solidFill>
                <a:latin typeface="Raleway" pitchFamily="34" charset="0"/>
                <a:ea typeface="Raleway" pitchFamily="34" charset="-122"/>
                <a:cs typeface="Raleway" pitchFamily="34" charset="-120"/>
              </a:rPr>
              <a:t>Mercenary</a:t>
            </a:r>
            <a:endParaRPr lang="en-US" sz="1400" dirty="0"/>
          </a:p>
        </p:txBody>
      </p:sp>
      <p:sp>
        <p:nvSpPr>
          <p:cNvPr id="8" name="Text 5"/>
          <p:cNvSpPr/>
          <p:nvPr/>
        </p:nvSpPr>
        <p:spPr>
          <a:xfrm>
            <a:off x="3841750" y="1921470"/>
            <a:ext cx="1892300" cy="736600"/>
          </a:xfrm>
          <a:prstGeom prst="roundRect">
            <a:avLst>
              <a:gd name="adj" fmla="val 9483"/>
            </a:avLst>
          </a:prstGeom>
          <a:solidFill>
            <a:srgbClr val="141416"/>
          </a:solidFill>
          <a:ln w="12700">
            <a:solidFill>
              <a:srgbClr val="2B2B2B"/>
            </a:solidFill>
            <a:prstDash val="solid"/>
          </a:ln>
        </p:spPr>
        <p:txBody>
          <a:bodyPr wrap="square" lIns="36692" tIns="36692" rIns="36692" bIns="36692" rtlCol="0" anchor="ctr">
            <a:normAutofit/>
          </a:bodyPr>
          <a:lstStyle/>
          <a:p>
            <a:pPr algn="ctr" indent="0" marL="0">
              <a:lnSpc>
                <a:spcPts val="1610"/>
              </a:lnSpc>
              <a:buNone/>
            </a:pPr>
            <a:r>
              <a:rPr lang="en-US" sz="1400" dirty="0">
                <a:solidFill>
                  <a:srgbClr val="E9ECEF"/>
                </a:solidFill>
                <a:latin typeface="Raleway" pitchFamily="34" charset="0"/>
                <a:ea typeface="Raleway" pitchFamily="34" charset="-122"/>
                <a:cs typeface="Raleway" pitchFamily="34" charset="-120"/>
              </a:rPr>
              <a:t>Confused?</a:t>
            </a:r>
            <a:endParaRPr lang="en-US" sz="1400" dirty="0"/>
          </a:p>
        </p:txBody>
      </p:sp>
      <p:sp>
        <p:nvSpPr>
          <p:cNvPr id="9" name="Text 6"/>
          <p:cNvSpPr/>
          <p:nvPr/>
        </p:nvSpPr>
        <p:spPr>
          <a:xfrm>
            <a:off x="5822950" y="1921470"/>
            <a:ext cx="1892300" cy="736600"/>
          </a:xfrm>
          <a:prstGeom prst="roundRect">
            <a:avLst>
              <a:gd name="adj" fmla="val 9483"/>
            </a:avLst>
          </a:prstGeom>
          <a:solidFill>
            <a:srgbClr val="141416"/>
          </a:solidFill>
          <a:ln w="12700">
            <a:solidFill>
              <a:srgbClr val="2B2B2B"/>
            </a:solidFill>
            <a:prstDash val="solid"/>
          </a:ln>
        </p:spPr>
        <p:txBody>
          <a:bodyPr wrap="square" lIns="143302" tIns="36692" rIns="143302" bIns="36692" rtlCol="0" anchor="ctr">
            <a:normAutofit/>
          </a:bodyPr>
          <a:lstStyle/>
          <a:p>
            <a:pPr algn="ctr" indent="0" marL="0">
              <a:lnSpc>
                <a:spcPts val="1610"/>
              </a:lnSpc>
              <a:buNone/>
            </a:pPr>
            <a:r>
              <a:rPr lang="en-US" sz="1400" dirty="0">
                <a:solidFill>
                  <a:srgbClr val="E9ECEF"/>
                </a:solidFill>
                <a:latin typeface="Raleway" pitchFamily="34" charset="0"/>
                <a:ea typeface="Raleway" pitchFamily="34" charset="-122"/>
                <a:cs typeface="Raleway" pitchFamily="34" charset="-120"/>
              </a:rPr>
              <a:t>Rock Star</a:t>
            </a:r>
            <a:endParaRPr lang="en-US" sz="1400" dirty="0"/>
          </a:p>
          <a:p>
            <a:pPr algn="ctr" indent="0" marL="0">
              <a:lnSpc>
                <a:spcPts val="1610"/>
              </a:lnSpc>
              <a:buNone/>
            </a:pPr>
            <a:r>
              <a:rPr lang="en-US" sz="1400" dirty="0">
                <a:solidFill>
                  <a:srgbClr val="A3A8B0"/>
                </a:solidFill>
                <a:latin typeface="Raleway" pitchFamily="34" charset="0"/>
                <a:ea typeface="Raleway" pitchFamily="34" charset="-122"/>
                <a:cs typeface="Raleway" pitchFamily="34" charset="-120"/>
              </a:rPr>
              <a:t>can be acclimated</a:t>
            </a:r>
            <a:endParaRPr lang="en-US" sz="1400" dirty="0"/>
          </a:p>
        </p:txBody>
      </p:sp>
      <p:sp>
        <p:nvSpPr>
          <p:cNvPr id="10" name="Text 7"/>
          <p:cNvSpPr/>
          <p:nvPr/>
        </p:nvSpPr>
        <p:spPr>
          <a:xfrm>
            <a:off x="7804150" y="1921470"/>
            <a:ext cx="1892300" cy="736600"/>
          </a:xfrm>
          <a:prstGeom prst="roundRect">
            <a:avLst>
              <a:gd name="adj" fmla="val 9483"/>
            </a:avLst>
          </a:prstGeom>
          <a:solidFill>
            <a:srgbClr val="1C2619"/>
          </a:solidFill>
          <a:ln w="12700">
            <a:solidFill>
              <a:srgbClr val="63E14F"/>
            </a:solidFill>
            <a:prstDash val="solid"/>
          </a:ln>
        </p:spPr>
        <p:txBody>
          <a:bodyPr wrap="square" lIns="290096" tIns="36692" rIns="290096" bIns="36692" rtlCol="0" anchor="ctr">
            <a:normAutofit/>
          </a:bodyPr>
          <a:lstStyle/>
          <a:p>
            <a:pPr algn="ctr" indent="0" marL="0">
              <a:lnSpc>
                <a:spcPts val="1610"/>
              </a:lnSpc>
              <a:buNone/>
            </a:pPr>
            <a:r>
              <a:rPr lang="en-US" sz="1400" dirty="0">
                <a:solidFill>
                  <a:srgbClr val="63E14F"/>
                </a:solidFill>
                <a:latin typeface="Raleway" pitchFamily="34" charset="0"/>
                <a:ea typeface="Raleway" pitchFamily="34" charset="-122"/>
                <a:cs typeface="Raleway" pitchFamily="34" charset="-120"/>
              </a:rPr>
              <a:t>Unicorn</a:t>
            </a:r>
            <a:endParaRPr lang="en-US" sz="1400" dirty="0"/>
          </a:p>
          <a:p>
            <a:pPr algn="ctr" indent="0" marL="0">
              <a:lnSpc>
                <a:spcPts val="1610"/>
              </a:lnSpc>
              <a:buNone/>
            </a:pPr>
            <a:r>
              <a:rPr lang="en-US" sz="1400" dirty="0">
                <a:solidFill>
                  <a:srgbClr val="A3A8B0"/>
                </a:solidFill>
                <a:latin typeface="Raleway" pitchFamily="34" charset="0"/>
                <a:ea typeface="Raleway" pitchFamily="34" charset="-122"/>
                <a:cs typeface="Raleway" pitchFamily="34" charset="-120"/>
              </a:rPr>
              <a:t>hire at all costs</a:t>
            </a:r>
            <a:endParaRPr lang="en-US" sz="1400" dirty="0"/>
          </a:p>
        </p:txBody>
      </p:sp>
      <p:sp>
        <p:nvSpPr>
          <p:cNvPr id="11" name="Text 8"/>
          <p:cNvSpPr/>
          <p:nvPr/>
        </p:nvSpPr>
        <p:spPr>
          <a:xfrm>
            <a:off x="1364357" y="2919710"/>
            <a:ext cx="217636" cy="416520"/>
          </a:xfrm>
          <a:prstGeom prst="rect">
            <a:avLst/>
          </a:prstGeom>
          <a:noFill/>
          <a:ln/>
        </p:spPr>
        <p:txBody>
          <a:bodyPr wrap="square" lIns="0" tIns="0" rIns="0" bIns="0" rtlCol="0" anchor="t">
            <a:normAutofit/>
          </a:bodyPr>
          <a:lstStyle/>
          <a:p>
            <a:pPr algn="ctr" indent="0" marL="0">
              <a:lnSpc>
                <a:spcPts val="3080"/>
              </a:lnSpc>
              <a:buNone/>
            </a:pPr>
            <a:r>
              <a:rPr lang="en-US" sz="2200" b="1" dirty="0">
                <a:solidFill>
                  <a:srgbClr val="E9ECEF"/>
                </a:solidFill>
                <a:latin typeface="Host Grotesk" pitchFamily="34" charset="0"/>
                <a:ea typeface="Host Grotesk" pitchFamily="34" charset="-122"/>
                <a:cs typeface="Host Grotesk" pitchFamily="34" charset="-120"/>
              </a:rPr>
              <a:t>B</a:t>
            </a:r>
            <a:endParaRPr lang="en-US" sz="2200" dirty="0"/>
          </a:p>
        </p:txBody>
      </p:sp>
      <p:sp>
        <p:nvSpPr>
          <p:cNvPr id="12" name="Text 9"/>
          <p:cNvSpPr/>
          <p:nvPr/>
        </p:nvSpPr>
        <p:spPr>
          <a:xfrm>
            <a:off x="1860550" y="2746970"/>
            <a:ext cx="1892300" cy="736600"/>
          </a:xfrm>
          <a:prstGeom prst="roundRect">
            <a:avLst>
              <a:gd name="adj" fmla="val 9483"/>
            </a:avLst>
          </a:prstGeom>
          <a:solidFill>
            <a:srgbClr val="141416"/>
          </a:solidFill>
          <a:ln w="12700">
            <a:solidFill>
              <a:srgbClr val="2B2B2B"/>
            </a:solidFill>
            <a:prstDash val="solid"/>
          </a:ln>
        </p:spPr>
        <p:txBody>
          <a:bodyPr wrap="square" lIns="36692" tIns="36692" rIns="36692" bIns="36692" rtlCol="0" anchor="ctr">
            <a:normAutofit/>
          </a:bodyPr>
          <a:lstStyle/>
          <a:p>
            <a:pPr algn="ctr" indent="0" marL="0">
              <a:lnSpc>
                <a:spcPts val="1610"/>
              </a:lnSpc>
              <a:buNone/>
            </a:pPr>
            <a:r>
              <a:rPr lang="en-US" sz="1400" dirty="0">
                <a:solidFill>
                  <a:srgbClr val="E9ECEF"/>
                </a:solidFill>
                <a:latin typeface="Raleway" pitchFamily="34" charset="0"/>
                <a:ea typeface="Raleway" pitchFamily="34" charset="-122"/>
                <a:cs typeface="Raleway" pitchFamily="34" charset="-120"/>
              </a:rPr>
              <a:t>Consultant</a:t>
            </a:r>
            <a:endParaRPr lang="en-US" sz="1400" dirty="0"/>
          </a:p>
        </p:txBody>
      </p:sp>
      <p:sp>
        <p:nvSpPr>
          <p:cNvPr id="13" name="Text 10"/>
          <p:cNvSpPr/>
          <p:nvPr/>
        </p:nvSpPr>
        <p:spPr>
          <a:xfrm>
            <a:off x="3841750" y="2746970"/>
            <a:ext cx="1892300" cy="736600"/>
          </a:xfrm>
          <a:prstGeom prst="roundRect">
            <a:avLst>
              <a:gd name="adj" fmla="val 9483"/>
            </a:avLst>
          </a:prstGeom>
          <a:solidFill>
            <a:srgbClr val="141416"/>
          </a:solidFill>
          <a:ln w="12700">
            <a:solidFill>
              <a:srgbClr val="2B2B2B"/>
            </a:solidFill>
            <a:prstDash val="solid"/>
          </a:ln>
        </p:spPr>
        <p:txBody>
          <a:bodyPr wrap="square" lIns="36692" tIns="36692" rIns="36692" bIns="36692" rtlCol="0" anchor="ctr">
            <a:normAutofit/>
          </a:bodyPr>
          <a:lstStyle/>
          <a:p>
            <a:pPr algn="ctr" indent="0" marL="0">
              <a:lnSpc>
                <a:spcPts val="1610"/>
              </a:lnSpc>
              <a:buNone/>
            </a:pPr>
            <a:r>
              <a:rPr lang="en-US" sz="1400" dirty="0">
                <a:solidFill>
                  <a:srgbClr val="E9ECEF"/>
                </a:solidFill>
                <a:latin typeface="Raleway" pitchFamily="34" charset="0"/>
                <a:ea typeface="Raleway" pitchFamily="34" charset="-122"/>
                <a:cs typeface="Raleway" pitchFamily="34" charset="-120"/>
              </a:rPr>
              <a:t>Ambivalence</a:t>
            </a:r>
            <a:endParaRPr lang="en-US" sz="1400" dirty="0"/>
          </a:p>
        </p:txBody>
      </p:sp>
      <p:sp>
        <p:nvSpPr>
          <p:cNvPr id="14" name="Text 11"/>
          <p:cNvSpPr/>
          <p:nvPr/>
        </p:nvSpPr>
        <p:spPr>
          <a:xfrm>
            <a:off x="5822950" y="2746970"/>
            <a:ext cx="1892300" cy="736600"/>
          </a:xfrm>
          <a:prstGeom prst="roundRect">
            <a:avLst>
              <a:gd name="adj" fmla="val 9483"/>
            </a:avLst>
          </a:prstGeom>
          <a:solidFill>
            <a:srgbClr val="141416"/>
          </a:solidFill>
          <a:ln w="12700">
            <a:solidFill>
              <a:srgbClr val="2B2B2B"/>
            </a:solidFill>
            <a:prstDash val="solid"/>
          </a:ln>
        </p:spPr>
        <p:txBody>
          <a:bodyPr wrap="square" lIns="36692" tIns="36692" rIns="36692" bIns="36692" rtlCol="0" anchor="ctr">
            <a:normAutofit/>
          </a:bodyPr>
          <a:lstStyle/>
          <a:p>
            <a:pPr algn="ctr" indent="0" marL="0">
              <a:lnSpc>
                <a:spcPts val="1610"/>
              </a:lnSpc>
              <a:buNone/>
            </a:pPr>
            <a:r>
              <a:rPr lang="en-US" sz="1400" dirty="0">
                <a:solidFill>
                  <a:srgbClr val="E9ECEF"/>
                </a:solidFill>
                <a:latin typeface="Raleway" pitchFamily="34" charset="0"/>
                <a:ea typeface="Raleway" pitchFamily="34" charset="-122"/>
                <a:cs typeface="Raleway" pitchFamily="34" charset="-120"/>
              </a:rPr>
              <a:t>Ambivalence</a:t>
            </a:r>
            <a:endParaRPr lang="en-US" sz="1400" dirty="0"/>
          </a:p>
        </p:txBody>
      </p:sp>
      <p:sp>
        <p:nvSpPr>
          <p:cNvPr id="15" name="Text 12"/>
          <p:cNvSpPr/>
          <p:nvPr/>
        </p:nvSpPr>
        <p:spPr>
          <a:xfrm>
            <a:off x="7804150" y="2746970"/>
            <a:ext cx="1892300" cy="736600"/>
          </a:xfrm>
          <a:prstGeom prst="roundRect">
            <a:avLst>
              <a:gd name="adj" fmla="val 9483"/>
            </a:avLst>
          </a:prstGeom>
          <a:solidFill>
            <a:srgbClr val="1C2619"/>
          </a:solidFill>
          <a:ln w="12700">
            <a:solidFill>
              <a:srgbClr val="63E14F"/>
            </a:solidFill>
            <a:prstDash val="solid"/>
          </a:ln>
        </p:spPr>
        <p:txBody>
          <a:bodyPr wrap="square" lIns="290096" tIns="36692" rIns="290096" bIns="36692" rtlCol="0" anchor="ctr">
            <a:normAutofit/>
          </a:bodyPr>
          <a:lstStyle/>
          <a:p>
            <a:pPr algn="ctr" indent="0" marL="0">
              <a:lnSpc>
                <a:spcPts val="1610"/>
              </a:lnSpc>
              <a:buNone/>
            </a:pPr>
            <a:r>
              <a:rPr lang="en-US" sz="1400" dirty="0">
                <a:solidFill>
                  <a:srgbClr val="63E14F"/>
                </a:solidFill>
                <a:latin typeface="Raleway" pitchFamily="34" charset="0"/>
                <a:ea typeface="Raleway" pitchFamily="34" charset="-122"/>
                <a:cs typeface="Raleway" pitchFamily="34" charset="-120"/>
              </a:rPr>
              <a:t>Team Player</a:t>
            </a:r>
            <a:endParaRPr lang="en-US" sz="1400" dirty="0"/>
          </a:p>
          <a:p>
            <a:pPr algn="ctr" indent="0" marL="0">
              <a:lnSpc>
                <a:spcPts val="1610"/>
              </a:lnSpc>
              <a:buNone/>
            </a:pPr>
            <a:r>
              <a:rPr lang="en-US" sz="1400" dirty="0">
                <a:solidFill>
                  <a:srgbClr val="A3A8B0"/>
                </a:solidFill>
                <a:latin typeface="Raleway" pitchFamily="34" charset="0"/>
                <a:ea typeface="Raleway" pitchFamily="34" charset="-122"/>
                <a:cs typeface="Raleway" pitchFamily="34" charset="-120"/>
              </a:rPr>
              <a:t>hire at all costs</a:t>
            </a:r>
            <a:endParaRPr lang="en-US" sz="1400" dirty="0"/>
          </a:p>
        </p:txBody>
      </p:sp>
      <p:sp>
        <p:nvSpPr>
          <p:cNvPr id="16" name="Text 13"/>
          <p:cNvSpPr/>
          <p:nvPr/>
        </p:nvSpPr>
        <p:spPr>
          <a:xfrm>
            <a:off x="1349276" y="3745210"/>
            <a:ext cx="247799" cy="416520"/>
          </a:xfrm>
          <a:prstGeom prst="rect">
            <a:avLst/>
          </a:prstGeom>
          <a:noFill/>
          <a:ln/>
        </p:spPr>
        <p:txBody>
          <a:bodyPr wrap="square" lIns="0" tIns="0" rIns="0" bIns="0" rtlCol="0" anchor="t">
            <a:normAutofit/>
          </a:bodyPr>
          <a:lstStyle/>
          <a:p>
            <a:pPr algn="ctr" indent="0" marL="0">
              <a:lnSpc>
                <a:spcPts val="3080"/>
              </a:lnSpc>
              <a:buNone/>
            </a:pPr>
            <a:r>
              <a:rPr lang="en-US" sz="2200" b="1" dirty="0">
                <a:solidFill>
                  <a:srgbClr val="E9ECEF"/>
                </a:solidFill>
                <a:latin typeface="Host Grotesk" pitchFamily="34" charset="0"/>
                <a:ea typeface="Host Grotesk" pitchFamily="34" charset="-122"/>
                <a:cs typeface="Host Grotesk" pitchFamily="34" charset="-120"/>
              </a:rPr>
              <a:t>C</a:t>
            </a:r>
            <a:endParaRPr lang="en-US" sz="2200" dirty="0"/>
          </a:p>
        </p:txBody>
      </p:sp>
      <p:sp>
        <p:nvSpPr>
          <p:cNvPr id="17" name="Text 14"/>
          <p:cNvSpPr/>
          <p:nvPr/>
        </p:nvSpPr>
        <p:spPr>
          <a:xfrm>
            <a:off x="1860550" y="3572470"/>
            <a:ext cx="1892300" cy="736600"/>
          </a:xfrm>
          <a:prstGeom prst="roundRect">
            <a:avLst>
              <a:gd name="adj" fmla="val 9483"/>
            </a:avLst>
          </a:prstGeom>
          <a:solidFill>
            <a:srgbClr val="141416"/>
          </a:solidFill>
          <a:ln w="12700">
            <a:solidFill>
              <a:srgbClr val="2B2B2B"/>
            </a:solidFill>
            <a:prstDash val="solid"/>
          </a:ln>
        </p:spPr>
        <p:txBody>
          <a:bodyPr wrap="square" lIns="36692" tIns="36692" rIns="36692" bIns="36692" rtlCol="0" anchor="ctr">
            <a:normAutofit/>
          </a:bodyPr>
          <a:lstStyle/>
          <a:p>
            <a:pPr algn="ctr" indent="0" marL="0">
              <a:lnSpc>
                <a:spcPts val="1610"/>
              </a:lnSpc>
              <a:buNone/>
            </a:pPr>
            <a:r>
              <a:rPr lang="en-US" sz="1400" dirty="0">
                <a:solidFill>
                  <a:srgbClr val="8B9097"/>
                </a:solidFill>
                <a:latin typeface="Raleway" pitchFamily="34" charset="0"/>
                <a:ea typeface="Raleway" pitchFamily="34" charset="-122"/>
                <a:cs typeface="Raleway" pitchFamily="34" charset="-120"/>
              </a:rPr>
              <a:t>Hell No!!!</a:t>
            </a:r>
            <a:endParaRPr lang="en-US" sz="1400" dirty="0"/>
          </a:p>
        </p:txBody>
      </p:sp>
      <p:sp>
        <p:nvSpPr>
          <p:cNvPr id="18" name="Text 15"/>
          <p:cNvSpPr/>
          <p:nvPr/>
        </p:nvSpPr>
        <p:spPr>
          <a:xfrm>
            <a:off x="3841750" y="3572470"/>
            <a:ext cx="1892300" cy="736600"/>
          </a:xfrm>
          <a:prstGeom prst="roundRect">
            <a:avLst>
              <a:gd name="adj" fmla="val 9483"/>
            </a:avLst>
          </a:prstGeom>
          <a:solidFill>
            <a:srgbClr val="141416"/>
          </a:solidFill>
          <a:ln w="12700">
            <a:solidFill>
              <a:srgbClr val="2B2B2B"/>
            </a:solidFill>
            <a:prstDash val="solid"/>
          </a:ln>
        </p:spPr>
        <p:txBody>
          <a:bodyPr wrap="square" lIns="36692" tIns="36692" rIns="36692" bIns="36692" rtlCol="0" anchor="ctr">
            <a:normAutofit/>
          </a:bodyPr>
          <a:lstStyle/>
          <a:p>
            <a:pPr algn="ctr" indent="0" marL="0">
              <a:lnSpc>
                <a:spcPts val="1610"/>
              </a:lnSpc>
              <a:buNone/>
            </a:pPr>
            <a:r>
              <a:rPr lang="en-US" sz="1400" dirty="0">
                <a:solidFill>
                  <a:srgbClr val="8B9097"/>
                </a:solidFill>
                <a:latin typeface="Raleway" pitchFamily="34" charset="0"/>
                <a:ea typeface="Raleway" pitchFamily="34" charset="-122"/>
                <a:cs typeface="Raleway" pitchFamily="34" charset="-120"/>
              </a:rPr>
              <a:t>Hell No</a:t>
            </a:r>
            <a:endParaRPr lang="en-US" sz="1400" dirty="0"/>
          </a:p>
        </p:txBody>
      </p:sp>
      <p:sp>
        <p:nvSpPr>
          <p:cNvPr id="19" name="Text 16"/>
          <p:cNvSpPr/>
          <p:nvPr/>
        </p:nvSpPr>
        <p:spPr>
          <a:xfrm>
            <a:off x="5822950" y="3572470"/>
            <a:ext cx="1892300" cy="736600"/>
          </a:xfrm>
          <a:prstGeom prst="roundRect">
            <a:avLst>
              <a:gd name="adj" fmla="val 9483"/>
            </a:avLst>
          </a:prstGeom>
          <a:solidFill>
            <a:srgbClr val="141416"/>
          </a:solidFill>
          <a:ln w="12700">
            <a:solidFill>
              <a:srgbClr val="2B2B2B"/>
            </a:solidFill>
            <a:prstDash val="solid"/>
          </a:ln>
        </p:spPr>
        <p:txBody>
          <a:bodyPr wrap="square" lIns="36692" tIns="36692" rIns="36692" bIns="36692" rtlCol="0" anchor="ctr">
            <a:normAutofit/>
          </a:bodyPr>
          <a:lstStyle/>
          <a:p>
            <a:pPr algn="ctr" indent="0" marL="0">
              <a:lnSpc>
                <a:spcPts val="1610"/>
              </a:lnSpc>
              <a:buNone/>
            </a:pPr>
            <a:r>
              <a:rPr lang="en-US" sz="1400" dirty="0">
                <a:solidFill>
                  <a:srgbClr val="8B9097"/>
                </a:solidFill>
                <a:latin typeface="Raleway" pitchFamily="34" charset="0"/>
                <a:ea typeface="Raleway" pitchFamily="34" charset="-122"/>
                <a:cs typeface="Raleway" pitchFamily="34" charset="-120"/>
              </a:rPr>
              <a:t>No</a:t>
            </a:r>
            <a:endParaRPr lang="en-US" sz="1400" dirty="0"/>
          </a:p>
        </p:txBody>
      </p:sp>
      <p:sp>
        <p:nvSpPr>
          <p:cNvPr id="20" name="Text 17"/>
          <p:cNvSpPr/>
          <p:nvPr/>
        </p:nvSpPr>
        <p:spPr>
          <a:xfrm>
            <a:off x="7804150" y="3572470"/>
            <a:ext cx="1892300" cy="736600"/>
          </a:xfrm>
          <a:prstGeom prst="roundRect">
            <a:avLst>
              <a:gd name="adj" fmla="val 9483"/>
            </a:avLst>
          </a:prstGeom>
          <a:solidFill>
            <a:srgbClr val="141416"/>
          </a:solidFill>
          <a:ln w="12700">
            <a:solidFill>
              <a:srgbClr val="2B2B2B"/>
            </a:solidFill>
            <a:prstDash val="solid"/>
          </a:ln>
        </p:spPr>
        <p:txBody>
          <a:bodyPr wrap="square" lIns="36692" tIns="36692" rIns="36692" bIns="36692" rtlCol="0" anchor="ctr">
            <a:normAutofit/>
          </a:bodyPr>
          <a:lstStyle/>
          <a:p>
            <a:pPr algn="ctr" indent="0" marL="0">
              <a:lnSpc>
                <a:spcPts val="1610"/>
              </a:lnSpc>
              <a:buNone/>
            </a:pPr>
            <a:r>
              <a:rPr lang="en-US" sz="1400" dirty="0">
                <a:solidFill>
                  <a:srgbClr val="8B9097"/>
                </a:solidFill>
                <a:latin typeface="Raleway" pitchFamily="34" charset="0"/>
                <a:ea typeface="Raleway" pitchFamily="34" charset="-122"/>
                <a:cs typeface="Raleway" pitchFamily="34" charset="-120"/>
              </a:rPr>
              <a:t>No</a:t>
            </a:r>
            <a:endParaRPr lang="en-US" sz="1400" dirty="0"/>
          </a:p>
        </p:txBody>
      </p:sp>
      <p:sp>
        <p:nvSpPr>
          <p:cNvPr id="21" name="Text 18"/>
          <p:cNvSpPr/>
          <p:nvPr/>
        </p:nvSpPr>
        <p:spPr>
          <a:xfrm>
            <a:off x="1352104" y="4570710"/>
            <a:ext cx="242193" cy="416520"/>
          </a:xfrm>
          <a:prstGeom prst="rect">
            <a:avLst/>
          </a:prstGeom>
          <a:noFill/>
          <a:ln/>
        </p:spPr>
        <p:txBody>
          <a:bodyPr wrap="square" lIns="0" tIns="0" rIns="0" bIns="0" rtlCol="0" anchor="t">
            <a:normAutofit/>
          </a:bodyPr>
          <a:lstStyle/>
          <a:p>
            <a:pPr algn="ctr" indent="0" marL="0">
              <a:lnSpc>
                <a:spcPts val="3080"/>
              </a:lnSpc>
              <a:buNone/>
            </a:pPr>
            <a:r>
              <a:rPr lang="en-US" sz="2200" b="1" dirty="0">
                <a:solidFill>
                  <a:srgbClr val="E9ECEF"/>
                </a:solidFill>
                <a:latin typeface="Host Grotesk" pitchFamily="34" charset="0"/>
                <a:ea typeface="Host Grotesk" pitchFamily="34" charset="-122"/>
                <a:cs typeface="Host Grotesk" pitchFamily="34" charset="-120"/>
              </a:rPr>
              <a:t>D</a:t>
            </a:r>
            <a:endParaRPr lang="en-US" sz="2200" dirty="0"/>
          </a:p>
        </p:txBody>
      </p:sp>
      <p:sp>
        <p:nvSpPr>
          <p:cNvPr id="22" name="Text 19"/>
          <p:cNvSpPr/>
          <p:nvPr/>
        </p:nvSpPr>
        <p:spPr>
          <a:xfrm>
            <a:off x="1860550" y="4397970"/>
            <a:ext cx="1892300" cy="736600"/>
          </a:xfrm>
          <a:prstGeom prst="roundRect">
            <a:avLst>
              <a:gd name="adj" fmla="val 9483"/>
            </a:avLst>
          </a:prstGeom>
          <a:solidFill>
            <a:srgbClr val="141416"/>
          </a:solidFill>
          <a:ln w="12700">
            <a:solidFill>
              <a:srgbClr val="2B2B2B"/>
            </a:solidFill>
            <a:prstDash val="solid"/>
          </a:ln>
        </p:spPr>
        <p:txBody>
          <a:bodyPr wrap="square" lIns="36692" tIns="36692" rIns="36692" bIns="36692" rtlCol="0" anchor="ctr">
            <a:normAutofit/>
          </a:bodyPr>
          <a:lstStyle/>
          <a:p>
            <a:pPr algn="ctr" indent="0" marL="0">
              <a:lnSpc>
                <a:spcPts val="1610"/>
              </a:lnSpc>
              <a:buNone/>
            </a:pPr>
            <a:r>
              <a:rPr lang="en-US" sz="1400" dirty="0">
                <a:solidFill>
                  <a:srgbClr val="8B9097"/>
                </a:solidFill>
                <a:latin typeface="Raleway" pitchFamily="34" charset="0"/>
                <a:ea typeface="Raleway" pitchFamily="34" charset="-122"/>
                <a:cs typeface="Raleway" pitchFamily="34" charset="-120"/>
              </a:rPr>
              <a:t>Will get you fired</a:t>
            </a:r>
            <a:endParaRPr lang="en-US" sz="1400" dirty="0"/>
          </a:p>
        </p:txBody>
      </p:sp>
      <p:sp>
        <p:nvSpPr>
          <p:cNvPr id="23" name="Text 20"/>
          <p:cNvSpPr/>
          <p:nvPr/>
        </p:nvSpPr>
        <p:spPr>
          <a:xfrm>
            <a:off x="3841750" y="4397970"/>
            <a:ext cx="1892300" cy="736600"/>
          </a:xfrm>
          <a:prstGeom prst="roundRect">
            <a:avLst>
              <a:gd name="adj" fmla="val 9483"/>
            </a:avLst>
          </a:prstGeom>
          <a:solidFill>
            <a:srgbClr val="141416"/>
          </a:solidFill>
          <a:ln w="12700">
            <a:solidFill>
              <a:srgbClr val="2B2B2B"/>
            </a:solidFill>
            <a:prstDash val="solid"/>
          </a:ln>
        </p:spPr>
        <p:txBody>
          <a:bodyPr wrap="square" lIns="36692" tIns="36692" rIns="36692" bIns="36692" rtlCol="0" anchor="ctr">
            <a:normAutofit/>
          </a:bodyPr>
          <a:lstStyle/>
          <a:p>
            <a:pPr algn="ctr" indent="0" marL="0">
              <a:lnSpc>
                <a:spcPts val="1610"/>
              </a:lnSpc>
              <a:buNone/>
            </a:pPr>
            <a:r>
              <a:rPr lang="en-US" sz="1400" dirty="0">
                <a:solidFill>
                  <a:srgbClr val="8B9097"/>
                </a:solidFill>
                <a:latin typeface="Raleway" pitchFamily="34" charset="0"/>
                <a:ea typeface="Raleway" pitchFamily="34" charset="-122"/>
                <a:cs typeface="Raleway" pitchFamily="34" charset="-120"/>
              </a:rPr>
              <a:t>Will get you fired</a:t>
            </a:r>
            <a:endParaRPr lang="en-US" sz="1400" dirty="0"/>
          </a:p>
        </p:txBody>
      </p:sp>
      <p:sp>
        <p:nvSpPr>
          <p:cNvPr id="24" name="Text 21"/>
          <p:cNvSpPr/>
          <p:nvPr/>
        </p:nvSpPr>
        <p:spPr>
          <a:xfrm>
            <a:off x="5822950" y="4397970"/>
            <a:ext cx="1892300" cy="736600"/>
          </a:xfrm>
          <a:prstGeom prst="roundRect">
            <a:avLst>
              <a:gd name="adj" fmla="val 9483"/>
            </a:avLst>
          </a:prstGeom>
          <a:solidFill>
            <a:srgbClr val="141416"/>
          </a:solidFill>
          <a:ln w="12700">
            <a:solidFill>
              <a:srgbClr val="2B2B2B"/>
            </a:solidFill>
            <a:prstDash val="solid"/>
          </a:ln>
        </p:spPr>
        <p:txBody>
          <a:bodyPr wrap="square" lIns="36692" tIns="36692" rIns="36692" bIns="36692" rtlCol="0" anchor="ctr">
            <a:normAutofit/>
          </a:bodyPr>
          <a:lstStyle/>
          <a:p>
            <a:pPr algn="ctr" indent="0" marL="0">
              <a:lnSpc>
                <a:spcPts val="1610"/>
              </a:lnSpc>
              <a:buNone/>
            </a:pPr>
            <a:r>
              <a:rPr lang="en-US" sz="1400" dirty="0">
                <a:solidFill>
                  <a:srgbClr val="8B9097"/>
                </a:solidFill>
                <a:latin typeface="Raleway" pitchFamily="34" charset="0"/>
                <a:ea typeface="Raleway" pitchFamily="34" charset="-122"/>
                <a:cs typeface="Raleway" pitchFamily="34" charset="-120"/>
              </a:rPr>
              <a:t>Will get you fired</a:t>
            </a:r>
            <a:endParaRPr lang="en-US" sz="1400" dirty="0"/>
          </a:p>
        </p:txBody>
      </p:sp>
      <p:sp>
        <p:nvSpPr>
          <p:cNvPr id="25" name="Text 22"/>
          <p:cNvSpPr/>
          <p:nvPr/>
        </p:nvSpPr>
        <p:spPr>
          <a:xfrm>
            <a:off x="7804150" y="4397970"/>
            <a:ext cx="1892300" cy="736600"/>
          </a:xfrm>
          <a:prstGeom prst="roundRect">
            <a:avLst>
              <a:gd name="adj" fmla="val 9483"/>
            </a:avLst>
          </a:prstGeom>
          <a:solidFill>
            <a:srgbClr val="141416"/>
          </a:solidFill>
          <a:ln w="12700">
            <a:solidFill>
              <a:srgbClr val="2B2B2B"/>
            </a:solidFill>
            <a:prstDash val="solid"/>
          </a:ln>
        </p:spPr>
        <p:txBody>
          <a:bodyPr wrap="square" lIns="36692" tIns="36692" rIns="36692" bIns="36692" rtlCol="0" anchor="ctr">
            <a:normAutofit/>
          </a:bodyPr>
          <a:lstStyle/>
          <a:p>
            <a:pPr algn="ctr" indent="0" marL="0">
              <a:lnSpc>
                <a:spcPts val="1610"/>
              </a:lnSpc>
              <a:buNone/>
            </a:pPr>
            <a:r>
              <a:rPr lang="en-US" sz="1400" dirty="0">
                <a:solidFill>
                  <a:srgbClr val="8B9097"/>
                </a:solidFill>
                <a:latin typeface="Raleway" pitchFamily="34" charset="0"/>
                <a:ea typeface="Raleway" pitchFamily="34" charset="-122"/>
                <a:cs typeface="Raleway" pitchFamily="34" charset="-120"/>
              </a:rPr>
              <a:t>Will get you fired</a:t>
            </a:r>
            <a:endParaRPr lang="en-US" sz="1400" dirty="0"/>
          </a:p>
        </p:txBody>
      </p:sp>
      <p:sp>
        <p:nvSpPr>
          <p:cNvPr id="26" name="Text 23"/>
          <p:cNvSpPr/>
          <p:nvPr/>
        </p:nvSpPr>
        <p:spPr>
          <a:xfrm>
            <a:off x="1854200" y="5217120"/>
            <a:ext cx="1962150" cy="220960"/>
          </a:xfrm>
          <a:prstGeom prst="rect">
            <a:avLst/>
          </a:prstGeom>
          <a:noFill/>
          <a:ln/>
        </p:spPr>
        <p:txBody>
          <a:bodyPr wrap="square" lIns="0" tIns="0" rIns="0" bIns="0" rtlCol="0" anchor="t">
            <a:normAutofit/>
          </a:bodyPr>
          <a:lstStyle/>
          <a:p>
            <a:pPr algn="l" indent="0" marL="0">
              <a:lnSpc>
                <a:spcPts val="1540"/>
              </a:lnSpc>
              <a:buNone/>
            </a:pPr>
            <a:r>
              <a:rPr lang="en-US" sz="1100" spc="100" kern="0" dirty="0">
                <a:solidFill>
                  <a:srgbClr val="FF832A"/>
                </a:solidFill>
                <a:latin typeface="DM Mono" pitchFamily="49" charset="0"/>
                <a:ea typeface="DM Mono" pitchFamily="49" charset="-122"/>
                <a:cs typeface="DM Mono" pitchFamily="49" charset="-120"/>
              </a:rPr>
              <a:t>−10 UNALIGNED</a:t>
            </a:r>
            <a:endParaRPr lang="en-US" sz="1100" dirty="0"/>
          </a:p>
        </p:txBody>
      </p:sp>
      <p:sp>
        <p:nvSpPr>
          <p:cNvPr id="27" name="Text 24"/>
          <p:cNvSpPr/>
          <p:nvPr/>
        </p:nvSpPr>
        <p:spPr>
          <a:xfrm>
            <a:off x="3777107" y="5217120"/>
            <a:ext cx="4002786" cy="220960"/>
          </a:xfrm>
          <a:prstGeom prst="rect">
            <a:avLst/>
          </a:prstGeom>
          <a:noFill/>
          <a:ln/>
        </p:spPr>
        <p:txBody>
          <a:bodyPr wrap="square" lIns="0" tIns="0" rIns="0" bIns="0" rtlCol="0" anchor="t">
            <a:normAutofit/>
          </a:bodyPr>
          <a:lstStyle/>
          <a:p>
            <a:pPr algn="ctr" indent="0" marL="0">
              <a:lnSpc>
                <a:spcPts val="1540"/>
              </a:lnSpc>
              <a:buNone/>
            </a:pPr>
            <a:r>
              <a:rPr lang="en-US" sz="1100" spc="100" kern="0" dirty="0">
                <a:solidFill>
                  <a:srgbClr val="8B9097"/>
                </a:solidFill>
                <a:latin typeface="DM Mono" pitchFamily="49" charset="0"/>
                <a:ea typeface="DM Mono" pitchFamily="49" charset="-122"/>
                <a:cs typeface="DM Mono" pitchFamily="49" charset="-120"/>
              </a:rPr>
              <a:t>FIT →</a:t>
            </a:r>
            <a:endParaRPr lang="en-US" sz="1100" dirty="0"/>
          </a:p>
        </p:txBody>
      </p:sp>
      <p:sp>
        <p:nvSpPr>
          <p:cNvPr id="28" name="Text 25"/>
          <p:cNvSpPr/>
          <p:nvPr/>
        </p:nvSpPr>
        <p:spPr>
          <a:xfrm>
            <a:off x="7740650" y="5217120"/>
            <a:ext cx="1962150" cy="220960"/>
          </a:xfrm>
          <a:prstGeom prst="rect">
            <a:avLst/>
          </a:prstGeom>
          <a:noFill/>
          <a:ln/>
        </p:spPr>
        <p:txBody>
          <a:bodyPr wrap="square" lIns="0" tIns="0" rIns="0" bIns="0" rtlCol="0" anchor="t">
            <a:normAutofit/>
          </a:bodyPr>
          <a:lstStyle/>
          <a:p>
            <a:pPr algn="r" indent="0" marL="0">
              <a:lnSpc>
                <a:spcPts val="1540"/>
              </a:lnSpc>
              <a:buNone/>
            </a:pPr>
            <a:r>
              <a:rPr lang="en-US" sz="1100" spc="100" kern="0" dirty="0">
                <a:solidFill>
                  <a:srgbClr val="63E14F"/>
                </a:solidFill>
                <a:latin typeface="DM Mono" pitchFamily="49" charset="0"/>
                <a:ea typeface="DM Mono" pitchFamily="49" charset="-122"/>
                <a:cs typeface="DM Mono" pitchFamily="49" charset="-120"/>
              </a:rPr>
              <a:t>+10 ALIGNED</a:t>
            </a:r>
            <a:endParaRPr lang="en-US" sz="1100" dirty="0"/>
          </a:p>
        </p:txBody>
      </p:sp>
      <p:pic>
        <p:nvPicPr>
          <p:cNvPr id="29" name="Image 1" descr="preencoded.png">    </p:cNvPr>
          <p:cNvPicPr>
            <a:picLocks noChangeAspect="1"/>
          </p:cNvPicPr>
          <p:nvPr/>
        </p:nvPicPr>
        <p:blipFill>
          <a:blip r:embed="rId2"/>
          <a:srcRect l="0" r="0" t="0" b="0"/>
          <a:stretch/>
        </p:blipFill>
        <p:spPr>
          <a:xfrm>
            <a:off x="0" y="0"/>
            <a:ext cx="12192000" cy="6858000"/>
          </a:xfrm>
          <a:prstGeom prst="rect">
            <a:avLst/>
          </a:prstGeom>
        </p:spPr>
      </p:pic>
      <p:pic>
        <p:nvPicPr>
          <p:cNvPr id="30" name="Image 2" descr="Mashgin">    </p:cNvPr>
          <p:cNvPicPr>
            <a:picLocks noChangeAspect="1"/>
          </p:cNvPicPr>
          <p:nvPr/>
        </p:nvPicPr>
        <p:blipFill>
          <a:blip r:embed="rId3"/>
          <a:srcRect l="-284" r="-284" t="0" b="0"/>
          <a:stretch/>
        </p:blipFill>
        <p:spPr>
          <a:xfrm>
            <a:off x="10121900" y="406400"/>
            <a:ext cx="1460500" cy="298450"/>
          </a:xfrm>
          <a:prstGeom prst="rect">
            <a:avLst/>
          </a:prstGeom>
        </p:spPr>
      </p:pic>
      <p:sp>
        <p:nvSpPr>
          <p:cNvPr id="31" name="Text 26"/>
          <p:cNvSpPr/>
          <p:nvPr/>
        </p:nvSpPr>
        <p:spPr>
          <a:xfrm>
            <a:off x="812800" y="62382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097"/>
                </a:solidFill>
                <a:latin typeface="DM Mono" pitchFamily="49" charset="0"/>
                <a:ea typeface="DM Mono" pitchFamily="49" charset="-122"/>
                <a:cs typeface="DM Mono" pitchFamily="49" charset="-120"/>
              </a:rPr>
              <a:t>Copyright Dobromir Montauk, 2026</a:t>
            </a:r>
            <a:endParaRPr lang="en-US" sz="1200" dirty="0"/>
          </a:p>
        </p:txBody>
      </p:sp>
      <p:sp>
        <p:nvSpPr>
          <p:cNvPr id="32" name="Text 27"/>
          <p:cNvSpPr/>
          <p:nvPr/>
        </p:nvSpPr>
        <p:spPr>
          <a:xfrm>
            <a:off x="10261600" y="6169670"/>
            <a:ext cx="1320800" cy="345430"/>
          </a:xfrm>
          <a:prstGeom prst="rect">
            <a:avLst/>
          </a:prstGeom>
          <a:noFill/>
          <a:ln/>
        </p:spPr>
        <p:txBody>
          <a:bodyPr wrap="square" lIns="0" tIns="0" rIns="0" bIns="0" rtlCol="0" anchor="t">
            <a:normAutofit/>
          </a:bodyPr>
          <a:lstStyle/>
          <a:p>
            <a:pPr algn="r" indent="0" marL="0">
              <a:lnSpc>
                <a:spcPts val="2520"/>
              </a:lnSpc>
              <a:buNone/>
            </a:pPr>
            <a:r>
              <a:rPr lang="en-US" sz="1800" dirty="0">
                <a:solidFill>
                  <a:srgbClr val="63E14F"/>
                </a:solidFill>
                <a:latin typeface="DM Mono" pitchFamily="49" charset="0"/>
                <a:ea typeface="DM Mono" pitchFamily="49" charset="-122"/>
                <a:cs typeface="DM Mono" pitchFamily="49" charset="-120"/>
              </a:rPr>
              <a:t>[ 17 ]</a:t>
            </a:r>
            <a:endParaRPr lang="en-US" sz="1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60607"/>
        </a:solidFill>
      </p:bgPr>
    </p:bg>
    <p:spTree>
      <p:nvGrpSpPr>
        <p:cNvPr id="1" name=""/>
        <p:cNvGrpSpPr/>
        <p:nvPr/>
      </p:nvGrpSpPr>
      <p:grpSpPr>
        <a:xfrm>
          <a:off x="0" y="0"/>
          <a:ext cx="0" cy="0"/>
          <a:chOff x="0" y="0"/>
          <a:chExt cx="0" cy="0"/>
        </a:xfrm>
      </p:grpSpPr>
      <p:sp>
        <p:nvSpPr>
          <p:cNvPr id="2" name="Shape 0"/>
          <p:cNvSpPr/>
          <p:nvPr/>
        </p:nvSpPr>
        <p:spPr>
          <a:xfrm>
            <a:off x="254000" y="0"/>
            <a:ext cx="25400" cy="6858000"/>
          </a:xfrm>
          <a:prstGeom prst="rect">
            <a:avLst/>
          </a:prstGeom>
          <a:gradFill rotWithShape="1">
            <a:gsLst>
              <a:gs pos="0">
                <a:srgbClr val="FF832A"/>
              </a:gs>
              <a:gs pos="35000">
                <a:srgbClr val="FF832A"/>
              </a:gs>
              <a:gs pos="75000">
                <a:srgbClr val="63E14F"/>
              </a:gs>
              <a:gs pos="100000">
                <a:srgbClr val="63E14F"/>
              </a:gs>
            </a:gsLst>
            <a:lin ang="5400000" scaled="0"/>
          </a:gradFill>
          <a:ln/>
        </p:spPr>
      </p:sp>
      <p:sp>
        <p:nvSpPr>
          <p:cNvPr id="3" name="Text 1"/>
          <p:cNvSpPr/>
          <p:nvPr/>
        </p:nvSpPr>
        <p:spPr>
          <a:xfrm>
            <a:off x="812800" y="7112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spc="100" kern="0" dirty="0">
                <a:solidFill>
                  <a:srgbClr val="63E14F"/>
                </a:solidFill>
                <a:latin typeface="DM Mono" pitchFamily="49" charset="0"/>
                <a:ea typeface="DM Mono" pitchFamily="49" charset="-122"/>
                <a:cs typeface="DM Mono" pitchFamily="49" charset="-120"/>
              </a:rPr>
              <a:t>[ SHOULD YOU HIRE THEM? ]</a:t>
            </a:r>
            <a:endParaRPr lang="en-US" sz="1400" dirty="0"/>
          </a:p>
        </p:txBody>
      </p:sp>
      <p:sp>
        <p:nvSpPr>
          <p:cNvPr id="4" name="Text 2"/>
          <p:cNvSpPr/>
          <p:nvPr>
            <p:ph type="title"/>
          </p:nvPr>
        </p:nvSpPr>
        <p:spPr>
          <a:xfrm>
            <a:off x="812800" y="121409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4F5F7"/>
                </a:solidFill>
                <a:latin typeface="Host Grotesk" pitchFamily="34" charset="0"/>
                <a:ea typeface="Host Grotesk" pitchFamily="34" charset="-122"/>
                <a:cs typeface="Host Grotesk" pitchFamily="34" charset="-120"/>
              </a:rPr>
              <a:t>The area </a:t>
            </a:r>
            <a:r>
              <a:rPr lang="en-US" sz="3200" b="1" i="0" dirty="0">
                <a:solidFill>
                  <a:srgbClr val="63E14F"/>
                </a:solidFill>
                <a:latin typeface="Host Grotesk" pitchFamily="34" charset="0"/>
                <a:ea typeface="Host Grotesk" pitchFamily="34" charset="-122"/>
                <a:cs typeface="Host Grotesk" pitchFamily="34" charset="-120"/>
              </a:rPr>
              <a:t>of confusion.</a:t>
            </a:r>
            <a:endParaRPr lang="en-US" sz="3200" dirty="0"/>
          </a:p>
        </p:txBody>
      </p:sp>
      <p:pic>
        <p:nvPicPr>
          <p:cNvPr id="5" name="Image 0" descr="Strength axis">    </p:cNvPr>
          <p:cNvPicPr>
            <a:picLocks noChangeAspect="1"/>
          </p:cNvPicPr>
          <p:nvPr/>
        </p:nvPicPr>
        <p:blipFill>
          <a:blip r:embed="rId1"/>
          <a:srcRect l="0" r="0" t="0" b="0"/>
          <a:stretch/>
        </p:blipFill>
        <p:spPr>
          <a:xfrm>
            <a:off x="812800" y="1915120"/>
            <a:ext cx="279400" cy="3225800"/>
          </a:xfrm>
          <a:prstGeom prst="rect">
            <a:avLst/>
          </a:prstGeom>
        </p:spPr>
      </p:pic>
      <p:sp>
        <p:nvSpPr>
          <p:cNvPr id="6" name="Text 3"/>
          <p:cNvSpPr/>
          <p:nvPr/>
        </p:nvSpPr>
        <p:spPr>
          <a:xfrm>
            <a:off x="1353641" y="2094210"/>
            <a:ext cx="239117" cy="416520"/>
          </a:xfrm>
          <a:prstGeom prst="rect">
            <a:avLst/>
          </a:prstGeom>
          <a:noFill/>
          <a:ln/>
        </p:spPr>
        <p:txBody>
          <a:bodyPr wrap="square" lIns="0" tIns="0" rIns="0" bIns="0" rtlCol="0" anchor="t">
            <a:normAutofit/>
          </a:bodyPr>
          <a:lstStyle/>
          <a:p>
            <a:pPr algn="ctr" indent="0" marL="0">
              <a:lnSpc>
                <a:spcPts val="3080"/>
              </a:lnSpc>
              <a:buNone/>
            </a:pPr>
            <a:r>
              <a:rPr lang="en-US" sz="2200" b="1" dirty="0">
                <a:solidFill>
                  <a:srgbClr val="E9ECEF"/>
                </a:solidFill>
                <a:latin typeface="Host Grotesk" pitchFamily="34" charset="0"/>
                <a:ea typeface="Host Grotesk" pitchFamily="34" charset="-122"/>
                <a:cs typeface="Host Grotesk" pitchFamily="34" charset="-120"/>
              </a:rPr>
              <a:t>A</a:t>
            </a:r>
            <a:endParaRPr lang="en-US" sz="2200" dirty="0"/>
          </a:p>
        </p:txBody>
      </p:sp>
      <p:sp>
        <p:nvSpPr>
          <p:cNvPr id="7" name="Text 4"/>
          <p:cNvSpPr/>
          <p:nvPr/>
        </p:nvSpPr>
        <p:spPr>
          <a:xfrm>
            <a:off x="1860550" y="1921470"/>
            <a:ext cx="1892300" cy="736600"/>
          </a:xfrm>
          <a:prstGeom prst="roundRect">
            <a:avLst>
              <a:gd name="adj" fmla="val 9483"/>
            </a:avLst>
          </a:prstGeom>
          <a:solidFill>
            <a:srgbClr val="141416"/>
          </a:solidFill>
          <a:ln w="12700">
            <a:solidFill>
              <a:srgbClr val="2B2B2B"/>
            </a:solidFill>
            <a:prstDash val="solid"/>
          </a:ln>
        </p:spPr>
        <p:txBody>
          <a:bodyPr wrap="square" lIns="36692" tIns="36692" rIns="36692" bIns="36692" rtlCol="0" anchor="ctr">
            <a:normAutofit/>
          </a:bodyPr>
          <a:lstStyle/>
          <a:p>
            <a:pPr algn="ctr" indent="0" marL="0">
              <a:lnSpc>
                <a:spcPts val="1610"/>
              </a:lnSpc>
              <a:buNone/>
            </a:pPr>
            <a:r>
              <a:rPr lang="en-US" sz="1400" dirty="0">
                <a:solidFill>
                  <a:srgbClr val="5A5F68"/>
                </a:solidFill>
                <a:latin typeface="Raleway" pitchFamily="34" charset="0"/>
                <a:ea typeface="Raleway" pitchFamily="34" charset="-122"/>
                <a:cs typeface="Raleway" pitchFamily="34" charset="-120"/>
              </a:rPr>
              <a:t>Mercenary</a:t>
            </a:r>
            <a:endParaRPr lang="en-US" sz="1400" dirty="0"/>
          </a:p>
        </p:txBody>
      </p:sp>
      <p:sp>
        <p:nvSpPr>
          <p:cNvPr id="8" name="Text 5"/>
          <p:cNvSpPr/>
          <p:nvPr/>
        </p:nvSpPr>
        <p:spPr>
          <a:xfrm>
            <a:off x="3841750" y="1921470"/>
            <a:ext cx="1892300" cy="736600"/>
          </a:xfrm>
          <a:prstGeom prst="roundRect">
            <a:avLst>
              <a:gd name="adj" fmla="val 9483"/>
            </a:avLst>
          </a:prstGeom>
          <a:solidFill>
            <a:srgbClr val="2A2016"/>
          </a:solidFill>
          <a:ln w="12700">
            <a:solidFill>
              <a:srgbClr val="FF832A"/>
            </a:solidFill>
            <a:prstDash val="solid"/>
          </a:ln>
        </p:spPr>
        <p:txBody>
          <a:bodyPr wrap="square" lIns="36692" tIns="36692" rIns="36692" bIns="36692" rtlCol="0" anchor="ctr">
            <a:normAutofit/>
          </a:bodyPr>
          <a:lstStyle/>
          <a:p>
            <a:pPr algn="ctr" indent="0" marL="0">
              <a:lnSpc>
                <a:spcPts val="1610"/>
              </a:lnSpc>
              <a:buNone/>
            </a:pPr>
            <a:r>
              <a:rPr lang="en-US" sz="1400" dirty="0">
                <a:solidFill>
                  <a:srgbClr val="E9ECEF"/>
                </a:solidFill>
                <a:latin typeface="Raleway" pitchFamily="34" charset="0"/>
                <a:ea typeface="Raleway" pitchFamily="34" charset="-122"/>
                <a:cs typeface="Raleway" pitchFamily="34" charset="-120"/>
              </a:rPr>
              <a:t>Confused?</a:t>
            </a:r>
            <a:endParaRPr lang="en-US" sz="1400" dirty="0"/>
          </a:p>
        </p:txBody>
      </p:sp>
      <p:sp>
        <p:nvSpPr>
          <p:cNvPr id="9" name="Text 6"/>
          <p:cNvSpPr/>
          <p:nvPr/>
        </p:nvSpPr>
        <p:spPr>
          <a:xfrm>
            <a:off x="5822950" y="1921470"/>
            <a:ext cx="1892300" cy="736600"/>
          </a:xfrm>
          <a:prstGeom prst="roundRect">
            <a:avLst>
              <a:gd name="adj" fmla="val 9483"/>
            </a:avLst>
          </a:prstGeom>
          <a:solidFill>
            <a:srgbClr val="2A2016"/>
          </a:solidFill>
          <a:ln w="12700">
            <a:solidFill>
              <a:srgbClr val="FF832A"/>
            </a:solidFill>
            <a:prstDash val="solid"/>
          </a:ln>
        </p:spPr>
        <p:txBody>
          <a:bodyPr wrap="square" lIns="143302" tIns="36692" rIns="143302" bIns="36692" rtlCol="0" anchor="ctr">
            <a:normAutofit/>
          </a:bodyPr>
          <a:lstStyle/>
          <a:p>
            <a:pPr algn="ctr" indent="0" marL="0">
              <a:lnSpc>
                <a:spcPts val="1610"/>
              </a:lnSpc>
              <a:buNone/>
            </a:pPr>
            <a:r>
              <a:rPr lang="en-US" sz="1400" dirty="0">
                <a:solidFill>
                  <a:srgbClr val="E9ECEF"/>
                </a:solidFill>
                <a:latin typeface="Raleway" pitchFamily="34" charset="0"/>
                <a:ea typeface="Raleway" pitchFamily="34" charset="-122"/>
                <a:cs typeface="Raleway" pitchFamily="34" charset="-120"/>
              </a:rPr>
              <a:t>Rock Star</a:t>
            </a:r>
            <a:endParaRPr lang="en-US" sz="1400" dirty="0"/>
          </a:p>
          <a:p>
            <a:pPr algn="ctr" indent="0" marL="0">
              <a:lnSpc>
                <a:spcPts val="1610"/>
              </a:lnSpc>
              <a:buNone/>
            </a:pPr>
            <a:r>
              <a:rPr lang="en-US" sz="1400" dirty="0">
                <a:solidFill>
                  <a:srgbClr val="A3A8B0"/>
                </a:solidFill>
                <a:latin typeface="Raleway" pitchFamily="34" charset="0"/>
                <a:ea typeface="Raleway" pitchFamily="34" charset="-122"/>
                <a:cs typeface="Raleway" pitchFamily="34" charset="-120"/>
              </a:rPr>
              <a:t>can be acclimated</a:t>
            </a:r>
            <a:endParaRPr lang="en-US" sz="1400" dirty="0"/>
          </a:p>
        </p:txBody>
      </p:sp>
      <p:sp>
        <p:nvSpPr>
          <p:cNvPr id="10" name="Text 7"/>
          <p:cNvSpPr/>
          <p:nvPr/>
        </p:nvSpPr>
        <p:spPr>
          <a:xfrm>
            <a:off x="7804150" y="1921470"/>
            <a:ext cx="1892300" cy="736600"/>
          </a:xfrm>
          <a:prstGeom prst="roundRect">
            <a:avLst>
              <a:gd name="adj" fmla="val 9483"/>
            </a:avLst>
          </a:prstGeom>
          <a:solidFill>
            <a:srgbClr val="1C2619"/>
          </a:solidFill>
          <a:ln w="12700">
            <a:solidFill>
              <a:srgbClr val="63E14F"/>
            </a:solidFill>
            <a:prstDash val="solid"/>
          </a:ln>
        </p:spPr>
        <p:txBody>
          <a:bodyPr wrap="square" lIns="290096" tIns="36692" rIns="290096" bIns="36692" rtlCol="0" anchor="ctr">
            <a:normAutofit/>
          </a:bodyPr>
          <a:lstStyle/>
          <a:p>
            <a:pPr algn="ctr" indent="0" marL="0">
              <a:lnSpc>
                <a:spcPts val="1610"/>
              </a:lnSpc>
              <a:buNone/>
            </a:pPr>
            <a:r>
              <a:rPr lang="en-US" sz="1400" dirty="0">
                <a:solidFill>
                  <a:srgbClr val="63E14F"/>
                </a:solidFill>
                <a:latin typeface="Raleway" pitchFamily="34" charset="0"/>
                <a:ea typeface="Raleway" pitchFamily="34" charset="-122"/>
                <a:cs typeface="Raleway" pitchFamily="34" charset="-120"/>
              </a:rPr>
              <a:t>Unicorn</a:t>
            </a:r>
            <a:endParaRPr lang="en-US" sz="1400" dirty="0"/>
          </a:p>
          <a:p>
            <a:pPr algn="ctr" indent="0" marL="0">
              <a:lnSpc>
                <a:spcPts val="1610"/>
              </a:lnSpc>
              <a:buNone/>
            </a:pPr>
            <a:r>
              <a:rPr lang="en-US" sz="1400" dirty="0">
                <a:solidFill>
                  <a:srgbClr val="A3A8B0"/>
                </a:solidFill>
                <a:latin typeface="Raleway" pitchFamily="34" charset="0"/>
                <a:ea typeface="Raleway" pitchFamily="34" charset="-122"/>
                <a:cs typeface="Raleway" pitchFamily="34" charset="-120"/>
              </a:rPr>
              <a:t>hire at all costs</a:t>
            </a:r>
            <a:endParaRPr lang="en-US" sz="1400" dirty="0"/>
          </a:p>
        </p:txBody>
      </p:sp>
      <p:sp>
        <p:nvSpPr>
          <p:cNvPr id="11" name="Text 8"/>
          <p:cNvSpPr/>
          <p:nvPr/>
        </p:nvSpPr>
        <p:spPr>
          <a:xfrm>
            <a:off x="1364357" y="2919710"/>
            <a:ext cx="217636" cy="416520"/>
          </a:xfrm>
          <a:prstGeom prst="rect">
            <a:avLst/>
          </a:prstGeom>
          <a:noFill/>
          <a:ln/>
        </p:spPr>
        <p:txBody>
          <a:bodyPr wrap="square" lIns="0" tIns="0" rIns="0" bIns="0" rtlCol="0" anchor="t">
            <a:normAutofit/>
          </a:bodyPr>
          <a:lstStyle/>
          <a:p>
            <a:pPr algn="ctr" indent="0" marL="0">
              <a:lnSpc>
                <a:spcPts val="3080"/>
              </a:lnSpc>
              <a:buNone/>
            </a:pPr>
            <a:r>
              <a:rPr lang="en-US" sz="2200" b="1" dirty="0">
                <a:solidFill>
                  <a:srgbClr val="E9ECEF"/>
                </a:solidFill>
                <a:latin typeface="Host Grotesk" pitchFamily="34" charset="0"/>
                <a:ea typeface="Host Grotesk" pitchFamily="34" charset="-122"/>
                <a:cs typeface="Host Grotesk" pitchFamily="34" charset="-120"/>
              </a:rPr>
              <a:t>B</a:t>
            </a:r>
            <a:endParaRPr lang="en-US" sz="2200" dirty="0"/>
          </a:p>
        </p:txBody>
      </p:sp>
      <p:sp>
        <p:nvSpPr>
          <p:cNvPr id="12" name="Text 9"/>
          <p:cNvSpPr/>
          <p:nvPr/>
        </p:nvSpPr>
        <p:spPr>
          <a:xfrm>
            <a:off x="1860550" y="2746970"/>
            <a:ext cx="1892300" cy="736600"/>
          </a:xfrm>
          <a:prstGeom prst="roundRect">
            <a:avLst>
              <a:gd name="adj" fmla="val 9483"/>
            </a:avLst>
          </a:prstGeom>
          <a:solidFill>
            <a:srgbClr val="141416"/>
          </a:solidFill>
          <a:ln w="12700">
            <a:solidFill>
              <a:srgbClr val="2B2B2B"/>
            </a:solidFill>
            <a:prstDash val="solid"/>
          </a:ln>
        </p:spPr>
        <p:txBody>
          <a:bodyPr wrap="square" lIns="36692" tIns="36692" rIns="36692" bIns="36692" rtlCol="0" anchor="ctr">
            <a:normAutofit/>
          </a:bodyPr>
          <a:lstStyle/>
          <a:p>
            <a:pPr algn="ctr" indent="0" marL="0">
              <a:lnSpc>
                <a:spcPts val="1610"/>
              </a:lnSpc>
              <a:buNone/>
            </a:pPr>
            <a:r>
              <a:rPr lang="en-US" sz="1400" dirty="0">
                <a:solidFill>
                  <a:srgbClr val="5A5F68"/>
                </a:solidFill>
                <a:latin typeface="Raleway" pitchFamily="34" charset="0"/>
                <a:ea typeface="Raleway" pitchFamily="34" charset="-122"/>
                <a:cs typeface="Raleway" pitchFamily="34" charset="-120"/>
              </a:rPr>
              <a:t>Consultant</a:t>
            </a:r>
            <a:endParaRPr lang="en-US" sz="1400" dirty="0"/>
          </a:p>
        </p:txBody>
      </p:sp>
      <p:sp>
        <p:nvSpPr>
          <p:cNvPr id="13" name="Text 10"/>
          <p:cNvSpPr/>
          <p:nvPr/>
        </p:nvSpPr>
        <p:spPr>
          <a:xfrm>
            <a:off x="3841750" y="2746970"/>
            <a:ext cx="1892300" cy="736600"/>
          </a:xfrm>
          <a:prstGeom prst="roundRect">
            <a:avLst>
              <a:gd name="adj" fmla="val 9483"/>
            </a:avLst>
          </a:prstGeom>
          <a:solidFill>
            <a:srgbClr val="2A2016"/>
          </a:solidFill>
          <a:ln w="12700">
            <a:solidFill>
              <a:srgbClr val="FF832A"/>
            </a:solidFill>
            <a:prstDash val="solid"/>
          </a:ln>
        </p:spPr>
        <p:txBody>
          <a:bodyPr wrap="square" lIns="36692" tIns="36692" rIns="36692" bIns="36692" rtlCol="0" anchor="ctr">
            <a:normAutofit/>
          </a:bodyPr>
          <a:lstStyle/>
          <a:p>
            <a:pPr algn="ctr" indent="0" marL="0">
              <a:lnSpc>
                <a:spcPts val="1610"/>
              </a:lnSpc>
              <a:buNone/>
            </a:pPr>
            <a:r>
              <a:rPr lang="en-US" sz="1400" dirty="0">
                <a:solidFill>
                  <a:srgbClr val="E9ECEF"/>
                </a:solidFill>
                <a:latin typeface="Raleway" pitchFamily="34" charset="0"/>
                <a:ea typeface="Raleway" pitchFamily="34" charset="-122"/>
                <a:cs typeface="Raleway" pitchFamily="34" charset="-120"/>
              </a:rPr>
              <a:t>Ambivalence</a:t>
            </a:r>
            <a:endParaRPr lang="en-US" sz="1400" dirty="0"/>
          </a:p>
        </p:txBody>
      </p:sp>
      <p:sp>
        <p:nvSpPr>
          <p:cNvPr id="14" name="Text 11"/>
          <p:cNvSpPr/>
          <p:nvPr/>
        </p:nvSpPr>
        <p:spPr>
          <a:xfrm>
            <a:off x="5822950" y="2746970"/>
            <a:ext cx="1892300" cy="736600"/>
          </a:xfrm>
          <a:prstGeom prst="roundRect">
            <a:avLst>
              <a:gd name="adj" fmla="val 9483"/>
            </a:avLst>
          </a:prstGeom>
          <a:solidFill>
            <a:srgbClr val="2A2016"/>
          </a:solidFill>
          <a:ln w="12700">
            <a:solidFill>
              <a:srgbClr val="FF832A"/>
            </a:solidFill>
            <a:prstDash val="solid"/>
          </a:ln>
        </p:spPr>
        <p:txBody>
          <a:bodyPr wrap="square" lIns="36692" tIns="36692" rIns="36692" bIns="36692" rtlCol="0" anchor="ctr">
            <a:normAutofit/>
          </a:bodyPr>
          <a:lstStyle/>
          <a:p>
            <a:pPr algn="ctr" indent="0" marL="0">
              <a:lnSpc>
                <a:spcPts val="1610"/>
              </a:lnSpc>
              <a:buNone/>
            </a:pPr>
            <a:r>
              <a:rPr lang="en-US" sz="1400" dirty="0">
                <a:solidFill>
                  <a:srgbClr val="E9ECEF"/>
                </a:solidFill>
                <a:latin typeface="Raleway" pitchFamily="34" charset="0"/>
                <a:ea typeface="Raleway" pitchFamily="34" charset="-122"/>
                <a:cs typeface="Raleway" pitchFamily="34" charset="-120"/>
              </a:rPr>
              <a:t>Ambivalence</a:t>
            </a:r>
            <a:endParaRPr lang="en-US" sz="1400" dirty="0"/>
          </a:p>
        </p:txBody>
      </p:sp>
      <p:sp>
        <p:nvSpPr>
          <p:cNvPr id="15" name="Text 12"/>
          <p:cNvSpPr/>
          <p:nvPr/>
        </p:nvSpPr>
        <p:spPr>
          <a:xfrm>
            <a:off x="7804150" y="2746970"/>
            <a:ext cx="1892300" cy="736600"/>
          </a:xfrm>
          <a:prstGeom prst="roundRect">
            <a:avLst>
              <a:gd name="adj" fmla="val 9483"/>
            </a:avLst>
          </a:prstGeom>
          <a:solidFill>
            <a:srgbClr val="1C2619"/>
          </a:solidFill>
          <a:ln w="12700">
            <a:solidFill>
              <a:srgbClr val="63E14F"/>
            </a:solidFill>
            <a:prstDash val="solid"/>
          </a:ln>
        </p:spPr>
        <p:txBody>
          <a:bodyPr wrap="square" lIns="290096" tIns="36692" rIns="290096" bIns="36692" rtlCol="0" anchor="ctr">
            <a:normAutofit/>
          </a:bodyPr>
          <a:lstStyle/>
          <a:p>
            <a:pPr algn="ctr" indent="0" marL="0">
              <a:lnSpc>
                <a:spcPts val="1610"/>
              </a:lnSpc>
              <a:buNone/>
            </a:pPr>
            <a:r>
              <a:rPr lang="en-US" sz="1400" dirty="0">
                <a:solidFill>
                  <a:srgbClr val="63E14F"/>
                </a:solidFill>
                <a:latin typeface="Raleway" pitchFamily="34" charset="0"/>
                <a:ea typeface="Raleway" pitchFamily="34" charset="-122"/>
                <a:cs typeface="Raleway" pitchFamily="34" charset="-120"/>
              </a:rPr>
              <a:t>Team Player</a:t>
            </a:r>
            <a:endParaRPr lang="en-US" sz="1400" dirty="0"/>
          </a:p>
          <a:p>
            <a:pPr algn="ctr" indent="0" marL="0">
              <a:lnSpc>
                <a:spcPts val="1610"/>
              </a:lnSpc>
              <a:buNone/>
            </a:pPr>
            <a:r>
              <a:rPr lang="en-US" sz="1400" dirty="0">
                <a:solidFill>
                  <a:srgbClr val="A3A8B0"/>
                </a:solidFill>
                <a:latin typeface="Raleway" pitchFamily="34" charset="0"/>
                <a:ea typeface="Raleway" pitchFamily="34" charset="-122"/>
                <a:cs typeface="Raleway" pitchFamily="34" charset="-120"/>
              </a:rPr>
              <a:t>hire at all costs</a:t>
            </a:r>
            <a:endParaRPr lang="en-US" sz="1400" dirty="0"/>
          </a:p>
        </p:txBody>
      </p:sp>
      <p:sp>
        <p:nvSpPr>
          <p:cNvPr id="16" name="Text 13"/>
          <p:cNvSpPr/>
          <p:nvPr/>
        </p:nvSpPr>
        <p:spPr>
          <a:xfrm>
            <a:off x="1349276" y="3745210"/>
            <a:ext cx="247799" cy="416520"/>
          </a:xfrm>
          <a:prstGeom prst="rect">
            <a:avLst/>
          </a:prstGeom>
          <a:noFill/>
          <a:ln/>
        </p:spPr>
        <p:txBody>
          <a:bodyPr wrap="square" lIns="0" tIns="0" rIns="0" bIns="0" rtlCol="0" anchor="t">
            <a:normAutofit/>
          </a:bodyPr>
          <a:lstStyle/>
          <a:p>
            <a:pPr algn="ctr" indent="0" marL="0">
              <a:lnSpc>
                <a:spcPts val="3080"/>
              </a:lnSpc>
              <a:buNone/>
            </a:pPr>
            <a:r>
              <a:rPr lang="en-US" sz="2200" b="1" dirty="0">
                <a:solidFill>
                  <a:srgbClr val="E9ECEF"/>
                </a:solidFill>
                <a:latin typeface="Host Grotesk" pitchFamily="34" charset="0"/>
                <a:ea typeface="Host Grotesk" pitchFamily="34" charset="-122"/>
                <a:cs typeface="Host Grotesk" pitchFamily="34" charset="-120"/>
              </a:rPr>
              <a:t>C</a:t>
            </a:r>
            <a:endParaRPr lang="en-US" sz="2200" dirty="0"/>
          </a:p>
        </p:txBody>
      </p:sp>
      <p:sp>
        <p:nvSpPr>
          <p:cNvPr id="17" name="Text 14"/>
          <p:cNvSpPr/>
          <p:nvPr/>
        </p:nvSpPr>
        <p:spPr>
          <a:xfrm>
            <a:off x="1860550" y="3572470"/>
            <a:ext cx="1892300" cy="736600"/>
          </a:xfrm>
          <a:prstGeom prst="roundRect">
            <a:avLst>
              <a:gd name="adj" fmla="val 9483"/>
            </a:avLst>
          </a:prstGeom>
          <a:solidFill>
            <a:srgbClr val="141416"/>
          </a:solidFill>
          <a:ln w="12700">
            <a:solidFill>
              <a:srgbClr val="2B2B2B"/>
            </a:solidFill>
            <a:prstDash val="solid"/>
          </a:ln>
        </p:spPr>
        <p:txBody>
          <a:bodyPr wrap="square" lIns="36692" tIns="36692" rIns="36692" bIns="36692" rtlCol="0" anchor="ctr">
            <a:normAutofit/>
          </a:bodyPr>
          <a:lstStyle/>
          <a:p>
            <a:pPr algn="ctr" indent="0" marL="0">
              <a:lnSpc>
                <a:spcPts val="1610"/>
              </a:lnSpc>
              <a:buNone/>
            </a:pPr>
            <a:r>
              <a:rPr lang="en-US" sz="1400" dirty="0">
                <a:solidFill>
                  <a:srgbClr val="5A5F68"/>
                </a:solidFill>
                <a:latin typeface="Raleway" pitchFamily="34" charset="0"/>
                <a:ea typeface="Raleway" pitchFamily="34" charset="-122"/>
                <a:cs typeface="Raleway" pitchFamily="34" charset="-120"/>
              </a:rPr>
              <a:t>Hell No!!!</a:t>
            </a:r>
            <a:endParaRPr lang="en-US" sz="1400" dirty="0"/>
          </a:p>
        </p:txBody>
      </p:sp>
      <p:sp>
        <p:nvSpPr>
          <p:cNvPr id="18" name="Text 15"/>
          <p:cNvSpPr/>
          <p:nvPr/>
        </p:nvSpPr>
        <p:spPr>
          <a:xfrm>
            <a:off x="3841750" y="3572470"/>
            <a:ext cx="1892300" cy="736600"/>
          </a:xfrm>
          <a:prstGeom prst="roundRect">
            <a:avLst>
              <a:gd name="adj" fmla="val 9483"/>
            </a:avLst>
          </a:prstGeom>
          <a:solidFill>
            <a:srgbClr val="141416"/>
          </a:solidFill>
          <a:ln w="12700">
            <a:solidFill>
              <a:srgbClr val="2B2B2B"/>
            </a:solidFill>
            <a:prstDash val="solid"/>
          </a:ln>
        </p:spPr>
        <p:txBody>
          <a:bodyPr wrap="square" lIns="36692" tIns="36692" rIns="36692" bIns="36692" rtlCol="0" anchor="ctr">
            <a:normAutofit/>
          </a:bodyPr>
          <a:lstStyle/>
          <a:p>
            <a:pPr algn="ctr" indent="0" marL="0">
              <a:lnSpc>
                <a:spcPts val="1610"/>
              </a:lnSpc>
              <a:buNone/>
            </a:pPr>
            <a:r>
              <a:rPr lang="en-US" sz="1400" dirty="0">
                <a:solidFill>
                  <a:srgbClr val="5A5F68"/>
                </a:solidFill>
                <a:latin typeface="Raleway" pitchFamily="34" charset="0"/>
                <a:ea typeface="Raleway" pitchFamily="34" charset="-122"/>
                <a:cs typeface="Raleway" pitchFamily="34" charset="-120"/>
              </a:rPr>
              <a:t>Hell No</a:t>
            </a:r>
            <a:endParaRPr lang="en-US" sz="1400" dirty="0"/>
          </a:p>
        </p:txBody>
      </p:sp>
      <p:sp>
        <p:nvSpPr>
          <p:cNvPr id="19" name="Text 16"/>
          <p:cNvSpPr/>
          <p:nvPr/>
        </p:nvSpPr>
        <p:spPr>
          <a:xfrm>
            <a:off x="5822950" y="3572470"/>
            <a:ext cx="1892300" cy="736600"/>
          </a:xfrm>
          <a:prstGeom prst="roundRect">
            <a:avLst>
              <a:gd name="adj" fmla="val 9483"/>
            </a:avLst>
          </a:prstGeom>
          <a:solidFill>
            <a:srgbClr val="141416"/>
          </a:solidFill>
          <a:ln w="12700">
            <a:solidFill>
              <a:srgbClr val="2B2B2B"/>
            </a:solidFill>
            <a:prstDash val="solid"/>
          </a:ln>
        </p:spPr>
        <p:txBody>
          <a:bodyPr wrap="square" lIns="36692" tIns="36692" rIns="36692" bIns="36692" rtlCol="0" anchor="ctr">
            <a:normAutofit/>
          </a:bodyPr>
          <a:lstStyle/>
          <a:p>
            <a:pPr algn="ctr" indent="0" marL="0">
              <a:lnSpc>
                <a:spcPts val="1610"/>
              </a:lnSpc>
              <a:buNone/>
            </a:pPr>
            <a:r>
              <a:rPr lang="en-US" sz="1400" dirty="0">
                <a:solidFill>
                  <a:srgbClr val="5A5F68"/>
                </a:solidFill>
                <a:latin typeface="Raleway" pitchFamily="34" charset="0"/>
                <a:ea typeface="Raleway" pitchFamily="34" charset="-122"/>
                <a:cs typeface="Raleway" pitchFamily="34" charset="-120"/>
              </a:rPr>
              <a:t>No</a:t>
            </a:r>
            <a:endParaRPr lang="en-US" sz="1400" dirty="0"/>
          </a:p>
        </p:txBody>
      </p:sp>
      <p:sp>
        <p:nvSpPr>
          <p:cNvPr id="20" name="Text 17"/>
          <p:cNvSpPr/>
          <p:nvPr/>
        </p:nvSpPr>
        <p:spPr>
          <a:xfrm>
            <a:off x="7804150" y="3572470"/>
            <a:ext cx="1892300" cy="736600"/>
          </a:xfrm>
          <a:prstGeom prst="roundRect">
            <a:avLst>
              <a:gd name="adj" fmla="val 9483"/>
            </a:avLst>
          </a:prstGeom>
          <a:solidFill>
            <a:srgbClr val="141416"/>
          </a:solidFill>
          <a:ln w="12700">
            <a:solidFill>
              <a:srgbClr val="2B2B2B"/>
            </a:solidFill>
            <a:prstDash val="solid"/>
          </a:ln>
        </p:spPr>
        <p:txBody>
          <a:bodyPr wrap="square" lIns="36692" tIns="36692" rIns="36692" bIns="36692" rtlCol="0" anchor="ctr">
            <a:normAutofit/>
          </a:bodyPr>
          <a:lstStyle/>
          <a:p>
            <a:pPr algn="ctr" indent="0" marL="0">
              <a:lnSpc>
                <a:spcPts val="1610"/>
              </a:lnSpc>
              <a:buNone/>
            </a:pPr>
            <a:r>
              <a:rPr lang="en-US" sz="1400" dirty="0">
                <a:solidFill>
                  <a:srgbClr val="5A5F68"/>
                </a:solidFill>
                <a:latin typeface="Raleway" pitchFamily="34" charset="0"/>
                <a:ea typeface="Raleway" pitchFamily="34" charset="-122"/>
                <a:cs typeface="Raleway" pitchFamily="34" charset="-120"/>
              </a:rPr>
              <a:t>No</a:t>
            </a:r>
            <a:endParaRPr lang="en-US" sz="1400" dirty="0"/>
          </a:p>
        </p:txBody>
      </p:sp>
      <p:sp>
        <p:nvSpPr>
          <p:cNvPr id="21" name="Text 18"/>
          <p:cNvSpPr/>
          <p:nvPr/>
        </p:nvSpPr>
        <p:spPr>
          <a:xfrm>
            <a:off x="1352104" y="4570710"/>
            <a:ext cx="242193" cy="416520"/>
          </a:xfrm>
          <a:prstGeom prst="rect">
            <a:avLst/>
          </a:prstGeom>
          <a:noFill/>
          <a:ln/>
        </p:spPr>
        <p:txBody>
          <a:bodyPr wrap="square" lIns="0" tIns="0" rIns="0" bIns="0" rtlCol="0" anchor="t">
            <a:normAutofit/>
          </a:bodyPr>
          <a:lstStyle/>
          <a:p>
            <a:pPr algn="ctr" indent="0" marL="0">
              <a:lnSpc>
                <a:spcPts val="3080"/>
              </a:lnSpc>
              <a:buNone/>
            </a:pPr>
            <a:r>
              <a:rPr lang="en-US" sz="2200" b="1" dirty="0">
                <a:solidFill>
                  <a:srgbClr val="E9ECEF"/>
                </a:solidFill>
                <a:latin typeface="Host Grotesk" pitchFamily="34" charset="0"/>
                <a:ea typeface="Host Grotesk" pitchFamily="34" charset="-122"/>
                <a:cs typeface="Host Grotesk" pitchFamily="34" charset="-120"/>
              </a:rPr>
              <a:t>D</a:t>
            </a:r>
            <a:endParaRPr lang="en-US" sz="2200" dirty="0"/>
          </a:p>
        </p:txBody>
      </p:sp>
      <p:sp>
        <p:nvSpPr>
          <p:cNvPr id="22" name="Text 19"/>
          <p:cNvSpPr/>
          <p:nvPr/>
        </p:nvSpPr>
        <p:spPr>
          <a:xfrm>
            <a:off x="1860550" y="4397970"/>
            <a:ext cx="1892300" cy="736600"/>
          </a:xfrm>
          <a:prstGeom prst="roundRect">
            <a:avLst>
              <a:gd name="adj" fmla="val 9483"/>
            </a:avLst>
          </a:prstGeom>
          <a:solidFill>
            <a:srgbClr val="141416"/>
          </a:solidFill>
          <a:ln w="12700">
            <a:solidFill>
              <a:srgbClr val="2B2B2B"/>
            </a:solidFill>
            <a:prstDash val="solid"/>
          </a:ln>
        </p:spPr>
        <p:txBody>
          <a:bodyPr wrap="square" lIns="36692" tIns="36692" rIns="36692" bIns="36692" rtlCol="0" anchor="ctr">
            <a:normAutofit/>
          </a:bodyPr>
          <a:lstStyle/>
          <a:p>
            <a:pPr algn="ctr" indent="0" marL="0">
              <a:lnSpc>
                <a:spcPts val="1610"/>
              </a:lnSpc>
              <a:buNone/>
            </a:pPr>
            <a:r>
              <a:rPr lang="en-US" sz="1400" dirty="0">
                <a:solidFill>
                  <a:srgbClr val="5A5F68"/>
                </a:solidFill>
                <a:latin typeface="Raleway" pitchFamily="34" charset="0"/>
                <a:ea typeface="Raleway" pitchFamily="34" charset="-122"/>
                <a:cs typeface="Raleway" pitchFamily="34" charset="-120"/>
              </a:rPr>
              <a:t>Will get you fired</a:t>
            </a:r>
            <a:endParaRPr lang="en-US" sz="1400" dirty="0"/>
          </a:p>
        </p:txBody>
      </p:sp>
      <p:sp>
        <p:nvSpPr>
          <p:cNvPr id="23" name="Text 20"/>
          <p:cNvSpPr/>
          <p:nvPr/>
        </p:nvSpPr>
        <p:spPr>
          <a:xfrm>
            <a:off x="3841750" y="4397970"/>
            <a:ext cx="1892300" cy="736600"/>
          </a:xfrm>
          <a:prstGeom prst="roundRect">
            <a:avLst>
              <a:gd name="adj" fmla="val 9483"/>
            </a:avLst>
          </a:prstGeom>
          <a:solidFill>
            <a:srgbClr val="141416"/>
          </a:solidFill>
          <a:ln w="12700">
            <a:solidFill>
              <a:srgbClr val="2B2B2B"/>
            </a:solidFill>
            <a:prstDash val="solid"/>
          </a:ln>
        </p:spPr>
        <p:txBody>
          <a:bodyPr wrap="square" lIns="36692" tIns="36692" rIns="36692" bIns="36692" rtlCol="0" anchor="ctr">
            <a:normAutofit/>
          </a:bodyPr>
          <a:lstStyle/>
          <a:p>
            <a:pPr algn="ctr" indent="0" marL="0">
              <a:lnSpc>
                <a:spcPts val="1610"/>
              </a:lnSpc>
              <a:buNone/>
            </a:pPr>
            <a:r>
              <a:rPr lang="en-US" sz="1400" dirty="0">
                <a:solidFill>
                  <a:srgbClr val="5A5F68"/>
                </a:solidFill>
                <a:latin typeface="Raleway" pitchFamily="34" charset="0"/>
                <a:ea typeface="Raleway" pitchFamily="34" charset="-122"/>
                <a:cs typeface="Raleway" pitchFamily="34" charset="-120"/>
              </a:rPr>
              <a:t>Will get you fired</a:t>
            </a:r>
            <a:endParaRPr lang="en-US" sz="1400" dirty="0"/>
          </a:p>
        </p:txBody>
      </p:sp>
      <p:sp>
        <p:nvSpPr>
          <p:cNvPr id="24" name="Text 21"/>
          <p:cNvSpPr/>
          <p:nvPr/>
        </p:nvSpPr>
        <p:spPr>
          <a:xfrm>
            <a:off x="5822950" y="4397970"/>
            <a:ext cx="1892300" cy="736600"/>
          </a:xfrm>
          <a:prstGeom prst="roundRect">
            <a:avLst>
              <a:gd name="adj" fmla="val 9483"/>
            </a:avLst>
          </a:prstGeom>
          <a:solidFill>
            <a:srgbClr val="141416"/>
          </a:solidFill>
          <a:ln w="12700">
            <a:solidFill>
              <a:srgbClr val="2B2B2B"/>
            </a:solidFill>
            <a:prstDash val="solid"/>
          </a:ln>
        </p:spPr>
        <p:txBody>
          <a:bodyPr wrap="square" lIns="36692" tIns="36692" rIns="36692" bIns="36692" rtlCol="0" anchor="ctr">
            <a:normAutofit/>
          </a:bodyPr>
          <a:lstStyle/>
          <a:p>
            <a:pPr algn="ctr" indent="0" marL="0">
              <a:lnSpc>
                <a:spcPts val="1610"/>
              </a:lnSpc>
              <a:buNone/>
            </a:pPr>
            <a:r>
              <a:rPr lang="en-US" sz="1400" dirty="0">
                <a:solidFill>
                  <a:srgbClr val="5A5F68"/>
                </a:solidFill>
                <a:latin typeface="Raleway" pitchFamily="34" charset="0"/>
                <a:ea typeface="Raleway" pitchFamily="34" charset="-122"/>
                <a:cs typeface="Raleway" pitchFamily="34" charset="-120"/>
              </a:rPr>
              <a:t>Will get you fired</a:t>
            </a:r>
            <a:endParaRPr lang="en-US" sz="1400" dirty="0"/>
          </a:p>
        </p:txBody>
      </p:sp>
      <p:sp>
        <p:nvSpPr>
          <p:cNvPr id="25" name="Text 22"/>
          <p:cNvSpPr/>
          <p:nvPr/>
        </p:nvSpPr>
        <p:spPr>
          <a:xfrm>
            <a:off x="7804150" y="4397970"/>
            <a:ext cx="1892300" cy="736600"/>
          </a:xfrm>
          <a:prstGeom prst="roundRect">
            <a:avLst>
              <a:gd name="adj" fmla="val 9483"/>
            </a:avLst>
          </a:prstGeom>
          <a:solidFill>
            <a:srgbClr val="141416"/>
          </a:solidFill>
          <a:ln w="12700">
            <a:solidFill>
              <a:srgbClr val="2B2B2B"/>
            </a:solidFill>
            <a:prstDash val="solid"/>
          </a:ln>
        </p:spPr>
        <p:txBody>
          <a:bodyPr wrap="square" lIns="36692" tIns="36692" rIns="36692" bIns="36692" rtlCol="0" anchor="ctr">
            <a:normAutofit/>
          </a:bodyPr>
          <a:lstStyle/>
          <a:p>
            <a:pPr algn="ctr" indent="0" marL="0">
              <a:lnSpc>
                <a:spcPts val="1610"/>
              </a:lnSpc>
              <a:buNone/>
            </a:pPr>
            <a:r>
              <a:rPr lang="en-US" sz="1400" dirty="0">
                <a:solidFill>
                  <a:srgbClr val="5A5F68"/>
                </a:solidFill>
                <a:latin typeface="Raleway" pitchFamily="34" charset="0"/>
                <a:ea typeface="Raleway" pitchFamily="34" charset="-122"/>
                <a:cs typeface="Raleway" pitchFamily="34" charset="-120"/>
              </a:rPr>
              <a:t>Will get you fired</a:t>
            </a:r>
            <a:endParaRPr lang="en-US" sz="1400" dirty="0"/>
          </a:p>
        </p:txBody>
      </p:sp>
      <p:sp>
        <p:nvSpPr>
          <p:cNvPr id="26" name="Text 23"/>
          <p:cNvSpPr/>
          <p:nvPr/>
        </p:nvSpPr>
        <p:spPr>
          <a:xfrm>
            <a:off x="1854200" y="5217120"/>
            <a:ext cx="1962150" cy="220960"/>
          </a:xfrm>
          <a:prstGeom prst="rect">
            <a:avLst/>
          </a:prstGeom>
          <a:noFill/>
          <a:ln/>
        </p:spPr>
        <p:txBody>
          <a:bodyPr wrap="square" lIns="0" tIns="0" rIns="0" bIns="0" rtlCol="0" anchor="t">
            <a:normAutofit/>
          </a:bodyPr>
          <a:lstStyle/>
          <a:p>
            <a:pPr algn="l" indent="0" marL="0">
              <a:lnSpc>
                <a:spcPts val="1540"/>
              </a:lnSpc>
              <a:buNone/>
            </a:pPr>
            <a:r>
              <a:rPr lang="en-US" sz="1100" spc="100" kern="0" dirty="0">
                <a:solidFill>
                  <a:srgbClr val="FF832A"/>
                </a:solidFill>
                <a:latin typeface="DM Mono" pitchFamily="49" charset="0"/>
                <a:ea typeface="DM Mono" pitchFamily="49" charset="-122"/>
                <a:cs typeface="DM Mono" pitchFamily="49" charset="-120"/>
              </a:rPr>
              <a:t>−10 UNALIGNED</a:t>
            </a:r>
            <a:endParaRPr lang="en-US" sz="1100" dirty="0"/>
          </a:p>
        </p:txBody>
      </p:sp>
      <p:sp>
        <p:nvSpPr>
          <p:cNvPr id="27" name="Text 24"/>
          <p:cNvSpPr/>
          <p:nvPr/>
        </p:nvSpPr>
        <p:spPr>
          <a:xfrm>
            <a:off x="3777107" y="5217120"/>
            <a:ext cx="4002786" cy="220960"/>
          </a:xfrm>
          <a:prstGeom prst="rect">
            <a:avLst/>
          </a:prstGeom>
          <a:noFill/>
          <a:ln/>
        </p:spPr>
        <p:txBody>
          <a:bodyPr wrap="square" lIns="0" tIns="0" rIns="0" bIns="0" rtlCol="0" anchor="t">
            <a:normAutofit/>
          </a:bodyPr>
          <a:lstStyle/>
          <a:p>
            <a:pPr algn="ctr" indent="0" marL="0">
              <a:lnSpc>
                <a:spcPts val="1540"/>
              </a:lnSpc>
              <a:buNone/>
            </a:pPr>
            <a:r>
              <a:rPr lang="en-US" sz="1100" spc="100" kern="0" dirty="0">
                <a:solidFill>
                  <a:srgbClr val="8B9097"/>
                </a:solidFill>
                <a:latin typeface="DM Mono" pitchFamily="49" charset="0"/>
                <a:ea typeface="DM Mono" pitchFamily="49" charset="-122"/>
                <a:cs typeface="DM Mono" pitchFamily="49" charset="-120"/>
              </a:rPr>
              <a:t>FIT →</a:t>
            </a:r>
            <a:endParaRPr lang="en-US" sz="1100" dirty="0"/>
          </a:p>
        </p:txBody>
      </p:sp>
      <p:sp>
        <p:nvSpPr>
          <p:cNvPr id="28" name="Text 25"/>
          <p:cNvSpPr/>
          <p:nvPr/>
        </p:nvSpPr>
        <p:spPr>
          <a:xfrm>
            <a:off x="7740650" y="5217120"/>
            <a:ext cx="1962150" cy="220960"/>
          </a:xfrm>
          <a:prstGeom prst="rect">
            <a:avLst/>
          </a:prstGeom>
          <a:noFill/>
          <a:ln/>
        </p:spPr>
        <p:txBody>
          <a:bodyPr wrap="square" lIns="0" tIns="0" rIns="0" bIns="0" rtlCol="0" anchor="t">
            <a:normAutofit/>
          </a:bodyPr>
          <a:lstStyle/>
          <a:p>
            <a:pPr algn="r" indent="0" marL="0">
              <a:lnSpc>
                <a:spcPts val="1540"/>
              </a:lnSpc>
              <a:buNone/>
            </a:pPr>
            <a:r>
              <a:rPr lang="en-US" sz="1100" spc="100" kern="0" dirty="0">
                <a:solidFill>
                  <a:srgbClr val="63E14F"/>
                </a:solidFill>
                <a:latin typeface="DM Mono" pitchFamily="49" charset="0"/>
                <a:ea typeface="DM Mono" pitchFamily="49" charset="-122"/>
                <a:cs typeface="DM Mono" pitchFamily="49" charset="-120"/>
              </a:rPr>
              <a:t>+10 ALIGNED</a:t>
            </a:r>
            <a:endParaRPr lang="en-US" sz="1100" dirty="0"/>
          </a:p>
        </p:txBody>
      </p:sp>
      <p:pic>
        <p:nvPicPr>
          <p:cNvPr id="29" name="Image 1" descr="preencoded.png">    </p:cNvPr>
          <p:cNvPicPr>
            <a:picLocks noChangeAspect="1"/>
          </p:cNvPicPr>
          <p:nvPr/>
        </p:nvPicPr>
        <p:blipFill>
          <a:blip r:embed="rId2"/>
          <a:srcRect l="0" r="0" t="0" b="0"/>
          <a:stretch/>
        </p:blipFill>
        <p:spPr>
          <a:xfrm>
            <a:off x="0" y="0"/>
            <a:ext cx="12192000" cy="6858000"/>
          </a:xfrm>
          <a:prstGeom prst="rect">
            <a:avLst/>
          </a:prstGeom>
        </p:spPr>
      </p:pic>
      <p:pic>
        <p:nvPicPr>
          <p:cNvPr id="30" name="Image 2" descr="Mashgin">    </p:cNvPr>
          <p:cNvPicPr>
            <a:picLocks noChangeAspect="1"/>
          </p:cNvPicPr>
          <p:nvPr/>
        </p:nvPicPr>
        <p:blipFill>
          <a:blip r:embed="rId3"/>
          <a:srcRect l="-284" r="-284" t="0" b="0"/>
          <a:stretch/>
        </p:blipFill>
        <p:spPr>
          <a:xfrm>
            <a:off x="10121900" y="406400"/>
            <a:ext cx="1460500" cy="298450"/>
          </a:xfrm>
          <a:prstGeom prst="rect">
            <a:avLst/>
          </a:prstGeom>
        </p:spPr>
      </p:pic>
      <p:sp>
        <p:nvSpPr>
          <p:cNvPr id="31" name="Text 26"/>
          <p:cNvSpPr/>
          <p:nvPr/>
        </p:nvSpPr>
        <p:spPr>
          <a:xfrm>
            <a:off x="812800" y="62382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097"/>
                </a:solidFill>
                <a:latin typeface="DM Mono" pitchFamily="49" charset="0"/>
                <a:ea typeface="DM Mono" pitchFamily="49" charset="-122"/>
                <a:cs typeface="DM Mono" pitchFamily="49" charset="-120"/>
              </a:rPr>
              <a:t>Copyright Dobromir Montauk, 2026</a:t>
            </a:r>
            <a:endParaRPr lang="en-US" sz="1200" dirty="0"/>
          </a:p>
        </p:txBody>
      </p:sp>
      <p:sp>
        <p:nvSpPr>
          <p:cNvPr id="32" name="Text 27"/>
          <p:cNvSpPr/>
          <p:nvPr/>
        </p:nvSpPr>
        <p:spPr>
          <a:xfrm>
            <a:off x="10261600" y="6169670"/>
            <a:ext cx="1320800" cy="345430"/>
          </a:xfrm>
          <a:prstGeom prst="rect">
            <a:avLst/>
          </a:prstGeom>
          <a:noFill/>
          <a:ln/>
        </p:spPr>
        <p:txBody>
          <a:bodyPr wrap="square" lIns="0" tIns="0" rIns="0" bIns="0" rtlCol="0" anchor="t">
            <a:normAutofit/>
          </a:bodyPr>
          <a:lstStyle/>
          <a:p>
            <a:pPr algn="r" indent="0" marL="0">
              <a:lnSpc>
                <a:spcPts val="2520"/>
              </a:lnSpc>
              <a:buNone/>
            </a:pPr>
            <a:r>
              <a:rPr lang="en-US" sz="1800" dirty="0">
                <a:solidFill>
                  <a:srgbClr val="63E14F"/>
                </a:solidFill>
                <a:latin typeface="DM Mono" pitchFamily="49" charset="0"/>
                <a:ea typeface="DM Mono" pitchFamily="49" charset="-122"/>
                <a:cs typeface="DM Mono" pitchFamily="49" charset="-120"/>
              </a:rPr>
              <a:t>[ 18 ]</a:t>
            </a:r>
            <a:endParaRPr lang="en-US" sz="1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60607"/>
        </a:solidFill>
      </p:bgPr>
    </p:bg>
    <p:spTree>
      <p:nvGrpSpPr>
        <p:cNvPr id="1" name=""/>
        <p:cNvGrpSpPr/>
        <p:nvPr/>
      </p:nvGrpSpPr>
      <p:grpSpPr>
        <a:xfrm>
          <a:off x="0" y="0"/>
          <a:ext cx="0" cy="0"/>
          <a:chOff x="0" y="0"/>
          <a:chExt cx="0" cy="0"/>
        </a:xfrm>
      </p:grpSpPr>
      <p:sp>
        <p:nvSpPr>
          <p:cNvPr id="2" name="Shape 0"/>
          <p:cNvSpPr/>
          <p:nvPr/>
        </p:nvSpPr>
        <p:spPr>
          <a:xfrm>
            <a:off x="254000" y="0"/>
            <a:ext cx="25400" cy="6858000"/>
          </a:xfrm>
          <a:prstGeom prst="rect">
            <a:avLst/>
          </a:prstGeom>
          <a:gradFill rotWithShape="1">
            <a:gsLst>
              <a:gs pos="0">
                <a:srgbClr val="FF832A"/>
              </a:gs>
              <a:gs pos="35000">
                <a:srgbClr val="FF832A"/>
              </a:gs>
              <a:gs pos="75000">
                <a:srgbClr val="63E14F"/>
              </a:gs>
              <a:gs pos="100000">
                <a:srgbClr val="63E14F"/>
              </a:gs>
            </a:gsLst>
            <a:lin ang="5400000" scaled="0"/>
          </a:gradFill>
          <a:ln/>
        </p:spPr>
      </p:sp>
      <p:sp>
        <p:nvSpPr>
          <p:cNvPr id="3" name="Text 1"/>
          <p:cNvSpPr/>
          <p:nvPr/>
        </p:nvSpPr>
        <p:spPr>
          <a:xfrm>
            <a:off x="812800" y="7112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spc="100" kern="0" dirty="0">
                <a:solidFill>
                  <a:srgbClr val="63E14F"/>
                </a:solidFill>
                <a:latin typeface="DM Mono" pitchFamily="49" charset="0"/>
                <a:ea typeface="DM Mono" pitchFamily="49" charset="-122"/>
                <a:cs typeface="DM Mono" pitchFamily="49" charset="-120"/>
              </a:rPr>
              <a:t>[ SHOULD YOU HIRE THEM? ]</a:t>
            </a:r>
            <a:endParaRPr lang="en-US" sz="1400" dirty="0"/>
          </a:p>
        </p:txBody>
      </p:sp>
      <p:sp>
        <p:nvSpPr>
          <p:cNvPr id="4" name="Text 2"/>
          <p:cNvSpPr/>
          <p:nvPr>
            <p:ph type="title"/>
          </p:nvPr>
        </p:nvSpPr>
        <p:spPr>
          <a:xfrm>
            <a:off x="812800" y="121409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4F5F7"/>
                </a:solidFill>
                <a:latin typeface="Host Grotesk" pitchFamily="34" charset="0"/>
                <a:ea typeface="Host Grotesk" pitchFamily="34" charset="-122"/>
                <a:cs typeface="Host Grotesk" pitchFamily="34" charset="-120"/>
              </a:rPr>
              <a:t>Resolve it, </a:t>
            </a:r>
            <a:r>
              <a:rPr lang="en-US" sz="3200" b="1" i="0" dirty="0">
                <a:solidFill>
                  <a:srgbClr val="63E14F"/>
                </a:solidFill>
                <a:latin typeface="Host Grotesk" pitchFamily="34" charset="0"/>
                <a:ea typeface="Host Grotesk" pitchFamily="34" charset="-122"/>
                <a:cs typeface="Host Grotesk" pitchFamily="34" charset="-120"/>
              </a:rPr>
              <a:t>or coach it.</a:t>
            </a:r>
            <a:endParaRPr lang="en-US" sz="3200" dirty="0"/>
          </a:p>
        </p:txBody>
      </p:sp>
      <p:pic>
        <p:nvPicPr>
          <p:cNvPr id="5" name="Image 0" descr="Strength axis">    </p:cNvPr>
          <p:cNvPicPr>
            <a:picLocks noChangeAspect="1"/>
          </p:cNvPicPr>
          <p:nvPr/>
        </p:nvPicPr>
        <p:blipFill>
          <a:blip r:embed="rId1"/>
          <a:srcRect l="0" r="0" t="0" b="0"/>
          <a:stretch/>
        </p:blipFill>
        <p:spPr>
          <a:xfrm>
            <a:off x="812800" y="1915120"/>
            <a:ext cx="279400" cy="3225800"/>
          </a:xfrm>
          <a:prstGeom prst="rect">
            <a:avLst/>
          </a:prstGeom>
        </p:spPr>
      </p:pic>
      <p:sp>
        <p:nvSpPr>
          <p:cNvPr id="6" name="Text 3"/>
          <p:cNvSpPr/>
          <p:nvPr/>
        </p:nvSpPr>
        <p:spPr>
          <a:xfrm>
            <a:off x="1353641" y="2094210"/>
            <a:ext cx="239117" cy="416520"/>
          </a:xfrm>
          <a:prstGeom prst="rect">
            <a:avLst/>
          </a:prstGeom>
          <a:noFill/>
          <a:ln/>
        </p:spPr>
        <p:txBody>
          <a:bodyPr wrap="square" lIns="0" tIns="0" rIns="0" bIns="0" rtlCol="0" anchor="t">
            <a:normAutofit/>
          </a:bodyPr>
          <a:lstStyle/>
          <a:p>
            <a:pPr algn="ctr" indent="0" marL="0">
              <a:lnSpc>
                <a:spcPts val="3080"/>
              </a:lnSpc>
              <a:buNone/>
            </a:pPr>
            <a:r>
              <a:rPr lang="en-US" sz="2200" b="1" dirty="0">
                <a:solidFill>
                  <a:srgbClr val="E9ECEF"/>
                </a:solidFill>
                <a:latin typeface="Host Grotesk" pitchFamily="34" charset="0"/>
                <a:ea typeface="Host Grotesk" pitchFamily="34" charset="-122"/>
                <a:cs typeface="Host Grotesk" pitchFamily="34" charset="-120"/>
              </a:rPr>
              <a:t>A</a:t>
            </a:r>
            <a:endParaRPr lang="en-US" sz="2200" dirty="0"/>
          </a:p>
        </p:txBody>
      </p:sp>
      <p:sp>
        <p:nvSpPr>
          <p:cNvPr id="7" name="Text 4"/>
          <p:cNvSpPr/>
          <p:nvPr/>
        </p:nvSpPr>
        <p:spPr>
          <a:xfrm>
            <a:off x="1860550" y="1921470"/>
            <a:ext cx="1892300" cy="736600"/>
          </a:xfrm>
          <a:prstGeom prst="roundRect">
            <a:avLst>
              <a:gd name="adj" fmla="val 9483"/>
            </a:avLst>
          </a:prstGeom>
          <a:solidFill>
            <a:srgbClr val="141416"/>
          </a:solidFill>
          <a:ln w="12700">
            <a:solidFill>
              <a:srgbClr val="2B2B2B"/>
            </a:solidFill>
            <a:prstDash val="solid"/>
          </a:ln>
        </p:spPr>
        <p:txBody>
          <a:bodyPr wrap="square" lIns="36692" tIns="36692" rIns="36692" bIns="36692" rtlCol="0" anchor="ctr">
            <a:normAutofit/>
          </a:bodyPr>
          <a:lstStyle/>
          <a:p>
            <a:pPr algn="ctr" indent="0" marL="0">
              <a:lnSpc>
                <a:spcPts val="1610"/>
              </a:lnSpc>
              <a:buNone/>
            </a:pPr>
            <a:r>
              <a:rPr lang="en-US" sz="1400" dirty="0">
                <a:solidFill>
                  <a:srgbClr val="E9ECEF"/>
                </a:solidFill>
                <a:latin typeface="Raleway" pitchFamily="34" charset="0"/>
                <a:ea typeface="Raleway" pitchFamily="34" charset="-122"/>
                <a:cs typeface="Raleway" pitchFamily="34" charset="-120"/>
              </a:rPr>
              <a:t>Mercenary</a:t>
            </a:r>
            <a:endParaRPr lang="en-US" sz="1400" dirty="0"/>
          </a:p>
        </p:txBody>
      </p:sp>
      <p:sp>
        <p:nvSpPr>
          <p:cNvPr id="8" name="Text 5"/>
          <p:cNvSpPr/>
          <p:nvPr/>
        </p:nvSpPr>
        <p:spPr>
          <a:xfrm>
            <a:off x="3841750" y="1921470"/>
            <a:ext cx="1892300" cy="736600"/>
          </a:xfrm>
          <a:prstGeom prst="roundRect">
            <a:avLst>
              <a:gd name="adj" fmla="val 9483"/>
            </a:avLst>
          </a:prstGeom>
          <a:solidFill>
            <a:srgbClr val="141416"/>
          </a:solidFill>
          <a:ln w="12700">
            <a:solidFill>
              <a:srgbClr val="2B2B2B"/>
            </a:solidFill>
            <a:prstDash val="solid"/>
          </a:ln>
        </p:spPr>
        <p:txBody>
          <a:bodyPr wrap="square" lIns="36692" tIns="36692" rIns="36692" bIns="36692" rtlCol="0" anchor="ctr">
            <a:normAutofit/>
          </a:bodyPr>
          <a:lstStyle/>
          <a:p>
            <a:pPr algn="ctr" indent="0" marL="0">
              <a:lnSpc>
                <a:spcPts val="1610"/>
              </a:lnSpc>
              <a:buNone/>
            </a:pPr>
            <a:r>
              <a:rPr lang="en-US" sz="1400" dirty="0">
                <a:solidFill>
                  <a:srgbClr val="E9ECEF"/>
                </a:solidFill>
                <a:latin typeface="Raleway" pitchFamily="34" charset="0"/>
                <a:ea typeface="Raleway" pitchFamily="34" charset="-122"/>
                <a:cs typeface="Raleway" pitchFamily="34" charset="-120"/>
              </a:rPr>
              <a:t>Confused?</a:t>
            </a:r>
            <a:endParaRPr lang="en-US" sz="1400" dirty="0"/>
          </a:p>
        </p:txBody>
      </p:sp>
      <p:sp>
        <p:nvSpPr>
          <p:cNvPr id="9" name="Text 6"/>
          <p:cNvSpPr/>
          <p:nvPr/>
        </p:nvSpPr>
        <p:spPr>
          <a:xfrm>
            <a:off x="5822950" y="1921470"/>
            <a:ext cx="1892300" cy="736600"/>
          </a:xfrm>
          <a:prstGeom prst="roundRect">
            <a:avLst>
              <a:gd name="adj" fmla="val 9483"/>
            </a:avLst>
          </a:prstGeom>
          <a:solidFill>
            <a:srgbClr val="141416"/>
          </a:solidFill>
          <a:ln w="12700">
            <a:solidFill>
              <a:srgbClr val="2B2B2B"/>
            </a:solidFill>
            <a:prstDash val="solid"/>
          </a:ln>
        </p:spPr>
        <p:txBody>
          <a:bodyPr wrap="square" lIns="143302" tIns="36692" rIns="143302" bIns="36692" rtlCol="0" anchor="ctr">
            <a:normAutofit/>
          </a:bodyPr>
          <a:lstStyle/>
          <a:p>
            <a:pPr algn="ctr" indent="0" marL="0">
              <a:lnSpc>
                <a:spcPts val="1610"/>
              </a:lnSpc>
              <a:buNone/>
            </a:pPr>
            <a:r>
              <a:rPr lang="en-US" sz="1400" dirty="0">
                <a:solidFill>
                  <a:srgbClr val="E9ECEF"/>
                </a:solidFill>
                <a:latin typeface="Raleway" pitchFamily="34" charset="0"/>
                <a:ea typeface="Raleway" pitchFamily="34" charset="-122"/>
                <a:cs typeface="Raleway" pitchFamily="34" charset="-120"/>
              </a:rPr>
              <a:t>Rock Star</a:t>
            </a:r>
            <a:endParaRPr lang="en-US" sz="1400" dirty="0"/>
          </a:p>
          <a:p>
            <a:pPr algn="ctr" indent="0" marL="0">
              <a:lnSpc>
                <a:spcPts val="1610"/>
              </a:lnSpc>
              <a:buNone/>
            </a:pPr>
            <a:r>
              <a:rPr lang="en-US" sz="1400" dirty="0">
                <a:solidFill>
                  <a:srgbClr val="A3A8B0"/>
                </a:solidFill>
                <a:latin typeface="Raleway" pitchFamily="34" charset="0"/>
                <a:ea typeface="Raleway" pitchFamily="34" charset="-122"/>
                <a:cs typeface="Raleway" pitchFamily="34" charset="-120"/>
              </a:rPr>
              <a:t>can be acclimated</a:t>
            </a:r>
            <a:endParaRPr lang="en-US" sz="1400" dirty="0"/>
          </a:p>
        </p:txBody>
      </p:sp>
      <p:sp>
        <p:nvSpPr>
          <p:cNvPr id="10" name="Text 7"/>
          <p:cNvSpPr/>
          <p:nvPr/>
        </p:nvSpPr>
        <p:spPr>
          <a:xfrm>
            <a:off x="7804150" y="1921470"/>
            <a:ext cx="1892300" cy="736600"/>
          </a:xfrm>
          <a:prstGeom prst="roundRect">
            <a:avLst>
              <a:gd name="adj" fmla="val 9483"/>
            </a:avLst>
          </a:prstGeom>
          <a:solidFill>
            <a:srgbClr val="1C2619"/>
          </a:solidFill>
          <a:ln w="12700">
            <a:solidFill>
              <a:srgbClr val="63E14F"/>
            </a:solidFill>
            <a:prstDash val="solid"/>
          </a:ln>
        </p:spPr>
        <p:txBody>
          <a:bodyPr wrap="square" lIns="290096" tIns="36692" rIns="290096" bIns="36692" rtlCol="0" anchor="ctr">
            <a:normAutofit/>
          </a:bodyPr>
          <a:lstStyle/>
          <a:p>
            <a:pPr algn="ctr" indent="0" marL="0">
              <a:lnSpc>
                <a:spcPts val="1610"/>
              </a:lnSpc>
              <a:buNone/>
            </a:pPr>
            <a:r>
              <a:rPr lang="en-US" sz="1400" dirty="0">
                <a:solidFill>
                  <a:srgbClr val="63E14F"/>
                </a:solidFill>
                <a:latin typeface="Raleway" pitchFamily="34" charset="0"/>
                <a:ea typeface="Raleway" pitchFamily="34" charset="-122"/>
                <a:cs typeface="Raleway" pitchFamily="34" charset="-120"/>
              </a:rPr>
              <a:t>Unicorn</a:t>
            </a:r>
            <a:endParaRPr lang="en-US" sz="1400" dirty="0"/>
          </a:p>
          <a:p>
            <a:pPr algn="ctr" indent="0" marL="0">
              <a:lnSpc>
                <a:spcPts val="1610"/>
              </a:lnSpc>
              <a:buNone/>
            </a:pPr>
            <a:r>
              <a:rPr lang="en-US" sz="1400" dirty="0">
                <a:solidFill>
                  <a:srgbClr val="A3A8B0"/>
                </a:solidFill>
                <a:latin typeface="Raleway" pitchFamily="34" charset="0"/>
                <a:ea typeface="Raleway" pitchFamily="34" charset="-122"/>
                <a:cs typeface="Raleway" pitchFamily="34" charset="-120"/>
              </a:rPr>
              <a:t>hire at all costs</a:t>
            </a:r>
            <a:endParaRPr lang="en-US" sz="1400" dirty="0"/>
          </a:p>
        </p:txBody>
      </p:sp>
      <p:sp>
        <p:nvSpPr>
          <p:cNvPr id="11" name="Text 8"/>
          <p:cNvSpPr/>
          <p:nvPr/>
        </p:nvSpPr>
        <p:spPr>
          <a:xfrm>
            <a:off x="1364357" y="2919710"/>
            <a:ext cx="217636" cy="416520"/>
          </a:xfrm>
          <a:prstGeom prst="rect">
            <a:avLst/>
          </a:prstGeom>
          <a:noFill/>
          <a:ln/>
        </p:spPr>
        <p:txBody>
          <a:bodyPr wrap="square" lIns="0" tIns="0" rIns="0" bIns="0" rtlCol="0" anchor="t">
            <a:normAutofit/>
          </a:bodyPr>
          <a:lstStyle/>
          <a:p>
            <a:pPr algn="ctr" indent="0" marL="0">
              <a:lnSpc>
                <a:spcPts val="3080"/>
              </a:lnSpc>
              <a:buNone/>
            </a:pPr>
            <a:r>
              <a:rPr lang="en-US" sz="2200" b="1" dirty="0">
                <a:solidFill>
                  <a:srgbClr val="E9ECEF"/>
                </a:solidFill>
                <a:latin typeface="Host Grotesk" pitchFamily="34" charset="0"/>
                <a:ea typeface="Host Grotesk" pitchFamily="34" charset="-122"/>
                <a:cs typeface="Host Grotesk" pitchFamily="34" charset="-120"/>
              </a:rPr>
              <a:t>B</a:t>
            </a:r>
            <a:endParaRPr lang="en-US" sz="2200" dirty="0"/>
          </a:p>
        </p:txBody>
      </p:sp>
      <p:sp>
        <p:nvSpPr>
          <p:cNvPr id="12" name="Text 9"/>
          <p:cNvSpPr/>
          <p:nvPr/>
        </p:nvSpPr>
        <p:spPr>
          <a:xfrm>
            <a:off x="1860550" y="2746970"/>
            <a:ext cx="1892300" cy="736600"/>
          </a:xfrm>
          <a:prstGeom prst="roundRect">
            <a:avLst>
              <a:gd name="adj" fmla="val 9483"/>
            </a:avLst>
          </a:prstGeom>
          <a:solidFill>
            <a:srgbClr val="141416"/>
          </a:solidFill>
          <a:ln w="12700">
            <a:solidFill>
              <a:srgbClr val="2B2B2B"/>
            </a:solidFill>
            <a:prstDash val="solid"/>
          </a:ln>
        </p:spPr>
        <p:txBody>
          <a:bodyPr wrap="square" lIns="36692" tIns="36692" rIns="36692" bIns="36692" rtlCol="0" anchor="ctr">
            <a:normAutofit/>
          </a:bodyPr>
          <a:lstStyle/>
          <a:p>
            <a:pPr algn="ctr" indent="0" marL="0">
              <a:lnSpc>
                <a:spcPts val="1610"/>
              </a:lnSpc>
              <a:buNone/>
            </a:pPr>
            <a:r>
              <a:rPr lang="en-US" sz="1400" dirty="0">
                <a:solidFill>
                  <a:srgbClr val="E9ECEF"/>
                </a:solidFill>
                <a:latin typeface="Raleway" pitchFamily="34" charset="0"/>
                <a:ea typeface="Raleway" pitchFamily="34" charset="-122"/>
                <a:cs typeface="Raleway" pitchFamily="34" charset="-120"/>
              </a:rPr>
              <a:t>Consultant</a:t>
            </a:r>
            <a:endParaRPr lang="en-US" sz="1400" dirty="0"/>
          </a:p>
        </p:txBody>
      </p:sp>
      <p:sp>
        <p:nvSpPr>
          <p:cNvPr id="13" name="Text 10"/>
          <p:cNvSpPr/>
          <p:nvPr/>
        </p:nvSpPr>
        <p:spPr>
          <a:xfrm>
            <a:off x="3841750" y="2746970"/>
            <a:ext cx="1892300" cy="736600"/>
          </a:xfrm>
          <a:prstGeom prst="roundRect">
            <a:avLst>
              <a:gd name="adj" fmla="val 9483"/>
            </a:avLst>
          </a:prstGeom>
          <a:solidFill>
            <a:srgbClr val="141416"/>
          </a:solidFill>
          <a:ln w="12700">
            <a:solidFill>
              <a:srgbClr val="2B2B2B"/>
            </a:solidFill>
            <a:prstDash val="solid"/>
          </a:ln>
        </p:spPr>
        <p:txBody>
          <a:bodyPr wrap="square" lIns="36692" tIns="36692" rIns="36692" bIns="36692" rtlCol="0" anchor="ctr">
            <a:normAutofit/>
          </a:bodyPr>
          <a:lstStyle/>
          <a:p>
            <a:pPr algn="ctr" indent="0" marL="0">
              <a:lnSpc>
                <a:spcPts val="1610"/>
              </a:lnSpc>
              <a:buNone/>
            </a:pPr>
            <a:r>
              <a:rPr lang="en-US" sz="1400" dirty="0">
                <a:solidFill>
                  <a:srgbClr val="E9ECEF"/>
                </a:solidFill>
                <a:latin typeface="Raleway" pitchFamily="34" charset="0"/>
                <a:ea typeface="Raleway" pitchFamily="34" charset="-122"/>
                <a:cs typeface="Raleway" pitchFamily="34" charset="-120"/>
              </a:rPr>
              <a:t>Ambivalence</a:t>
            </a:r>
            <a:endParaRPr lang="en-US" sz="1400" dirty="0"/>
          </a:p>
        </p:txBody>
      </p:sp>
      <p:sp>
        <p:nvSpPr>
          <p:cNvPr id="14" name="Text 11"/>
          <p:cNvSpPr/>
          <p:nvPr/>
        </p:nvSpPr>
        <p:spPr>
          <a:xfrm>
            <a:off x="5822950" y="2746970"/>
            <a:ext cx="1892300" cy="736600"/>
          </a:xfrm>
          <a:prstGeom prst="roundRect">
            <a:avLst>
              <a:gd name="adj" fmla="val 9483"/>
            </a:avLst>
          </a:prstGeom>
          <a:solidFill>
            <a:srgbClr val="141416"/>
          </a:solidFill>
          <a:ln w="12700">
            <a:solidFill>
              <a:srgbClr val="2B2B2B"/>
            </a:solidFill>
            <a:prstDash val="solid"/>
          </a:ln>
        </p:spPr>
        <p:txBody>
          <a:bodyPr wrap="square" lIns="36692" tIns="36692" rIns="36692" bIns="36692" rtlCol="0" anchor="ctr">
            <a:normAutofit/>
          </a:bodyPr>
          <a:lstStyle/>
          <a:p>
            <a:pPr algn="ctr" indent="0" marL="0">
              <a:lnSpc>
                <a:spcPts val="1610"/>
              </a:lnSpc>
              <a:buNone/>
            </a:pPr>
            <a:r>
              <a:rPr lang="en-US" sz="1400" dirty="0">
                <a:solidFill>
                  <a:srgbClr val="E9ECEF"/>
                </a:solidFill>
                <a:latin typeface="Raleway" pitchFamily="34" charset="0"/>
                <a:ea typeface="Raleway" pitchFamily="34" charset="-122"/>
                <a:cs typeface="Raleway" pitchFamily="34" charset="-120"/>
              </a:rPr>
              <a:t>Ambivalence</a:t>
            </a:r>
            <a:endParaRPr lang="en-US" sz="1400" dirty="0"/>
          </a:p>
        </p:txBody>
      </p:sp>
      <p:sp>
        <p:nvSpPr>
          <p:cNvPr id="15" name="Text 12"/>
          <p:cNvSpPr/>
          <p:nvPr/>
        </p:nvSpPr>
        <p:spPr>
          <a:xfrm>
            <a:off x="7804150" y="2746970"/>
            <a:ext cx="1892300" cy="736600"/>
          </a:xfrm>
          <a:prstGeom prst="roundRect">
            <a:avLst>
              <a:gd name="adj" fmla="val 9483"/>
            </a:avLst>
          </a:prstGeom>
          <a:solidFill>
            <a:srgbClr val="1C2619"/>
          </a:solidFill>
          <a:ln w="12700">
            <a:solidFill>
              <a:srgbClr val="63E14F"/>
            </a:solidFill>
            <a:prstDash val="solid"/>
          </a:ln>
        </p:spPr>
        <p:txBody>
          <a:bodyPr wrap="square" lIns="290096" tIns="36692" rIns="290096" bIns="36692" rtlCol="0" anchor="ctr">
            <a:normAutofit/>
          </a:bodyPr>
          <a:lstStyle/>
          <a:p>
            <a:pPr algn="ctr" indent="0" marL="0">
              <a:lnSpc>
                <a:spcPts val="1610"/>
              </a:lnSpc>
              <a:buNone/>
            </a:pPr>
            <a:r>
              <a:rPr lang="en-US" sz="1400" dirty="0">
                <a:solidFill>
                  <a:srgbClr val="63E14F"/>
                </a:solidFill>
                <a:latin typeface="Raleway" pitchFamily="34" charset="0"/>
                <a:ea typeface="Raleway" pitchFamily="34" charset="-122"/>
                <a:cs typeface="Raleway" pitchFamily="34" charset="-120"/>
              </a:rPr>
              <a:t>Team Player</a:t>
            </a:r>
            <a:endParaRPr lang="en-US" sz="1400" dirty="0"/>
          </a:p>
          <a:p>
            <a:pPr algn="ctr" indent="0" marL="0">
              <a:lnSpc>
                <a:spcPts val="1610"/>
              </a:lnSpc>
              <a:buNone/>
            </a:pPr>
            <a:r>
              <a:rPr lang="en-US" sz="1400" dirty="0">
                <a:solidFill>
                  <a:srgbClr val="A3A8B0"/>
                </a:solidFill>
                <a:latin typeface="Raleway" pitchFamily="34" charset="0"/>
                <a:ea typeface="Raleway" pitchFamily="34" charset="-122"/>
                <a:cs typeface="Raleway" pitchFamily="34" charset="-120"/>
              </a:rPr>
              <a:t>hire at all costs</a:t>
            </a:r>
            <a:endParaRPr lang="en-US" sz="1400" dirty="0"/>
          </a:p>
        </p:txBody>
      </p:sp>
      <p:sp>
        <p:nvSpPr>
          <p:cNvPr id="16" name="Text 13"/>
          <p:cNvSpPr/>
          <p:nvPr/>
        </p:nvSpPr>
        <p:spPr>
          <a:xfrm>
            <a:off x="1349276" y="3745210"/>
            <a:ext cx="247799" cy="416520"/>
          </a:xfrm>
          <a:prstGeom prst="rect">
            <a:avLst/>
          </a:prstGeom>
          <a:noFill/>
          <a:ln/>
        </p:spPr>
        <p:txBody>
          <a:bodyPr wrap="square" lIns="0" tIns="0" rIns="0" bIns="0" rtlCol="0" anchor="t">
            <a:normAutofit/>
          </a:bodyPr>
          <a:lstStyle/>
          <a:p>
            <a:pPr algn="ctr" indent="0" marL="0">
              <a:lnSpc>
                <a:spcPts val="3080"/>
              </a:lnSpc>
              <a:buNone/>
            </a:pPr>
            <a:r>
              <a:rPr lang="en-US" sz="2200" b="1" dirty="0">
                <a:solidFill>
                  <a:srgbClr val="E9ECEF"/>
                </a:solidFill>
                <a:latin typeface="Host Grotesk" pitchFamily="34" charset="0"/>
                <a:ea typeface="Host Grotesk" pitchFamily="34" charset="-122"/>
                <a:cs typeface="Host Grotesk" pitchFamily="34" charset="-120"/>
              </a:rPr>
              <a:t>C</a:t>
            </a:r>
            <a:endParaRPr lang="en-US" sz="2200" dirty="0"/>
          </a:p>
        </p:txBody>
      </p:sp>
      <p:sp>
        <p:nvSpPr>
          <p:cNvPr id="17" name="Text 14"/>
          <p:cNvSpPr/>
          <p:nvPr/>
        </p:nvSpPr>
        <p:spPr>
          <a:xfrm>
            <a:off x="1860550" y="3572470"/>
            <a:ext cx="1892300" cy="736600"/>
          </a:xfrm>
          <a:prstGeom prst="roundRect">
            <a:avLst>
              <a:gd name="adj" fmla="val 9483"/>
            </a:avLst>
          </a:prstGeom>
          <a:solidFill>
            <a:srgbClr val="141416"/>
          </a:solidFill>
          <a:ln w="12700">
            <a:solidFill>
              <a:srgbClr val="2B2B2B"/>
            </a:solidFill>
            <a:prstDash val="solid"/>
          </a:ln>
        </p:spPr>
        <p:txBody>
          <a:bodyPr wrap="square" lIns="36692" tIns="36692" rIns="36692" bIns="36692" rtlCol="0" anchor="ctr">
            <a:normAutofit/>
          </a:bodyPr>
          <a:lstStyle/>
          <a:p>
            <a:pPr algn="ctr" indent="0" marL="0">
              <a:lnSpc>
                <a:spcPts val="1610"/>
              </a:lnSpc>
              <a:buNone/>
            </a:pPr>
            <a:r>
              <a:rPr lang="en-US" sz="1400" dirty="0">
                <a:solidFill>
                  <a:srgbClr val="8B9097"/>
                </a:solidFill>
                <a:latin typeface="Raleway" pitchFamily="34" charset="0"/>
                <a:ea typeface="Raleway" pitchFamily="34" charset="-122"/>
                <a:cs typeface="Raleway" pitchFamily="34" charset="-120"/>
              </a:rPr>
              <a:t>Hell No!!!</a:t>
            </a:r>
            <a:endParaRPr lang="en-US" sz="1400" dirty="0"/>
          </a:p>
        </p:txBody>
      </p:sp>
      <p:sp>
        <p:nvSpPr>
          <p:cNvPr id="18" name="Text 15"/>
          <p:cNvSpPr/>
          <p:nvPr/>
        </p:nvSpPr>
        <p:spPr>
          <a:xfrm>
            <a:off x="3841750" y="3572470"/>
            <a:ext cx="1892300" cy="736600"/>
          </a:xfrm>
          <a:prstGeom prst="roundRect">
            <a:avLst>
              <a:gd name="adj" fmla="val 9483"/>
            </a:avLst>
          </a:prstGeom>
          <a:solidFill>
            <a:srgbClr val="141416"/>
          </a:solidFill>
          <a:ln w="12700">
            <a:solidFill>
              <a:srgbClr val="2B2B2B"/>
            </a:solidFill>
            <a:prstDash val="solid"/>
          </a:ln>
        </p:spPr>
        <p:txBody>
          <a:bodyPr wrap="square" lIns="36692" tIns="36692" rIns="36692" bIns="36692" rtlCol="0" anchor="ctr">
            <a:normAutofit/>
          </a:bodyPr>
          <a:lstStyle/>
          <a:p>
            <a:pPr algn="ctr" indent="0" marL="0">
              <a:lnSpc>
                <a:spcPts val="1610"/>
              </a:lnSpc>
              <a:buNone/>
            </a:pPr>
            <a:r>
              <a:rPr lang="en-US" sz="1400" dirty="0">
                <a:solidFill>
                  <a:srgbClr val="8B9097"/>
                </a:solidFill>
                <a:latin typeface="Raleway" pitchFamily="34" charset="0"/>
                <a:ea typeface="Raleway" pitchFamily="34" charset="-122"/>
                <a:cs typeface="Raleway" pitchFamily="34" charset="-120"/>
              </a:rPr>
              <a:t>Hell No</a:t>
            </a:r>
            <a:endParaRPr lang="en-US" sz="1400" dirty="0"/>
          </a:p>
        </p:txBody>
      </p:sp>
      <p:sp>
        <p:nvSpPr>
          <p:cNvPr id="19" name="Text 16"/>
          <p:cNvSpPr/>
          <p:nvPr/>
        </p:nvSpPr>
        <p:spPr>
          <a:xfrm>
            <a:off x="5822950" y="3572470"/>
            <a:ext cx="1892300" cy="736600"/>
          </a:xfrm>
          <a:prstGeom prst="roundRect">
            <a:avLst>
              <a:gd name="adj" fmla="val 9483"/>
            </a:avLst>
          </a:prstGeom>
          <a:solidFill>
            <a:srgbClr val="141416"/>
          </a:solidFill>
          <a:ln w="12700">
            <a:solidFill>
              <a:srgbClr val="2B2B2B"/>
            </a:solidFill>
            <a:prstDash val="solid"/>
          </a:ln>
        </p:spPr>
        <p:txBody>
          <a:bodyPr wrap="square" lIns="36692" tIns="36692" rIns="36692" bIns="36692" rtlCol="0" anchor="ctr">
            <a:normAutofit/>
          </a:bodyPr>
          <a:lstStyle/>
          <a:p>
            <a:pPr algn="ctr" indent="0" marL="0">
              <a:lnSpc>
                <a:spcPts val="1610"/>
              </a:lnSpc>
              <a:buNone/>
            </a:pPr>
            <a:r>
              <a:rPr lang="en-US" sz="1400" dirty="0">
                <a:solidFill>
                  <a:srgbClr val="8B9097"/>
                </a:solidFill>
                <a:latin typeface="Raleway" pitchFamily="34" charset="0"/>
                <a:ea typeface="Raleway" pitchFamily="34" charset="-122"/>
                <a:cs typeface="Raleway" pitchFamily="34" charset="-120"/>
              </a:rPr>
              <a:t>No</a:t>
            </a:r>
            <a:endParaRPr lang="en-US" sz="1400" dirty="0"/>
          </a:p>
        </p:txBody>
      </p:sp>
      <p:sp>
        <p:nvSpPr>
          <p:cNvPr id="20" name="Text 17"/>
          <p:cNvSpPr/>
          <p:nvPr/>
        </p:nvSpPr>
        <p:spPr>
          <a:xfrm>
            <a:off x="7804150" y="3572470"/>
            <a:ext cx="1892300" cy="736600"/>
          </a:xfrm>
          <a:prstGeom prst="roundRect">
            <a:avLst>
              <a:gd name="adj" fmla="val 9483"/>
            </a:avLst>
          </a:prstGeom>
          <a:solidFill>
            <a:srgbClr val="141416"/>
          </a:solidFill>
          <a:ln w="12700">
            <a:solidFill>
              <a:srgbClr val="2B2B2B"/>
            </a:solidFill>
            <a:prstDash val="solid"/>
          </a:ln>
        </p:spPr>
        <p:txBody>
          <a:bodyPr wrap="square" lIns="36692" tIns="36692" rIns="36692" bIns="36692" rtlCol="0" anchor="ctr">
            <a:normAutofit/>
          </a:bodyPr>
          <a:lstStyle/>
          <a:p>
            <a:pPr algn="ctr" indent="0" marL="0">
              <a:lnSpc>
                <a:spcPts val="1610"/>
              </a:lnSpc>
              <a:buNone/>
            </a:pPr>
            <a:r>
              <a:rPr lang="en-US" sz="1400" dirty="0">
                <a:solidFill>
                  <a:srgbClr val="8B9097"/>
                </a:solidFill>
                <a:latin typeface="Raleway" pitchFamily="34" charset="0"/>
                <a:ea typeface="Raleway" pitchFamily="34" charset="-122"/>
                <a:cs typeface="Raleway" pitchFamily="34" charset="-120"/>
              </a:rPr>
              <a:t>No</a:t>
            </a:r>
            <a:endParaRPr lang="en-US" sz="1400" dirty="0"/>
          </a:p>
        </p:txBody>
      </p:sp>
      <p:sp>
        <p:nvSpPr>
          <p:cNvPr id="21" name="Text 18"/>
          <p:cNvSpPr/>
          <p:nvPr/>
        </p:nvSpPr>
        <p:spPr>
          <a:xfrm>
            <a:off x="1352104" y="4570710"/>
            <a:ext cx="242193" cy="416520"/>
          </a:xfrm>
          <a:prstGeom prst="rect">
            <a:avLst/>
          </a:prstGeom>
          <a:noFill/>
          <a:ln/>
        </p:spPr>
        <p:txBody>
          <a:bodyPr wrap="square" lIns="0" tIns="0" rIns="0" bIns="0" rtlCol="0" anchor="t">
            <a:normAutofit/>
          </a:bodyPr>
          <a:lstStyle/>
          <a:p>
            <a:pPr algn="ctr" indent="0" marL="0">
              <a:lnSpc>
                <a:spcPts val="3080"/>
              </a:lnSpc>
              <a:buNone/>
            </a:pPr>
            <a:r>
              <a:rPr lang="en-US" sz="2200" b="1" dirty="0">
                <a:solidFill>
                  <a:srgbClr val="E9ECEF"/>
                </a:solidFill>
                <a:latin typeface="Host Grotesk" pitchFamily="34" charset="0"/>
                <a:ea typeface="Host Grotesk" pitchFamily="34" charset="-122"/>
                <a:cs typeface="Host Grotesk" pitchFamily="34" charset="-120"/>
              </a:rPr>
              <a:t>D</a:t>
            </a:r>
            <a:endParaRPr lang="en-US" sz="2200" dirty="0"/>
          </a:p>
        </p:txBody>
      </p:sp>
      <p:sp>
        <p:nvSpPr>
          <p:cNvPr id="22" name="Text 19"/>
          <p:cNvSpPr/>
          <p:nvPr/>
        </p:nvSpPr>
        <p:spPr>
          <a:xfrm>
            <a:off x="1860550" y="4397970"/>
            <a:ext cx="1892300" cy="736600"/>
          </a:xfrm>
          <a:prstGeom prst="roundRect">
            <a:avLst>
              <a:gd name="adj" fmla="val 9483"/>
            </a:avLst>
          </a:prstGeom>
          <a:solidFill>
            <a:srgbClr val="141416"/>
          </a:solidFill>
          <a:ln w="12700">
            <a:solidFill>
              <a:srgbClr val="2B2B2B"/>
            </a:solidFill>
            <a:prstDash val="solid"/>
          </a:ln>
        </p:spPr>
        <p:txBody>
          <a:bodyPr wrap="square" lIns="36692" tIns="36692" rIns="36692" bIns="36692" rtlCol="0" anchor="ctr">
            <a:normAutofit/>
          </a:bodyPr>
          <a:lstStyle/>
          <a:p>
            <a:pPr algn="ctr" indent="0" marL="0">
              <a:lnSpc>
                <a:spcPts val="1610"/>
              </a:lnSpc>
              <a:buNone/>
            </a:pPr>
            <a:r>
              <a:rPr lang="en-US" sz="1400" dirty="0">
                <a:solidFill>
                  <a:srgbClr val="8B9097"/>
                </a:solidFill>
                <a:latin typeface="Raleway" pitchFamily="34" charset="0"/>
                <a:ea typeface="Raleway" pitchFamily="34" charset="-122"/>
                <a:cs typeface="Raleway" pitchFamily="34" charset="-120"/>
              </a:rPr>
              <a:t>Will get you fired</a:t>
            </a:r>
            <a:endParaRPr lang="en-US" sz="1400" dirty="0"/>
          </a:p>
        </p:txBody>
      </p:sp>
      <p:sp>
        <p:nvSpPr>
          <p:cNvPr id="23" name="Text 20"/>
          <p:cNvSpPr/>
          <p:nvPr/>
        </p:nvSpPr>
        <p:spPr>
          <a:xfrm>
            <a:off x="3841750" y="4397970"/>
            <a:ext cx="1892300" cy="736600"/>
          </a:xfrm>
          <a:prstGeom prst="roundRect">
            <a:avLst>
              <a:gd name="adj" fmla="val 9483"/>
            </a:avLst>
          </a:prstGeom>
          <a:solidFill>
            <a:srgbClr val="141416"/>
          </a:solidFill>
          <a:ln w="12700">
            <a:solidFill>
              <a:srgbClr val="2B2B2B"/>
            </a:solidFill>
            <a:prstDash val="solid"/>
          </a:ln>
        </p:spPr>
        <p:txBody>
          <a:bodyPr wrap="square" lIns="36692" tIns="36692" rIns="36692" bIns="36692" rtlCol="0" anchor="ctr">
            <a:normAutofit/>
          </a:bodyPr>
          <a:lstStyle/>
          <a:p>
            <a:pPr algn="ctr" indent="0" marL="0">
              <a:lnSpc>
                <a:spcPts val="1610"/>
              </a:lnSpc>
              <a:buNone/>
            </a:pPr>
            <a:r>
              <a:rPr lang="en-US" sz="1400" dirty="0">
                <a:solidFill>
                  <a:srgbClr val="8B9097"/>
                </a:solidFill>
                <a:latin typeface="Raleway" pitchFamily="34" charset="0"/>
                <a:ea typeface="Raleway" pitchFamily="34" charset="-122"/>
                <a:cs typeface="Raleway" pitchFamily="34" charset="-120"/>
              </a:rPr>
              <a:t>Will get you fired</a:t>
            </a:r>
            <a:endParaRPr lang="en-US" sz="1400" dirty="0"/>
          </a:p>
        </p:txBody>
      </p:sp>
      <p:sp>
        <p:nvSpPr>
          <p:cNvPr id="24" name="Text 21"/>
          <p:cNvSpPr/>
          <p:nvPr/>
        </p:nvSpPr>
        <p:spPr>
          <a:xfrm>
            <a:off x="5822950" y="4397970"/>
            <a:ext cx="1892300" cy="736600"/>
          </a:xfrm>
          <a:prstGeom prst="roundRect">
            <a:avLst>
              <a:gd name="adj" fmla="val 9483"/>
            </a:avLst>
          </a:prstGeom>
          <a:solidFill>
            <a:srgbClr val="141416"/>
          </a:solidFill>
          <a:ln w="12700">
            <a:solidFill>
              <a:srgbClr val="2B2B2B"/>
            </a:solidFill>
            <a:prstDash val="solid"/>
          </a:ln>
        </p:spPr>
        <p:txBody>
          <a:bodyPr wrap="square" lIns="36692" tIns="36692" rIns="36692" bIns="36692" rtlCol="0" anchor="ctr">
            <a:normAutofit/>
          </a:bodyPr>
          <a:lstStyle/>
          <a:p>
            <a:pPr algn="ctr" indent="0" marL="0">
              <a:lnSpc>
                <a:spcPts val="1610"/>
              </a:lnSpc>
              <a:buNone/>
            </a:pPr>
            <a:r>
              <a:rPr lang="en-US" sz="1400" dirty="0">
                <a:solidFill>
                  <a:srgbClr val="8B9097"/>
                </a:solidFill>
                <a:latin typeface="Raleway" pitchFamily="34" charset="0"/>
                <a:ea typeface="Raleway" pitchFamily="34" charset="-122"/>
                <a:cs typeface="Raleway" pitchFamily="34" charset="-120"/>
              </a:rPr>
              <a:t>Will get you fired</a:t>
            </a:r>
            <a:endParaRPr lang="en-US" sz="1400" dirty="0"/>
          </a:p>
        </p:txBody>
      </p:sp>
      <p:sp>
        <p:nvSpPr>
          <p:cNvPr id="25" name="Text 22"/>
          <p:cNvSpPr/>
          <p:nvPr/>
        </p:nvSpPr>
        <p:spPr>
          <a:xfrm>
            <a:off x="7804150" y="4397970"/>
            <a:ext cx="1892300" cy="736600"/>
          </a:xfrm>
          <a:prstGeom prst="roundRect">
            <a:avLst>
              <a:gd name="adj" fmla="val 9483"/>
            </a:avLst>
          </a:prstGeom>
          <a:solidFill>
            <a:srgbClr val="141416"/>
          </a:solidFill>
          <a:ln w="12700">
            <a:solidFill>
              <a:srgbClr val="2B2B2B"/>
            </a:solidFill>
            <a:prstDash val="solid"/>
          </a:ln>
        </p:spPr>
        <p:txBody>
          <a:bodyPr wrap="square" lIns="36692" tIns="36692" rIns="36692" bIns="36692" rtlCol="0" anchor="ctr">
            <a:normAutofit/>
          </a:bodyPr>
          <a:lstStyle/>
          <a:p>
            <a:pPr algn="ctr" indent="0" marL="0">
              <a:lnSpc>
                <a:spcPts val="1610"/>
              </a:lnSpc>
              <a:buNone/>
            </a:pPr>
            <a:r>
              <a:rPr lang="en-US" sz="1400" dirty="0">
                <a:solidFill>
                  <a:srgbClr val="8B9097"/>
                </a:solidFill>
                <a:latin typeface="Raleway" pitchFamily="34" charset="0"/>
                <a:ea typeface="Raleway" pitchFamily="34" charset="-122"/>
                <a:cs typeface="Raleway" pitchFamily="34" charset="-120"/>
              </a:rPr>
              <a:t>Will get you fired</a:t>
            </a:r>
            <a:endParaRPr lang="en-US" sz="1400" dirty="0"/>
          </a:p>
        </p:txBody>
      </p:sp>
      <p:sp>
        <p:nvSpPr>
          <p:cNvPr id="26" name="Text 23"/>
          <p:cNvSpPr/>
          <p:nvPr/>
        </p:nvSpPr>
        <p:spPr>
          <a:xfrm>
            <a:off x="1854200" y="5217120"/>
            <a:ext cx="1962150" cy="220960"/>
          </a:xfrm>
          <a:prstGeom prst="rect">
            <a:avLst/>
          </a:prstGeom>
          <a:noFill/>
          <a:ln/>
        </p:spPr>
        <p:txBody>
          <a:bodyPr wrap="square" lIns="0" tIns="0" rIns="0" bIns="0" rtlCol="0" anchor="t">
            <a:normAutofit/>
          </a:bodyPr>
          <a:lstStyle/>
          <a:p>
            <a:pPr algn="l" indent="0" marL="0">
              <a:lnSpc>
                <a:spcPts val="1540"/>
              </a:lnSpc>
              <a:buNone/>
            </a:pPr>
            <a:r>
              <a:rPr lang="en-US" sz="1100" spc="100" kern="0" dirty="0">
                <a:solidFill>
                  <a:srgbClr val="FF832A"/>
                </a:solidFill>
                <a:latin typeface="DM Mono" pitchFamily="49" charset="0"/>
                <a:ea typeface="DM Mono" pitchFamily="49" charset="-122"/>
                <a:cs typeface="DM Mono" pitchFamily="49" charset="-120"/>
              </a:rPr>
              <a:t>−10 UNALIGNED</a:t>
            </a:r>
            <a:endParaRPr lang="en-US" sz="1100" dirty="0"/>
          </a:p>
        </p:txBody>
      </p:sp>
      <p:sp>
        <p:nvSpPr>
          <p:cNvPr id="27" name="Text 24"/>
          <p:cNvSpPr/>
          <p:nvPr/>
        </p:nvSpPr>
        <p:spPr>
          <a:xfrm>
            <a:off x="3777107" y="5217120"/>
            <a:ext cx="4002786" cy="220960"/>
          </a:xfrm>
          <a:prstGeom prst="rect">
            <a:avLst/>
          </a:prstGeom>
          <a:noFill/>
          <a:ln/>
        </p:spPr>
        <p:txBody>
          <a:bodyPr wrap="square" lIns="0" tIns="0" rIns="0" bIns="0" rtlCol="0" anchor="t">
            <a:normAutofit/>
          </a:bodyPr>
          <a:lstStyle/>
          <a:p>
            <a:pPr algn="ctr" indent="0" marL="0">
              <a:lnSpc>
                <a:spcPts val="1540"/>
              </a:lnSpc>
              <a:buNone/>
            </a:pPr>
            <a:r>
              <a:rPr lang="en-US" sz="1100" spc="100" kern="0" dirty="0">
                <a:solidFill>
                  <a:srgbClr val="8B9097"/>
                </a:solidFill>
                <a:latin typeface="DM Mono" pitchFamily="49" charset="0"/>
                <a:ea typeface="DM Mono" pitchFamily="49" charset="-122"/>
                <a:cs typeface="DM Mono" pitchFamily="49" charset="-120"/>
              </a:rPr>
              <a:t>FIT →</a:t>
            </a:r>
            <a:endParaRPr lang="en-US" sz="1100" dirty="0"/>
          </a:p>
        </p:txBody>
      </p:sp>
      <p:sp>
        <p:nvSpPr>
          <p:cNvPr id="28" name="Text 25"/>
          <p:cNvSpPr/>
          <p:nvPr/>
        </p:nvSpPr>
        <p:spPr>
          <a:xfrm>
            <a:off x="7740650" y="5217120"/>
            <a:ext cx="1962150" cy="220960"/>
          </a:xfrm>
          <a:prstGeom prst="rect">
            <a:avLst/>
          </a:prstGeom>
          <a:noFill/>
          <a:ln/>
        </p:spPr>
        <p:txBody>
          <a:bodyPr wrap="square" lIns="0" tIns="0" rIns="0" bIns="0" rtlCol="0" anchor="t">
            <a:normAutofit/>
          </a:bodyPr>
          <a:lstStyle/>
          <a:p>
            <a:pPr algn="r" indent="0" marL="0">
              <a:lnSpc>
                <a:spcPts val="1540"/>
              </a:lnSpc>
              <a:buNone/>
            </a:pPr>
            <a:r>
              <a:rPr lang="en-US" sz="1100" spc="100" kern="0" dirty="0">
                <a:solidFill>
                  <a:srgbClr val="63E14F"/>
                </a:solidFill>
                <a:latin typeface="DM Mono" pitchFamily="49" charset="0"/>
                <a:ea typeface="DM Mono" pitchFamily="49" charset="-122"/>
                <a:cs typeface="DM Mono" pitchFamily="49" charset="-120"/>
              </a:rPr>
              <a:t>+10 ALIGNED</a:t>
            </a:r>
            <a:endParaRPr lang="en-US" sz="1100" dirty="0"/>
          </a:p>
        </p:txBody>
      </p:sp>
      <p:pic>
        <p:nvPicPr>
          <p:cNvPr id="29" name="Image 1" descr="preencoded.png">    </p:cNvPr>
          <p:cNvPicPr>
            <a:picLocks noChangeAspect="1"/>
          </p:cNvPicPr>
          <p:nvPr/>
        </p:nvPicPr>
        <p:blipFill>
          <a:blip r:embed="rId2"/>
          <a:srcRect l="0" r="0" t="0" b="0"/>
          <a:stretch/>
        </p:blipFill>
        <p:spPr>
          <a:xfrm>
            <a:off x="0" y="0"/>
            <a:ext cx="12192000" cy="6858000"/>
          </a:xfrm>
          <a:prstGeom prst="rect">
            <a:avLst/>
          </a:prstGeom>
        </p:spPr>
      </p:pic>
      <p:pic>
        <p:nvPicPr>
          <p:cNvPr id="30" name="Image 2" descr="preencoded.png">    </p:cNvPr>
          <p:cNvPicPr>
            <a:picLocks noChangeAspect="1"/>
          </p:cNvPicPr>
          <p:nvPr/>
        </p:nvPicPr>
        <p:blipFill>
          <a:blip r:embed="rId3"/>
          <a:srcRect l="0" r="0" t="0" b="0"/>
          <a:stretch/>
        </p:blipFill>
        <p:spPr>
          <a:xfrm>
            <a:off x="10001250" y="2324695"/>
            <a:ext cx="444500" cy="152400"/>
          </a:xfrm>
          <a:prstGeom prst="rect">
            <a:avLst/>
          </a:prstGeom>
        </p:spPr>
      </p:pic>
      <p:sp>
        <p:nvSpPr>
          <p:cNvPr id="31" name="Text 26"/>
          <p:cNvSpPr/>
          <p:nvPr/>
        </p:nvSpPr>
        <p:spPr>
          <a:xfrm>
            <a:off x="10547350" y="2178050"/>
            <a:ext cx="1085850"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E9ECEF"/>
                </a:solidFill>
                <a:latin typeface="Raleway" pitchFamily="34" charset="0"/>
                <a:ea typeface="Raleway" pitchFamily="34" charset="-122"/>
                <a:cs typeface="Raleway" pitchFamily="34" charset="-120"/>
              </a:rPr>
              <a:t>Resolve before hiring</a:t>
            </a:r>
            <a:endParaRPr lang="en-US" sz="1300" dirty="0"/>
          </a:p>
        </p:txBody>
      </p:sp>
      <p:pic>
        <p:nvPicPr>
          <p:cNvPr id="32" name="Image 3" descr="preencoded.png">    </p:cNvPr>
          <p:cNvPicPr>
            <a:picLocks noChangeAspect="1"/>
          </p:cNvPicPr>
          <p:nvPr/>
        </p:nvPicPr>
        <p:blipFill>
          <a:blip r:embed="rId4"/>
          <a:srcRect l="0" r="0" t="0" b="0"/>
          <a:stretch/>
        </p:blipFill>
        <p:spPr>
          <a:xfrm>
            <a:off x="10001250" y="3059609"/>
            <a:ext cx="444500" cy="152400"/>
          </a:xfrm>
          <a:prstGeom prst="rect">
            <a:avLst/>
          </a:prstGeom>
        </p:spPr>
      </p:pic>
      <p:sp>
        <p:nvSpPr>
          <p:cNvPr id="33" name="Text 27"/>
          <p:cNvSpPr/>
          <p:nvPr/>
        </p:nvSpPr>
        <p:spPr>
          <a:xfrm>
            <a:off x="10547350" y="2801541"/>
            <a:ext cx="1085850" cy="693936"/>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E9ECEF"/>
                </a:solidFill>
                <a:latin typeface="Raleway" pitchFamily="34" charset="0"/>
                <a:ea typeface="Raleway" pitchFamily="34" charset="-122"/>
                <a:cs typeface="Raleway" pitchFamily="34" charset="-120"/>
              </a:rPr>
              <a:t>Coach in the first 90–180 days</a:t>
            </a:r>
            <a:endParaRPr lang="en-US" sz="1300" dirty="0"/>
          </a:p>
        </p:txBody>
      </p:sp>
      <p:pic>
        <p:nvPicPr>
          <p:cNvPr id="34" name="Image 4" descr="preencoded.png">    </p:cNvPr>
          <p:cNvPicPr>
            <a:picLocks noChangeAspect="1"/>
          </p:cNvPicPr>
          <p:nvPr/>
        </p:nvPicPr>
        <p:blipFill>
          <a:blip r:embed="rId5"/>
          <a:srcRect l="0" r="0" t="0" b="0"/>
          <a:stretch/>
        </p:blipFill>
        <p:spPr>
          <a:xfrm>
            <a:off x="10001250" y="3794522"/>
            <a:ext cx="444500" cy="152400"/>
          </a:xfrm>
          <a:prstGeom prst="rect">
            <a:avLst/>
          </a:prstGeom>
        </p:spPr>
      </p:pic>
      <p:sp>
        <p:nvSpPr>
          <p:cNvPr id="35" name="Text 28"/>
          <p:cNvSpPr/>
          <p:nvPr/>
        </p:nvSpPr>
        <p:spPr>
          <a:xfrm>
            <a:off x="10547350" y="3647877"/>
            <a:ext cx="1085850"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E9ECEF"/>
                </a:solidFill>
                <a:latin typeface="Raleway" pitchFamily="34" charset="0"/>
                <a:ea typeface="Raleway" pitchFamily="34" charset="-122"/>
                <a:cs typeface="Raleway" pitchFamily="34" charset="-120"/>
              </a:rPr>
              <a:t>Coach in the first 2 years</a:t>
            </a:r>
            <a:endParaRPr lang="en-US" sz="1300" dirty="0"/>
          </a:p>
        </p:txBody>
      </p:sp>
      <p:pic>
        <p:nvPicPr>
          <p:cNvPr id="36" name="Image 5" descr="Mashgin">    </p:cNvPr>
          <p:cNvPicPr>
            <a:picLocks noChangeAspect="1"/>
          </p:cNvPicPr>
          <p:nvPr/>
        </p:nvPicPr>
        <p:blipFill>
          <a:blip r:embed="rId6"/>
          <a:srcRect l="-284" r="-284" t="0" b="0"/>
          <a:stretch/>
        </p:blipFill>
        <p:spPr>
          <a:xfrm>
            <a:off x="10121900" y="406400"/>
            <a:ext cx="1460500" cy="298450"/>
          </a:xfrm>
          <a:prstGeom prst="rect">
            <a:avLst/>
          </a:prstGeom>
        </p:spPr>
      </p:pic>
      <p:sp>
        <p:nvSpPr>
          <p:cNvPr id="37" name="Text 29"/>
          <p:cNvSpPr/>
          <p:nvPr/>
        </p:nvSpPr>
        <p:spPr>
          <a:xfrm>
            <a:off x="812800" y="62382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097"/>
                </a:solidFill>
                <a:latin typeface="DM Mono" pitchFamily="49" charset="0"/>
                <a:ea typeface="DM Mono" pitchFamily="49" charset="-122"/>
                <a:cs typeface="DM Mono" pitchFamily="49" charset="-120"/>
              </a:rPr>
              <a:t>Copyright Dobromir Montauk, 2026</a:t>
            </a:r>
            <a:endParaRPr lang="en-US" sz="1200" dirty="0"/>
          </a:p>
        </p:txBody>
      </p:sp>
      <p:sp>
        <p:nvSpPr>
          <p:cNvPr id="38" name="Text 30"/>
          <p:cNvSpPr/>
          <p:nvPr/>
        </p:nvSpPr>
        <p:spPr>
          <a:xfrm>
            <a:off x="10261600" y="6169670"/>
            <a:ext cx="1320800" cy="345430"/>
          </a:xfrm>
          <a:prstGeom prst="rect">
            <a:avLst/>
          </a:prstGeom>
          <a:noFill/>
          <a:ln/>
        </p:spPr>
        <p:txBody>
          <a:bodyPr wrap="square" lIns="0" tIns="0" rIns="0" bIns="0" rtlCol="0" anchor="t">
            <a:normAutofit/>
          </a:bodyPr>
          <a:lstStyle/>
          <a:p>
            <a:pPr algn="r" indent="0" marL="0">
              <a:lnSpc>
                <a:spcPts val="2520"/>
              </a:lnSpc>
              <a:buNone/>
            </a:pPr>
            <a:r>
              <a:rPr lang="en-US" sz="1800" dirty="0">
                <a:solidFill>
                  <a:srgbClr val="63E14F"/>
                </a:solidFill>
                <a:latin typeface="DM Mono" pitchFamily="49" charset="0"/>
                <a:ea typeface="DM Mono" pitchFamily="49" charset="-122"/>
                <a:cs typeface="DM Mono" pitchFamily="49" charset="-120"/>
              </a:rPr>
              <a:t>[ 19 ]</a:t>
            </a:r>
            <a:endParaRPr lang="en-US" sz="1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60607"/>
        </a:solidFill>
      </p:bgPr>
    </p:bg>
    <p:spTree>
      <p:nvGrpSpPr>
        <p:cNvPr id="1" name=""/>
        <p:cNvGrpSpPr/>
        <p:nvPr/>
      </p:nvGrpSpPr>
      <p:grpSpPr>
        <a:xfrm>
          <a:off x="0" y="0"/>
          <a:ext cx="0" cy="0"/>
          <a:chOff x="0" y="0"/>
          <a:chExt cx="0" cy="0"/>
        </a:xfrm>
      </p:grpSpPr>
      <p:sp>
        <p:nvSpPr>
          <p:cNvPr id="2" name="Shape 0"/>
          <p:cNvSpPr/>
          <p:nvPr/>
        </p:nvSpPr>
        <p:spPr>
          <a:xfrm>
            <a:off x="254000" y="0"/>
            <a:ext cx="25400" cy="6858000"/>
          </a:xfrm>
          <a:prstGeom prst="rect">
            <a:avLst/>
          </a:prstGeom>
          <a:gradFill rotWithShape="1">
            <a:gsLst>
              <a:gs pos="0">
                <a:srgbClr val="FF832A"/>
              </a:gs>
              <a:gs pos="35000">
                <a:srgbClr val="FF832A"/>
              </a:gs>
              <a:gs pos="75000">
                <a:srgbClr val="63E14F"/>
              </a:gs>
              <a:gs pos="100000">
                <a:srgbClr val="63E14F"/>
              </a:gs>
            </a:gsLst>
            <a:lin ang="5400000" scaled="0"/>
          </a:gradFill>
          <a:ln/>
        </p:spPr>
      </p:sp>
      <p:sp>
        <p:nvSpPr>
          <p:cNvPr id="3" name="Text 1"/>
          <p:cNvSpPr/>
          <p:nvPr/>
        </p:nvSpPr>
        <p:spPr>
          <a:xfrm>
            <a:off x="812800" y="7112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spc="100" kern="0" dirty="0">
                <a:solidFill>
                  <a:srgbClr val="63E14F"/>
                </a:solidFill>
                <a:latin typeface="DM Mono" pitchFamily="49" charset="0"/>
                <a:ea typeface="DM Mono" pitchFamily="49" charset="-122"/>
                <a:cs typeface="DM Mono" pitchFamily="49" charset="-120"/>
              </a:rPr>
              <a:t>[ RESOLVE BEFORE HIRING: MERCENARIES ]</a:t>
            </a:r>
            <a:endParaRPr lang="en-US" sz="1400" dirty="0"/>
          </a:p>
        </p:txBody>
      </p:sp>
      <p:sp>
        <p:nvSpPr>
          <p:cNvPr id="4" name="Text 2"/>
          <p:cNvSpPr/>
          <p:nvPr>
            <p:ph type="title"/>
          </p:nvPr>
        </p:nvSpPr>
        <p:spPr>
          <a:xfrm>
            <a:off x="812800" y="121409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4F5F7"/>
                </a:solidFill>
                <a:latin typeface="Host Grotesk" pitchFamily="34" charset="0"/>
                <a:ea typeface="Host Grotesk" pitchFamily="34" charset="-122"/>
                <a:cs typeface="Host Grotesk" pitchFamily="34" charset="-120"/>
              </a:rPr>
              <a:t>Give them </a:t>
            </a:r>
            <a:r>
              <a:rPr lang="en-US" sz="3600" b="1" i="0" dirty="0">
                <a:solidFill>
                  <a:srgbClr val="63E14F"/>
                </a:solidFill>
                <a:latin typeface="Host Grotesk" pitchFamily="34" charset="0"/>
                <a:ea typeface="Host Grotesk" pitchFamily="34" charset="-122"/>
                <a:cs typeface="Host Grotesk" pitchFamily="34" charset="-120"/>
              </a:rPr>
              <a:t>some pain.</a:t>
            </a:r>
            <a:endParaRPr lang="en-US" sz="3600" dirty="0"/>
          </a:p>
        </p:txBody>
      </p:sp>
      <p:sp>
        <p:nvSpPr>
          <p:cNvPr id="5" name="Shape 3"/>
          <p:cNvSpPr/>
          <p:nvPr/>
        </p:nvSpPr>
        <p:spPr>
          <a:xfrm>
            <a:off x="819150" y="1977330"/>
            <a:ext cx="3340100" cy="2136080"/>
          </a:xfrm>
          <a:prstGeom prst="roundRect">
            <a:avLst>
              <a:gd name="adj" fmla="val 4459"/>
            </a:avLst>
          </a:prstGeom>
          <a:solidFill>
            <a:srgbClr val="1A1A1A"/>
          </a:solidFill>
          <a:ln w="12700">
            <a:solidFill>
              <a:srgbClr val="2B2B2B"/>
            </a:solidFill>
            <a:prstDash val="solid"/>
          </a:ln>
        </p:spPr>
      </p:sp>
      <p:sp>
        <p:nvSpPr>
          <p:cNvPr id="6" name="Text 4"/>
          <p:cNvSpPr/>
          <p:nvPr/>
        </p:nvSpPr>
        <p:spPr>
          <a:xfrm>
            <a:off x="1130300" y="2288480"/>
            <a:ext cx="2799334"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F832A"/>
                </a:solidFill>
                <a:latin typeface="DM Mono" pitchFamily="49" charset="0"/>
                <a:ea typeface="DM Mono" pitchFamily="49" charset="-122"/>
                <a:cs typeface="DM Mono" pitchFamily="49" charset="-120"/>
              </a:rPr>
              <a:t>CHALLENGE</a:t>
            </a:r>
            <a:endParaRPr lang="en-US" sz="1200" dirty="0"/>
          </a:p>
        </p:txBody>
      </p:sp>
      <p:sp>
        <p:nvSpPr>
          <p:cNvPr id="7" name="Text 5"/>
          <p:cNvSpPr/>
          <p:nvPr/>
        </p:nvSpPr>
        <p:spPr>
          <a:xfrm>
            <a:off x="1130300" y="2578001"/>
            <a:ext cx="2799334" cy="665460"/>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E9ECEF"/>
                </a:solidFill>
                <a:latin typeface="Host Grotesk" pitchFamily="34" charset="0"/>
                <a:ea typeface="Host Grotesk" pitchFamily="34" charset="-122"/>
                <a:cs typeface="Host Grotesk" pitchFamily="34" charset="-120"/>
              </a:rPr>
              <a:t>World View</a:t>
            </a:r>
            <a:endParaRPr lang="en-US" sz="3600" dirty="0"/>
          </a:p>
        </p:txBody>
      </p:sp>
      <p:pic>
        <p:nvPicPr>
          <p:cNvPr id="8" name="Image 0" descr="preencoded.png">    </p:cNvPr>
          <p:cNvPicPr>
            <a:picLocks noChangeAspect="1"/>
          </p:cNvPicPr>
          <p:nvPr/>
        </p:nvPicPr>
        <p:blipFill>
          <a:blip r:embed="rId1"/>
          <a:srcRect l="0" r="0" t="0" b="0"/>
          <a:stretch/>
        </p:blipFill>
        <p:spPr>
          <a:xfrm>
            <a:off x="1130300" y="3294261"/>
            <a:ext cx="508000" cy="508000"/>
          </a:xfrm>
          <a:prstGeom prst="rect">
            <a:avLst/>
          </a:prstGeom>
        </p:spPr>
      </p:pic>
      <p:sp>
        <p:nvSpPr>
          <p:cNvPr id="9" name="Shape 6"/>
          <p:cNvSpPr/>
          <p:nvPr/>
        </p:nvSpPr>
        <p:spPr>
          <a:xfrm>
            <a:off x="4425950" y="1977330"/>
            <a:ext cx="3340100" cy="2136080"/>
          </a:xfrm>
          <a:prstGeom prst="roundRect">
            <a:avLst>
              <a:gd name="adj" fmla="val 4459"/>
            </a:avLst>
          </a:prstGeom>
          <a:solidFill>
            <a:srgbClr val="1A1A1A"/>
          </a:solidFill>
          <a:ln w="12700">
            <a:solidFill>
              <a:srgbClr val="2B2B2B"/>
            </a:solidFill>
            <a:prstDash val="solid"/>
          </a:ln>
        </p:spPr>
      </p:sp>
      <p:sp>
        <p:nvSpPr>
          <p:cNvPr id="10" name="Text 7"/>
          <p:cNvSpPr/>
          <p:nvPr/>
        </p:nvSpPr>
        <p:spPr>
          <a:xfrm>
            <a:off x="4737100" y="2288480"/>
            <a:ext cx="2799334"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F832A"/>
                </a:solidFill>
                <a:latin typeface="DM Mono" pitchFamily="49" charset="0"/>
                <a:ea typeface="DM Mono" pitchFamily="49" charset="-122"/>
                <a:cs typeface="DM Mono" pitchFamily="49" charset="-120"/>
              </a:rPr>
              <a:t>MAKE IT REAL</a:t>
            </a:r>
            <a:endParaRPr lang="en-US" sz="1200" dirty="0"/>
          </a:p>
        </p:txBody>
      </p:sp>
      <p:sp>
        <p:nvSpPr>
          <p:cNvPr id="11" name="Text 8"/>
          <p:cNvSpPr/>
          <p:nvPr/>
        </p:nvSpPr>
        <p:spPr>
          <a:xfrm>
            <a:off x="4737100" y="2578001"/>
            <a:ext cx="2799334" cy="665460"/>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E9ECEF"/>
                </a:solidFill>
                <a:latin typeface="Host Grotesk" pitchFamily="34" charset="0"/>
                <a:ea typeface="Host Grotesk" pitchFamily="34" charset="-122"/>
                <a:cs typeface="Host Grotesk" pitchFamily="34" charset="-120"/>
              </a:rPr>
              <a:t>Lower Pay</a:t>
            </a:r>
            <a:endParaRPr lang="en-US" sz="3600" dirty="0"/>
          </a:p>
        </p:txBody>
      </p:sp>
      <p:pic>
        <p:nvPicPr>
          <p:cNvPr id="12" name="Image 1" descr="preencoded.png">    </p:cNvPr>
          <p:cNvPicPr>
            <a:picLocks noChangeAspect="1"/>
          </p:cNvPicPr>
          <p:nvPr/>
        </p:nvPicPr>
        <p:blipFill>
          <a:blip r:embed="rId2"/>
          <a:srcRect l="0" r="0" t="0" b="0"/>
          <a:stretch/>
        </p:blipFill>
        <p:spPr>
          <a:xfrm>
            <a:off x="4737100" y="3294261"/>
            <a:ext cx="508000" cy="508000"/>
          </a:xfrm>
          <a:prstGeom prst="rect">
            <a:avLst/>
          </a:prstGeom>
        </p:spPr>
      </p:pic>
      <p:sp>
        <p:nvSpPr>
          <p:cNvPr id="13" name="Shape 9"/>
          <p:cNvSpPr/>
          <p:nvPr/>
        </p:nvSpPr>
        <p:spPr>
          <a:xfrm>
            <a:off x="8032750" y="1977330"/>
            <a:ext cx="3340100" cy="2136080"/>
          </a:xfrm>
          <a:prstGeom prst="roundRect">
            <a:avLst>
              <a:gd name="adj" fmla="val 4459"/>
            </a:avLst>
          </a:prstGeom>
          <a:solidFill>
            <a:srgbClr val="1A1A1A"/>
          </a:solidFill>
          <a:ln w="12700">
            <a:solidFill>
              <a:srgbClr val="2B2B2B"/>
            </a:solidFill>
            <a:prstDash val="solid"/>
          </a:ln>
        </p:spPr>
      </p:sp>
      <p:sp>
        <p:nvSpPr>
          <p:cNvPr id="14" name="Text 10"/>
          <p:cNvSpPr/>
          <p:nvPr/>
        </p:nvSpPr>
        <p:spPr>
          <a:xfrm>
            <a:off x="8343900" y="2288480"/>
            <a:ext cx="2799334"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F832A"/>
                </a:solidFill>
                <a:latin typeface="DM Mono" pitchFamily="49" charset="0"/>
                <a:ea typeface="DM Mono" pitchFamily="49" charset="-122"/>
                <a:cs typeface="DM Mono" pitchFamily="49" charset="-120"/>
              </a:rPr>
              <a:t>COLD SPLASH</a:t>
            </a:r>
            <a:endParaRPr lang="en-US" sz="1200" dirty="0"/>
          </a:p>
        </p:txBody>
      </p:sp>
      <p:sp>
        <p:nvSpPr>
          <p:cNvPr id="15" name="Text 11"/>
          <p:cNvSpPr/>
          <p:nvPr/>
        </p:nvSpPr>
        <p:spPr>
          <a:xfrm>
            <a:off x="8343900" y="2578001"/>
            <a:ext cx="2799334" cy="665460"/>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E9ECEF"/>
                </a:solidFill>
                <a:latin typeface="Host Grotesk" pitchFamily="34" charset="0"/>
                <a:ea typeface="Host Grotesk" pitchFamily="34" charset="-122"/>
                <a:cs typeface="Host Grotesk" pitchFamily="34" charset="-120"/>
              </a:rPr>
              <a:t>Title Shrink</a:t>
            </a:r>
            <a:endParaRPr lang="en-US" sz="3600" dirty="0"/>
          </a:p>
        </p:txBody>
      </p:sp>
      <p:pic>
        <p:nvPicPr>
          <p:cNvPr id="16" name="Image 2" descr="preencoded.png">    </p:cNvPr>
          <p:cNvPicPr>
            <a:picLocks noChangeAspect="1"/>
          </p:cNvPicPr>
          <p:nvPr/>
        </p:nvPicPr>
        <p:blipFill>
          <a:blip r:embed="rId3"/>
          <a:srcRect l="0" r="0" t="0" b="0"/>
          <a:stretch/>
        </p:blipFill>
        <p:spPr>
          <a:xfrm>
            <a:off x="8343900" y="3294261"/>
            <a:ext cx="508000" cy="508000"/>
          </a:xfrm>
          <a:prstGeom prst="rect">
            <a:avLst/>
          </a:prstGeom>
        </p:spPr>
      </p:pic>
      <p:sp>
        <p:nvSpPr>
          <p:cNvPr id="17" name="Text 12"/>
          <p:cNvSpPr/>
          <p:nvPr/>
        </p:nvSpPr>
        <p:spPr>
          <a:xfrm>
            <a:off x="812800" y="4373761"/>
            <a:ext cx="11379200" cy="368300"/>
          </a:xfrm>
          <a:prstGeom prst="rect">
            <a:avLst/>
          </a:prstGeom>
          <a:noFill/>
          <a:ln/>
        </p:spPr>
        <p:txBody>
          <a:bodyPr wrap="square" lIns="0" tIns="0" rIns="0" bIns="0" rtlCol="0" anchor="t">
            <a:normAutofit/>
          </a:bodyPr>
          <a:lstStyle/>
          <a:p>
            <a:pPr algn="l" indent="0" marL="0">
              <a:lnSpc>
                <a:spcPts val="2700"/>
              </a:lnSpc>
              <a:buNone/>
            </a:pPr>
            <a:r>
              <a:rPr lang="en-US" sz="2000" dirty="0">
                <a:solidFill>
                  <a:srgbClr val="A3A8B0"/>
                </a:solidFill>
                <a:latin typeface="Raleway" pitchFamily="34" charset="0"/>
                <a:ea typeface="Raleway" pitchFamily="34" charset="-122"/>
                <a:cs typeface="Raleway" pitchFamily="34" charset="-120"/>
              </a:rPr>
              <a:t>How they react tells you how they think about the role. </a:t>
            </a:r>
            <a:r>
              <a:rPr lang="en-US" sz="2000" dirty="0">
                <a:solidFill>
                  <a:srgbClr val="63E14F"/>
                </a:solidFill>
                <a:latin typeface="Raleway" pitchFamily="34" charset="0"/>
                <a:ea typeface="Raleway" pitchFamily="34" charset="-122"/>
                <a:cs typeface="Raleway" pitchFamily="34" charset="-120"/>
              </a:rPr>
              <a:t>(You can always walk it back later.)</a:t>
            </a:r>
            <a:endParaRPr lang="en-US" sz="2000" dirty="0"/>
          </a:p>
        </p:txBody>
      </p:sp>
      <p:pic>
        <p:nvPicPr>
          <p:cNvPr id="18" name="Image 3" descr="Mashgin">    </p:cNvPr>
          <p:cNvPicPr>
            <a:picLocks noChangeAspect="1"/>
          </p:cNvPicPr>
          <p:nvPr/>
        </p:nvPicPr>
        <p:blipFill>
          <a:blip r:embed="rId4"/>
          <a:srcRect l="-284" r="-284" t="0" b="0"/>
          <a:stretch/>
        </p:blipFill>
        <p:spPr>
          <a:xfrm>
            <a:off x="10121900" y="406400"/>
            <a:ext cx="1460500" cy="298450"/>
          </a:xfrm>
          <a:prstGeom prst="rect">
            <a:avLst/>
          </a:prstGeom>
        </p:spPr>
      </p:pic>
      <p:sp>
        <p:nvSpPr>
          <p:cNvPr id="19" name="Text 13"/>
          <p:cNvSpPr/>
          <p:nvPr/>
        </p:nvSpPr>
        <p:spPr>
          <a:xfrm>
            <a:off x="812800" y="62382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097"/>
                </a:solidFill>
                <a:latin typeface="DM Mono" pitchFamily="49" charset="0"/>
                <a:ea typeface="DM Mono" pitchFamily="49" charset="-122"/>
                <a:cs typeface="DM Mono" pitchFamily="49" charset="-120"/>
              </a:rPr>
              <a:t>Copyright Dobromir Montauk, 2026</a:t>
            </a:r>
            <a:endParaRPr lang="en-US" sz="1200" dirty="0"/>
          </a:p>
        </p:txBody>
      </p:sp>
      <p:sp>
        <p:nvSpPr>
          <p:cNvPr id="20" name="Text 14"/>
          <p:cNvSpPr/>
          <p:nvPr/>
        </p:nvSpPr>
        <p:spPr>
          <a:xfrm>
            <a:off x="10261600" y="6169670"/>
            <a:ext cx="1320800" cy="345430"/>
          </a:xfrm>
          <a:prstGeom prst="rect">
            <a:avLst/>
          </a:prstGeom>
          <a:noFill/>
          <a:ln/>
        </p:spPr>
        <p:txBody>
          <a:bodyPr wrap="square" lIns="0" tIns="0" rIns="0" bIns="0" rtlCol="0" anchor="t">
            <a:normAutofit/>
          </a:bodyPr>
          <a:lstStyle/>
          <a:p>
            <a:pPr algn="r" indent="0" marL="0">
              <a:lnSpc>
                <a:spcPts val="2520"/>
              </a:lnSpc>
              <a:buNone/>
            </a:pPr>
            <a:r>
              <a:rPr lang="en-US" sz="1800" dirty="0">
                <a:solidFill>
                  <a:srgbClr val="63E14F"/>
                </a:solidFill>
                <a:latin typeface="DM Mono" pitchFamily="49" charset="0"/>
                <a:ea typeface="DM Mono" pitchFamily="49" charset="-122"/>
                <a:cs typeface="DM Mono" pitchFamily="49" charset="-120"/>
              </a:rPr>
              <a:t>[ 20 ]</a:t>
            </a:r>
            <a:endParaRPr lang="en-US" sz="1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60607"/>
        </a:solidFill>
      </p:bgPr>
    </p:bg>
    <p:spTree>
      <p:nvGrpSpPr>
        <p:cNvPr id="1" name=""/>
        <p:cNvGrpSpPr/>
        <p:nvPr/>
      </p:nvGrpSpPr>
      <p:grpSpPr>
        <a:xfrm>
          <a:off x="0" y="0"/>
          <a:ext cx="0" cy="0"/>
          <a:chOff x="0" y="0"/>
          <a:chExt cx="0" cy="0"/>
        </a:xfrm>
      </p:grpSpPr>
      <p:sp>
        <p:nvSpPr>
          <p:cNvPr id="2" name="Shape 0"/>
          <p:cNvSpPr/>
          <p:nvPr/>
        </p:nvSpPr>
        <p:spPr>
          <a:xfrm>
            <a:off x="254000" y="0"/>
            <a:ext cx="25400" cy="6858000"/>
          </a:xfrm>
          <a:prstGeom prst="rect">
            <a:avLst/>
          </a:prstGeom>
          <a:gradFill rotWithShape="1">
            <a:gsLst>
              <a:gs pos="0">
                <a:srgbClr val="FF832A"/>
              </a:gs>
              <a:gs pos="35000">
                <a:srgbClr val="FF832A"/>
              </a:gs>
              <a:gs pos="75000">
                <a:srgbClr val="63E14F"/>
              </a:gs>
              <a:gs pos="100000">
                <a:srgbClr val="63E14F"/>
              </a:gs>
            </a:gsLst>
            <a:lin ang="5400000" scaled="0"/>
          </a:gradFill>
          <a:ln/>
        </p:spPr>
      </p:sp>
      <p:sp>
        <p:nvSpPr>
          <p:cNvPr id="3" name="Text 1"/>
          <p:cNvSpPr/>
          <p:nvPr/>
        </p:nvSpPr>
        <p:spPr>
          <a:xfrm>
            <a:off x="812800" y="7112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spc="100" kern="0" dirty="0">
                <a:solidFill>
                  <a:srgbClr val="63E14F"/>
                </a:solidFill>
                <a:latin typeface="DM Mono" pitchFamily="49" charset="0"/>
                <a:ea typeface="DM Mono" pitchFamily="49" charset="-122"/>
                <a:cs typeface="DM Mono" pitchFamily="49" charset="-120"/>
              </a:rPr>
              <a:t>[ RESOLVE BEFORE HIRING: B PLAYERS ]</a:t>
            </a:r>
            <a:endParaRPr lang="en-US" sz="1400" dirty="0"/>
          </a:p>
        </p:txBody>
      </p:sp>
      <p:sp>
        <p:nvSpPr>
          <p:cNvPr id="4" name="Text 2"/>
          <p:cNvSpPr/>
          <p:nvPr>
            <p:ph type="title"/>
          </p:nvPr>
        </p:nvSpPr>
        <p:spPr>
          <a:xfrm>
            <a:off x="812800" y="121409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4F5F7"/>
                </a:solidFill>
                <a:latin typeface="Host Grotesk" pitchFamily="34" charset="0"/>
                <a:ea typeface="Host Grotesk" pitchFamily="34" charset="-122"/>
                <a:cs typeface="Host Grotesk" pitchFamily="34" charset="-120"/>
              </a:rPr>
              <a:t>Was it THEM, or </a:t>
            </a:r>
            <a:r>
              <a:rPr lang="en-US" sz="3600" b="1" i="0" dirty="0">
                <a:solidFill>
                  <a:srgbClr val="63E14F"/>
                </a:solidFill>
                <a:latin typeface="Host Grotesk" pitchFamily="34" charset="0"/>
                <a:ea typeface="Host Grotesk" pitchFamily="34" charset="-122"/>
                <a:cs typeface="Host Grotesk" pitchFamily="34" charset="-120"/>
              </a:rPr>
              <a:t>their environment?</a:t>
            </a:r>
            <a:endParaRPr lang="en-US" sz="3600" dirty="0"/>
          </a:p>
        </p:txBody>
      </p:sp>
      <p:sp>
        <p:nvSpPr>
          <p:cNvPr id="5" name="Shape 3"/>
          <p:cNvSpPr/>
          <p:nvPr/>
        </p:nvSpPr>
        <p:spPr>
          <a:xfrm>
            <a:off x="819150" y="1977330"/>
            <a:ext cx="3340100" cy="2613620"/>
          </a:xfrm>
          <a:prstGeom prst="roundRect">
            <a:avLst>
              <a:gd name="adj" fmla="val 3644"/>
            </a:avLst>
          </a:prstGeom>
          <a:solidFill>
            <a:srgbClr val="1A1A1A"/>
          </a:solidFill>
          <a:ln w="12700">
            <a:solidFill>
              <a:srgbClr val="2B2B2B"/>
            </a:solidFill>
            <a:prstDash val="solid"/>
          </a:ln>
        </p:spPr>
      </p:sp>
      <p:sp>
        <p:nvSpPr>
          <p:cNvPr id="6" name="Text 4"/>
          <p:cNvSpPr/>
          <p:nvPr/>
        </p:nvSpPr>
        <p:spPr>
          <a:xfrm>
            <a:off x="1130300" y="2288480"/>
            <a:ext cx="2799334"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F832A"/>
                </a:solidFill>
                <a:latin typeface="DM Mono" pitchFamily="49" charset="0"/>
                <a:ea typeface="DM Mono" pitchFamily="49" charset="-122"/>
                <a:cs typeface="DM Mono" pitchFamily="49" charset="-120"/>
              </a:rPr>
              <a:t>RE-INTERVIEW</a:t>
            </a:r>
            <a:endParaRPr lang="en-US" sz="1200" dirty="0"/>
          </a:p>
        </p:txBody>
      </p:sp>
      <p:sp>
        <p:nvSpPr>
          <p:cNvPr id="7" name="Text 5"/>
          <p:cNvSpPr/>
          <p:nvPr/>
        </p:nvSpPr>
        <p:spPr>
          <a:xfrm>
            <a:off x="1130300" y="2578001"/>
            <a:ext cx="2799334" cy="825500"/>
          </a:xfrm>
          <a:prstGeom prst="rect">
            <a:avLst/>
          </a:prstGeom>
          <a:noFill/>
          <a:ln/>
        </p:spPr>
        <p:txBody>
          <a:bodyPr wrap="square" lIns="0" tIns="0" rIns="0" bIns="0" rtlCol="0" anchor="t">
            <a:normAutofit/>
          </a:bodyPr>
          <a:lstStyle/>
          <a:p>
            <a:pPr algn="l" indent="0" marL="0">
              <a:lnSpc>
                <a:spcPts val="3150"/>
              </a:lnSpc>
              <a:buNone/>
            </a:pPr>
            <a:r>
              <a:rPr lang="en-US" sz="3000" b="1" dirty="0">
                <a:solidFill>
                  <a:srgbClr val="E9ECEF"/>
                </a:solidFill>
                <a:latin typeface="Host Grotesk" pitchFamily="34" charset="0"/>
                <a:ea typeface="Host Grotesk" pitchFamily="34" charset="-122"/>
                <a:cs typeface="Host Grotesk" pitchFamily="34" charset="-120"/>
              </a:rPr>
              <a:t>Missed Strengths</a:t>
            </a:r>
            <a:endParaRPr lang="en-US" sz="3000" dirty="0"/>
          </a:p>
        </p:txBody>
      </p:sp>
      <p:pic>
        <p:nvPicPr>
          <p:cNvPr id="8" name="Image 0" descr="preencoded.png">    </p:cNvPr>
          <p:cNvPicPr>
            <a:picLocks noChangeAspect="1"/>
          </p:cNvPicPr>
          <p:nvPr/>
        </p:nvPicPr>
        <p:blipFill>
          <a:blip r:embed="rId1"/>
          <a:srcRect l="0" r="0" t="0" b="0"/>
          <a:stretch/>
        </p:blipFill>
        <p:spPr>
          <a:xfrm>
            <a:off x="1130300" y="3454301"/>
            <a:ext cx="990600" cy="825500"/>
          </a:xfrm>
          <a:prstGeom prst="rect">
            <a:avLst/>
          </a:prstGeom>
        </p:spPr>
      </p:pic>
      <p:sp>
        <p:nvSpPr>
          <p:cNvPr id="9" name="Shape 6"/>
          <p:cNvSpPr/>
          <p:nvPr/>
        </p:nvSpPr>
        <p:spPr>
          <a:xfrm>
            <a:off x="4425950" y="1977330"/>
            <a:ext cx="3340100" cy="2613620"/>
          </a:xfrm>
          <a:prstGeom prst="roundRect">
            <a:avLst>
              <a:gd name="adj" fmla="val 3644"/>
            </a:avLst>
          </a:prstGeom>
          <a:solidFill>
            <a:srgbClr val="1A1A1A"/>
          </a:solidFill>
          <a:ln w="12700">
            <a:solidFill>
              <a:srgbClr val="2B2B2B"/>
            </a:solidFill>
            <a:prstDash val="solid"/>
          </a:ln>
        </p:spPr>
      </p:sp>
      <p:sp>
        <p:nvSpPr>
          <p:cNvPr id="10" name="Text 7"/>
          <p:cNvSpPr/>
          <p:nvPr/>
        </p:nvSpPr>
        <p:spPr>
          <a:xfrm>
            <a:off x="4737100" y="2288480"/>
            <a:ext cx="2799334"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F832A"/>
                </a:solidFill>
                <a:latin typeface="DM Mono" pitchFamily="49" charset="0"/>
                <a:ea typeface="DM Mono" pitchFamily="49" charset="-122"/>
                <a:cs typeface="DM Mono" pitchFamily="49" charset="-120"/>
              </a:rPr>
              <a:t>LACKED OPPORTUNITY</a:t>
            </a:r>
            <a:endParaRPr lang="en-US" sz="1200" dirty="0"/>
          </a:p>
        </p:txBody>
      </p:sp>
      <p:sp>
        <p:nvSpPr>
          <p:cNvPr id="11" name="Text 8"/>
          <p:cNvSpPr/>
          <p:nvPr/>
        </p:nvSpPr>
        <p:spPr>
          <a:xfrm>
            <a:off x="4737100" y="2578001"/>
            <a:ext cx="2799334" cy="825500"/>
          </a:xfrm>
          <a:prstGeom prst="rect">
            <a:avLst/>
          </a:prstGeom>
          <a:noFill/>
          <a:ln/>
        </p:spPr>
        <p:txBody>
          <a:bodyPr wrap="square" lIns="0" tIns="0" rIns="0" bIns="0" rtlCol="0" anchor="t">
            <a:normAutofit/>
          </a:bodyPr>
          <a:lstStyle/>
          <a:p>
            <a:pPr algn="l" indent="0" marL="0">
              <a:lnSpc>
                <a:spcPts val="3150"/>
              </a:lnSpc>
              <a:buNone/>
            </a:pPr>
            <a:r>
              <a:rPr lang="en-US" sz="3000" b="1" dirty="0">
                <a:solidFill>
                  <a:srgbClr val="E9ECEF"/>
                </a:solidFill>
                <a:latin typeface="Host Grotesk" pitchFamily="34" charset="0"/>
                <a:ea typeface="Host Grotesk" pitchFamily="34" charset="-122"/>
                <a:cs typeface="Host Grotesk" pitchFamily="34" charset="-120"/>
              </a:rPr>
              <a:t>Challenging Onboarding</a:t>
            </a:r>
            <a:endParaRPr lang="en-US" sz="3000" dirty="0"/>
          </a:p>
        </p:txBody>
      </p:sp>
      <p:pic>
        <p:nvPicPr>
          <p:cNvPr id="12" name="Image 1" descr="preencoded.png">    </p:cNvPr>
          <p:cNvPicPr>
            <a:picLocks noChangeAspect="1"/>
          </p:cNvPicPr>
          <p:nvPr/>
        </p:nvPicPr>
        <p:blipFill>
          <a:blip r:embed="rId2"/>
          <a:srcRect l="0" r="0" t="0" b="0"/>
          <a:stretch/>
        </p:blipFill>
        <p:spPr>
          <a:xfrm>
            <a:off x="4737100" y="3454301"/>
            <a:ext cx="990600" cy="825500"/>
          </a:xfrm>
          <a:prstGeom prst="rect">
            <a:avLst/>
          </a:prstGeom>
        </p:spPr>
      </p:pic>
      <p:sp>
        <p:nvSpPr>
          <p:cNvPr id="13" name="Shape 9"/>
          <p:cNvSpPr/>
          <p:nvPr/>
        </p:nvSpPr>
        <p:spPr>
          <a:xfrm>
            <a:off x="8032750" y="1977330"/>
            <a:ext cx="3340100" cy="2613620"/>
          </a:xfrm>
          <a:prstGeom prst="roundRect">
            <a:avLst>
              <a:gd name="adj" fmla="val 3644"/>
            </a:avLst>
          </a:prstGeom>
          <a:solidFill>
            <a:srgbClr val="1A1A1A"/>
          </a:solidFill>
          <a:ln w="12700">
            <a:solidFill>
              <a:srgbClr val="2B2B2B"/>
            </a:solidFill>
            <a:prstDash val="solid"/>
          </a:ln>
        </p:spPr>
      </p:sp>
      <p:sp>
        <p:nvSpPr>
          <p:cNvPr id="14" name="Text 10"/>
          <p:cNvSpPr/>
          <p:nvPr/>
        </p:nvSpPr>
        <p:spPr>
          <a:xfrm>
            <a:off x="8343900" y="2288480"/>
            <a:ext cx="2799334"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F832A"/>
                </a:solidFill>
                <a:latin typeface="DM Mono" pitchFamily="49" charset="0"/>
                <a:ea typeface="DM Mono" pitchFamily="49" charset="-122"/>
                <a:cs typeface="DM Mono" pitchFamily="49" charset="-120"/>
              </a:rPr>
              <a:t>WRONG MENTORSHIP</a:t>
            </a:r>
            <a:endParaRPr lang="en-US" sz="1200" dirty="0"/>
          </a:p>
        </p:txBody>
      </p:sp>
      <p:sp>
        <p:nvSpPr>
          <p:cNvPr id="15" name="Text 11"/>
          <p:cNvSpPr/>
          <p:nvPr/>
        </p:nvSpPr>
        <p:spPr>
          <a:xfrm>
            <a:off x="8343900" y="2578001"/>
            <a:ext cx="2799334" cy="825500"/>
          </a:xfrm>
          <a:prstGeom prst="rect">
            <a:avLst/>
          </a:prstGeom>
          <a:noFill/>
          <a:ln/>
        </p:spPr>
        <p:txBody>
          <a:bodyPr wrap="square" lIns="0" tIns="0" rIns="0" bIns="0" rtlCol="0" anchor="t">
            <a:normAutofit/>
          </a:bodyPr>
          <a:lstStyle/>
          <a:p>
            <a:pPr algn="l" indent="0" marL="0">
              <a:lnSpc>
                <a:spcPts val="3150"/>
              </a:lnSpc>
              <a:buNone/>
            </a:pPr>
            <a:r>
              <a:rPr lang="en-US" sz="3000" b="1" dirty="0">
                <a:solidFill>
                  <a:srgbClr val="E9ECEF"/>
                </a:solidFill>
                <a:latin typeface="Host Grotesk" pitchFamily="34" charset="0"/>
                <a:ea typeface="Host Grotesk" pitchFamily="34" charset="-122"/>
                <a:cs typeface="Host Grotesk" pitchFamily="34" charset="-120"/>
              </a:rPr>
              <a:t>Pair with Your Best</a:t>
            </a:r>
            <a:endParaRPr lang="en-US" sz="3000" dirty="0"/>
          </a:p>
        </p:txBody>
      </p:sp>
      <p:pic>
        <p:nvPicPr>
          <p:cNvPr id="16" name="Image 2" descr="preencoded.png">    </p:cNvPr>
          <p:cNvPicPr>
            <a:picLocks noChangeAspect="1"/>
          </p:cNvPicPr>
          <p:nvPr/>
        </p:nvPicPr>
        <p:blipFill>
          <a:blip r:embed="rId3"/>
          <a:srcRect l="0" r="0" t="0" b="0"/>
          <a:stretch/>
        </p:blipFill>
        <p:spPr>
          <a:xfrm>
            <a:off x="8343900" y="3454301"/>
            <a:ext cx="990600" cy="825500"/>
          </a:xfrm>
          <a:prstGeom prst="rect">
            <a:avLst/>
          </a:prstGeom>
        </p:spPr>
      </p:pic>
      <p:sp>
        <p:nvSpPr>
          <p:cNvPr id="17" name="Text 12"/>
          <p:cNvSpPr/>
          <p:nvPr/>
        </p:nvSpPr>
        <p:spPr>
          <a:xfrm>
            <a:off x="812800" y="4851301"/>
            <a:ext cx="10883392" cy="368300"/>
          </a:xfrm>
          <a:prstGeom prst="rect">
            <a:avLst/>
          </a:prstGeom>
          <a:noFill/>
          <a:ln/>
        </p:spPr>
        <p:txBody>
          <a:bodyPr wrap="square" lIns="0" tIns="0" rIns="0" bIns="0" rtlCol="0" anchor="t">
            <a:normAutofit/>
          </a:bodyPr>
          <a:lstStyle/>
          <a:p>
            <a:pPr algn="l" indent="0" marL="0">
              <a:lnSpc>
                <a:spcPts val="2700"/>
              </a:lnSpc>
              <a:buNone/>
            </a:pPr>
            <a:r>
              <a:rPr lang="en-US" sz="2000" dirty="0">
                <a:solidFill>
                  <a:srgbClr val="A3A8B0"/>
                </a:solidFill>
                <a:latin typeface="Raleway" pitchFamily="34" charset="0"/>
                <a:ea typeface="Raleway" pitchFamily="34" charset="-122"/>
                <a:cs typeface="Raleway" pitchFamily="34" charset="-120"/>
              </a:rPr>
              <a:t>A B on paper can be opportunity and coaching, </a:t>
            </a:r>
            <a:r>
              <a:rPr lang="en-US" sz="2000" dirty="0">
                <a:solidFill>
                  <a:srgbClr val="63E14F"/>
                </a:solidFill>
                <a:latin typeface="Raleway" pitchFamily="34" charset="0"/>
                <a:ea typeface="Raleway" pitchFamily="34" charset="-122"/>
                <a:cs typeface="Raleway" pitchFamily="34" charset="-120"/>
              </a:rPr>
              <a:t>not ability.</a:t>
            </a:r>
            <a:endParaRPr lang="en-US" sz="2000" dirty="0"/>
          </a:p>
        </p:txBody>
      </p:sp>
      <p:pic>
        <p:nvPicPr>
          <p:cNvPr id="18" name="Image 3" descr="Mashgin">    </p:cNvPr>
          <p:cNvPicPr>
            <a:picLocks noChangeAspect="1"/>
          </p:cNvPicPr>
          <p:nvPr/>
        </p:nvPicPr>
        <p:blipFill>
          <a:blip r:embed="rId4"/>
          <a:srcRect l="-284" r="-284" t="0" b="0"/>
          <a:stretch/>
        </p:blipFill>
        <p:spPr>
          <a:xfrm>
            <a:off x="10121900" y="406400"/>
            <a:ext cx="1460500" cy="298450"/>
          </a:xfrm>
          <a:prstGeom prst="rect">
            <a:avLst/>
          </a:prstGeom>
        </p:spPr>
      </p:pic>
      <p:sp>
        <p:nvSpPr>
          <p:cNvPr id="19" name="Text 13"/>
          <p:cNvSpPr/>
          <p:nvPr/>
        </p:nvSpPr>
        <p:spPr>
          <a:xfrm>
            <a:off x="812800" y="62382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097"/>
                </a:solidFill>
                <a:latin typeface="DM Mono" pitchFamily="49" charset="0"/>
                <a:ea typeface="DM Mono" pitchFamily="49" charset="-122"/>
                <a:cs typeface="DM Mono" pitchFamily="49" charset="-120"/>
              </a:rPr>
              <a:t>Copyright Dobromir Montauk, 2026</a:t>
            </a:r>
            <a:endParaRPr lang="en-US" sz="1200" dirty="0"/>
          </a:p>
        </p:txBody>
      </p:sp>
      <p:sp>
        <p:nvSpPr>
          <p:cNvPr id="20" name="Text 14"/>
          <p:cNvSpPr/>
          <p:nvPr/>
        </p:nvSpPr>
        <p:spPr>
          <a:xfrm>
            <a:off x="10261600" y="6169670"/>
            <a:ext cx="1320800" cy="345430"/>
          </a:xfrm>
          <a:prstGeom prst="rect">
            <a:avLst/>
          </a:prstGeom>
          <a:noFill/>
          <a:ln/>
        </p:spPr>
        <p:txBody>
          <a:bodyPr wrap="square" lIns="0" tIns="0" rIns="0" bIns="0" rtlCol="0" anchor="t">
            <a:normAutofit/>
          </a:bodyPr>
          <a:lstStyle/>
          <a:p>
            <a:pPr algn="r" indent="0" marL="0">
              <a:lnSpc>
                <a:spcPts val="2520"/>
              </a:lnSpc>
              <a:buNone/>
            </a:pPr>
            <a:r>
              <a:rPr lang="en-US" sz="1800" dirty="0">
                <a:solidFill>
                  <a:srgbClr val="63E14F"/>
                </a:solidFill>
                <a:latin typeface="DM Mono" pitchFamily="49" charset="0"/>
                <a:ea typeface="DM Mono" pitchFamily="49" charset="-122"/>
                <a:cs typeface="DM Mono" pitchFamily="49" charset="-120"/>
              </a:rPr>
              <a:t>[ 21 ]</a:t>
            </a:r>
            <a:endParaRPr lang="en-US" sz="1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60607"/>
        </a:solidFill>
      </p:bgPr>
    </p:bg>
    <p:spTree>
      <p:nvGrpSpPr>
        <p:cNvPr id="1" name=""/>
        <p:cNvGrpSpPr/>
        <p:nvPr/>
      </p:nvGrpSpPr>
      <p:grpSpPr>
        <a:xfrm>
          <a:off x="0" y="0"/>
          <a:ext cx="0" cy="0"/>
          <a:chOff x="0" y="0"/>
          <a:chExt cx="0" cy="0"/>
        </a:xfrm>
      </p:grpSpPr>
      <p:sp>
        <p:nvSpPr>
          <p:cNvPr id="2" name="Shape 0"/>
          <p:cNvSpPr/>
          <p:nvPr/>
        </p:nvSpPr>
        <p:spPr>
          <a:xfrm>
            <a:off x="254000" y="0"/>
            <a:ext cx="25400" cy="6858000"/>
          </a:xfrm>
          <a:prstGeom prst="rect">
            <a:avLst/>
          </a:prstGeom>
          <a:gradFill rotWithShape="1">
            <a:gsLst>
              <a:gs pos="0">
                <a:srgbClr val="FF832A"/>
              </a:gs>
              <a:gs pos="35000">
                <a:srgbClr val="FF832A"/>
              </a:gs>
              <a:gs pos="75000">
                <a:srgbClr val="63E14F"/>
              </a:gs>
              <a:gs pos="100000">
                <a:srgbClr val="63E14F"/>
              </a:gs>
            </a:gsLst>
            <a:lin ang="5400000" scaled="0"/>
          </a:gradFill>
          <a:ln/>
        </p:spPr>
      </p:sp>
      <p:sp>
        <p:nvSpPr>
          <p:cNvPr id="3" name="Text 1"/>
          <p:cNvSpPr/>
          <p:nvPr/>
        </p:nvSpPr>
        <p:spPr>
          <a:xfrm>
            <a:off x="812800" y="7112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spc="100" kern="0" dirty="0">
                <a:solidFill>
                  <a:srgbClr val="63E14F"/>
                </a:solidFill>
                <a:latin typeface="DM Mono" pitchFamily="49" charset="0"/>
                <a:ea typeface="DM Mono" pitchFamily="49" charset="-122"/>
                <a:cs typeface="DM Mono" pitchFamily="49" charset="-120"/>
              </a:rPr>
              <a:t>[ RESOLVE BEFORE HIRING: B PLAYERS ]</a:t>
            </a:r>
            <a:endParaRPr lang="en-US" sz="1400" dirty="0"/>
          </a:p>
        </p:txBody>
      </p:sp>
      <p:sp>
        <p:nvSpPr>
          <p:cNvPr id="4" name="Text 2"/>
          <p:cNvSpPr/>
          <p:nvPr>
            <p:ph type="title"/>
          </p:nvPr>
        </p:nvSpPr>
        <p:spPr>
          <a:xfrm>
            <a:off x="812800" y="121409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4F5F7"/>
                </a:solidFill>
                <a:latin typeface="Host Grotesk" pitchFamily="34" charset="0"/>
                <a:ea typeface="Host Grotesk" pitchFamily="34" charset="-122"/>
                <a:cs typeface="Host Grotesk" pitchFamily="34" charset="-120"/>
              </a:rPr>
              <a:t>Grit + intelligence: </a:t>
            </a:r>
            <a:r>
              <a:rPr lang="en-US" sz="3600" b="1" i="0" dirty="0">
                <a:solidFill>
                  <a:srgbClr val="63E14F"/>
                </a:solidFill>
                <a:latin typeface="Host Grotesk" pitchFamily="34" charset="0"/>
                <a:ea typeface="Host Grotesk" pitchFamily="34" charset="-122"/>
                <a:cs typeface="Host Grotesk" pitchFamily="34" charset="-120"/>
              </a:rPr>
              <a:t>watch the slope.</a:t>
            </a:r>
            <a:endParaRPr lang="en-US" sz="3600" dirty="0"/>
          </a:p>
        </p:txBody>
      </p:sp>
      <p:pic>
        <p:nvPicPr>
          <p:cNvPr id="5" name="Image 0" descr="preencoded.png">    </p:cNvPr>
          <p:cNvPicPr>
            <a:picLocks noChangeAspect="1"/>
          </p:cNvPicPr>
          <p:nvPr/>
        </p:nvPicPr>
        <p:blipFill>
          <a:blip r:embed="rId1"/>
          <a:srcRect l="0" r="0" t="0" b="0"/>
          <a:stretch/>
        </p:blipFill>
        <p:spPr>
          <a:xfrm>
            <a:off x="812800" y="1970980"/>
            <a:ext cx="6350000" cy="3302000"/>
          </a:xfrm>
          <a:prstGeom prst="rect">
            <a:avLst/>
          </a:prstGeom>
        </p:spPr>
      </p:pic>
      <p:sp>
        <p:nvSpPr>
          <p:cNvPr id="6" name="Shape 3"/>
          <p:cNvSpPr/>
          <p:nvPr/>
        </p:nvSpPr>
        <p:spPr>
          <a:xfrm>
            <a:off x="7524750" y="2445048"/>
            <a:ext cx="3848100" cy="965795"/>
          </a:xfrm>
          <a:prstGeom prst="roundRect">
            <a:avLst>
              <a:gd name="adj" fmla="val 9862"/>
            </a:avLst>
          </a:prstGeom>
          <a:solidFill>
            <a:srgbClr val="1A1A1A"/>
          </a:solidFill>
          <a:ln w="12700">
            <a:solidFill>
              <a:srgbClr val="2B2B2B"/>
            </a:solidFill>
            <a:prstDash val="solid"/>
          </a:ln>
        </p:spPr>
      </p:sp>
      <p:sp>
        <p:nvSpPr>
          <p:cNvPr id="7" name="Text 4"/>
          <p:cNvSpPr/>
          <p:nvPr/>
        </p:nvSpPr>
        <p:spPr>
          <a:xfrm>
            <a:off x="7734300" y="2654598"/>
            <a:ext cx="353187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3E14F"/>
                </a:solidFill>
                <a:latin typeface="DM Mono" pitchFamily="49" charset="0"/>
                <a:ea typeface="DM Mono" pitchFamily="49" charset="-122"/>
                <a:cs typeface="DM Mono" pitchFamily="49" charset="-120"/>
              </a:rPr>
              <a:t>A PLAYER</a:t>
            </a:r>
            <a:endParaRPr lang="en-US" sz="1200" dirty="0"/>
          </a:p>
        </p:txBody>
      </p:sp>
      <p:sp>
        <p:nvSpPr>
          <p:cNvPr id="8" name="Text 5"/>
          <p:cNvSpPr/>
          <p:nvPr/>
        </p:nvSpPr>
        <p:spPr>
          <a:xfrm>
            <a:off x="7734300" y="2944118"/>
            <a:ext cx="3531870"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E9ECEF"/>
                </a:solidFill>
                <a:latin typeface="Raleway" pitchFamily="34" charset="0"/>
                <a:ea typeface="Raleway" pitchFamily="34" charset="-122"/>
                <a:cs typeface="Raleway" pitchFamily="34" charset="-120"/>
              </a:rPr>
              <a:t>Adjusts fast.</a:t>
            </a:r>
            <a:endParaRPr lang="en-US" sz="1500" dirty="0"/>
          </a:p>
        </p:txBody>
      </p:sp>
      <p:sp>
        <p:nvSpPr>
          <p:cNvPr id="9" name="Shape 6"/>
          <p:cNvSpPr/>
          <p:nvPr/>
        </p:nvSpPr>
        <p:spPr>
          <a:xfrm>
            <a:off x="7524750" y="3575943"/>
            <a:ext cx="3848100" cy="1222970"/>
          </a:xfrm>
          <a:prstGeom prst="roundRect">
            <a:avLst>
              <a:gd name="adj" fmla="val 7788"/>
            </a:avLst>
          </a:prstGeom>
          <a:solidFill>
            <a:srgbClr val="1A1A1A"/>
          </a:solidFill>
          <a:ln w="12700">
            <a:solidFill>
              <a:srgbClr val="2B2B2B"/>
            </a:solidFill>
            <a:prstDash val="solid"/>
          </a:ln>
        </p:spPr>
      </p:sp>
      <p:sp>
        <p:nvSpPr>
          <p:cNvPr id="10" name="Text 7"/>
          <p:cNvSpPr/>
          <p:nvPr/>
        </p:nvSpPr>
        <p:spPr>
          <a:xfrm>
            <a:off x="7734300" y="3785493"/>
            <a:ext cx="353187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F832A"/>
                </a:solidFill>
                <a:latin typeface="DM Mono" pitchFamily="49" charset="0"/>
                <a:ea typeface="DM Mono" pitchFamily="49" charset="-122"/>
                <a:cs typeface="DM Mono" pitchFamily="49" charset="-120"/>
              </a:rPr>
              <a:t>B PLAYER</a:t>
            </a:r>
            <a:endParaRPr lang="en-US" sz="1200" dirty="0"/>
          </a:p>
        </p:txBody>
      </p:sp>
      <p:sp>
        <p:nvSpPr>
          <p:cNvPr id="11" name="Text 8"/>
          <p:cNvSpPr/>
          <p:nvPr/>
        </p:nvSpPr>
        <p:spPr>
          <a:xfrm>
            <a:off x="7734300" y="4075013"/>
            <a:ext cx="3531870"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E9ECEF"/>
                </a:solidFill>
                <a:latin typeface="Raleway" pitchFamily="34" charset="0"/>
                <a:ea typeface="Raleway" pitchFamily="34" charset="-122"/>
                <a:cs typeface="Raleway" pitchFamily="34" charset="-120"/>
              </a:rPr>
              <a:t>Never pushed themselves. No change by day 90.</a:t>
            </a:r>
            <a:endParaRPr lang="en-US" sz="1500" dirty="0"/>
          </a:p>
        </p:txBody>
      </p:sp>
      <p:pic>
        <p:nvPicPr>
          <p:cNvPr id="12" name="Image 1" descr="Mashgin">    </p:cNvPr>
          <p:cNvPicPr>
            <a:picLocks noChangeAspect="1"/>
          </p:cNvPicPr>
          <p:nvPr/>
        </p:nvPicPr>
        <p:blipFill>
          <a:blip r:embed="rId2"/>
          <a:srcRect l="-284" r="-284" t="0" b="0"/>
          <a:stretch/>
        </p:blipFill>
        <p:spPr>
          <a:xfrm>
            <a:off x="10121900" y="406400"/>
            <a:ext cx="1460500" cy="298450"/>
          </a:xfrm>
          <a:prstGeom prst="rect">
            <a:avLst/>
          </a:prstGeom>
        </p:spPr>
      </p:pic>
      <p:sp>
        <p:nvSpPr>
          <p:cNvPr id="13" name="Text 9"/>
          <p:cNvSpPr/>
          <p:nvPr/>
        </p:nvSpPr>
        <p:spPr>
          <a:xfrm>
            <a:off x="812800" y="62382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097"/>
                </a:solidFill>
                <a:latin typeface="DM Mono" pitchFamily="49" charset="0"/>
                <a:ea typeface="DM Mono" pitchFamily="49" charset="-122"/>
                <a:cs typeface="DM Mono" pitchFamily="49" charset="-120"/>
              </a:rPr>
              <a:t>Copyright Dobromir Montauk, 2026</a:t>
            </a:r>
            <a:endParaRPr lang="en-US" sz="1200" dirty="0"/>
          </a:p>
        </p:txBody>
      </p:sp>
      <p:sp>
        <p:nvSpPr>
          <p:cNvPr id="14" name="Text 10"/>
          <p:cNvSpPr/>
          <p:nvPr/>
        </p:nvSpPr>
        <p:spPr>
          <a:xfrm>
            <a:off x="10261600" y="6169670"/>
            <a:ext cx="1320800" cy="345430"/>
          </a:xfrm>
          <a:prstGeom prst="rect">
            <a:avLst/>
          </a:prstGeom>
          <a:noFill/>
          <a:ln/>
        </p:spPr>
        <p:txBody>
          <a:bodyPr wrap="square" lIns="0" tIns="0" rIns="0" bIns="0" rtlCol="0" anchor="t">
            <a:normAutofit/>
          </a:bodyPr>
          <a:lstStyle/>
          <a:p>
            <a:pPr algn="r" indent="0" marL="0">
              <a:lnSpc>
                <a:spcPts val="2520"/>
              </a:lnSpc>
              <a:buNone/>
            </a:pPr>
            <a:r>
              <a:rPr lang="en-US" sz="1800" dirty="0">
                <a:solidFill>
                  <a:srgbClr val="63E14F"/>
                </a:solidFill>
                <a:latin typeface="DM Mono" pitchFamily="49" charset="0"/>
                <a:ea typeface="DM Mono" pitchFamily="49" charset="-122"/>
                <a:cs typeface="DM Mono" pitchFamily="49" charset="-120"/>
              </a:rPr>
              <a:t>[ 22 ]</a:t>
            </a:r>
            <a:endParaRPr lang="en-US" sz="1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60607"/>
        </a:solidFill>
      </p:bgPr>
    </p:bg>
    <p:spTree>
      <p:nvGrpSpPr>
        <p:cNvPr id="1" name=""/>
        <p:cNvGrpSpPr/>
        <p:nvPr/>
      </p:nvGrpSpPr>
      <p:grpSpPr>
        <a:xfrm>
          <a:off x="0" y="0"/>
          <a:ext cx="0" cy="0"/>
          <a:chOff x="0" y="0"/>
          <a:chExt cx="0" cy="0"/>
        </a:xfrm>
      </p:grpSpPr>
      <p:sp>
        <p:nvSpPr>
          <p:cNvPr id="2" name="Shape 0"/>
          <p:cNvSpPr/>
          <p:nvPr/>
        </p:nvSpPr>
        <p:spPr>
          <a:xfrm>
            <a:off x="254000" y="0"/>
            <a:ext cx="25400" cy="6858000"/>
          </a:xfrm>
          <a:prstGeom prst="rect">
            <a:avLst/>
          </a:prstGeom>
          <a:gradFill rotWithShape="1">
            <a:gsLst>
              <a:gs pos="0">
                <a:srgbClr val="FF832A"/>
              </a:gs>
              <a:gs pos="35000">
                <a:srgbClr val="FF832A"/>
              </a:gs>
              <a:gs pos="75000">
                <a:srgbClr val="63E14F"/>
              </a:gs>
              <a:gs pos="100000">
                <a:srgbClr val="63E14F"/>
              </a:gs>
            </a:gsLst>
            <a:lin ang="5400000" scaled="0"/>
          </a:gradFill>
          <a:ln/>
        </p:spPr>
      </p:sp>
      <p:sp>
        <p:nvSpPr>
          <p:cNvPr id="3" name="Text 1"/>
          <p:cNvSpPr/>
          <p:nvPr/>
        </p:nvSpPr>
        <p:spPr>
          <a:xfrm>
            <a:off x="812800" y="225301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spc="100" kern="0" dirty="0">
                <a:solidFill>
                  <a:srgbClr val="63E14F"/>
                </a:solidFill>
                <a:latin typeface="DM Mono" pitchFamily="49" charset="0"/>
                <a:ea typeface="DM Mono" pitchFamily="49" charset="-122"/>
                <a:cs typeface="DM Mono" pitchFamily="49" charset="-120"/>
              </a:rPr>
              <a:t>[ SO HOW DO WE RUN IT? ]</a:t>
            </a:r>
            <a:endParaRPr lang="en-US" sz="1400" dirty="0"/>
          </a:p>
        </p:txBody>
      </p:sp>
      <p:sp>
        <p:nvSpPr>
          <p:cNvPr id="4" name="Text 2"/>
          <p:cNvSpPr/>
          <p:nvPr/>
        </p:nvSpPr>
        <p:spPr>
          <a:xfrm>
            <a:off x="812800" y="2806700"/>
            <a:ext cx="10883392" cy="1518841"/>
          </a:xfrm>
          <a:prstGeom prst="rect">
            <a:avLst/>
          </a:prstGeom>
          <a:noFill/>
          <a:ln/>
        </p:spPr>
        <p:txBody>
          <a:bodyPr wrap="square" lIns="0" tIns="0" rIns="0" bIns="0" rtlCol="0" anchor="t">
            <a:normAutofit/>
          </a:bodyPr>
          <a:lstStyle/>
          <a:p>
            <a:pPr algn="l" indent="0" marL="0">
              <a:lnSpc>
                <a:spcPts val="5880"/>
              </a:lnSpc>
              <a:buNone/>
            </a:pPr>
            <a:r>
              <a:rPr lang="en-US" sz="5600" b="1" dirty="0">
                <a:solidFill>
                  <a:srgbClr val="F4F5F7"/>
                </a:solidFill>
                <a:latin typeface="Host Grotesk" pitchFamily="34" charset="0"/>
                <a:ea typeface="Host Grotesk" pitchFamily="34" charset="-122"/>
                <a:cs typeface="Host Grotesk" pitchFamily="34" charset="-120"/>
              </a:rPr>
              <a:t>Candidates see the process.</a:t>
            </a:r>
            <a:endParaRPr lang="en-US" sz="5600" dirty="0"/>
          </a:p>
          <a:p>
            <a:pPr algn="l" indent="0" marL="0">
              <a:lnSpc>
                <a:spcPts val="5880"/>
              </a:lnSpc>
              <a:buNone/>
            </a:pPr>
            <a:r>
              <a:rPr lang="en-US" sz="5600" b="1" dirty="0">
                <a:solidFill>
                  <a:srgbClr val="63E14F"/>
                </a:solidFill>
                <a:latin typeface="Host Grotesk" pitchFamily="34" charset="0"/>
                <a:ea typeface="Host Grotesk" pitchFamily="34" charset="-122"/>
                <a:cs typeface="Host Grotesk" pitchFamily="34" charset="-120"/>
              </a:rPr>
              <a:t>But they judge the culture.</a:t>
            </a:r>
            <a:endParaRPr lang="en-US" sz="5600" dirty="0"/>
          </a:p>
        </p:txBody>
      </p:sp>
      <p:pic>
        <p:nvPicPr>
          <p:cNvPr id="5" name="Image 0" descr="Mashgin">    </p:cNvPr>
          <p:cNvPicPr>
            <a:picLocks noChangeAspect="1"/>
          </p:cNvPicPr>
          <p:nvPr/>
        </p:nvPicPr>
        <p:blipFill>
          <a:blip r:embed="rId1"/>
          <a:srcRect l="-284" r="-284" t="0" b="0"/>
          <a:stretch/>
        </p:blipFill>
        <p:spPr>
          <a:xfrm>
            <a:off x="10121900" y="406400"/>
            <a:ext cx="1460500" cy="298450"/>
          </a:xfrm>
          <a:prstGeom prst="rect">
            <a:avLst/>
          </a:prstGeom>
        </p:spPr>
      </p:pic>
      <p:sp>
        <p:nvSpPr>
          <p:cNvPr id="6" name="Text 3"/>
          <p:cNvSpPr/>
          <p:nvPr/>
        </p:nvSpPr>
        <p:spPr>
          <a:xfrm>
            <a:off x="812800" y="62382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097"/>
                </a:solidFill>
                <a:latin typeface="DM Mono" pitchFamily="49" charset="0"/>
                <a:ea typeface="DM Mono" pitchFamily="49" charset="-122"/>
                <a:cs typeface="DM Mono" pitchFamily="49" charset="-120"/>
              </a:rPr>
              <a:t>Copyright Dobromir Montauk, 2026</a:t>
            </a:r>
            <a:endParaRPr lang="en-US" sz="1200" dirty="0"/>
          </a:p>
        </p:txBody>
      </p:sp>
      <p:sp>
        <p:nvSpPr>
          <p:cNvPr id="7" name="Text 4"/>
          <p:cNvSpPr/>
          <p:nvPr/>
        </p:nvSpPr>
        <p:spPr>
          <a:xfrm>
            <a:off x="10261600" y="6169670"/>
            <a:ext cx="1320800" cy="345430"/>
          </a:xfrm>
          <a:prstGeom prst="rect">
            <a:avLst/>
          </a:prstGeom>
          <a:noFill/>
          <a:ln/>
        </p:spPr>
        <p:txBody>
          <a:bodyPr wrap="square" lIns="0" tIns="0" rIns="0" bIns="0" rtlCol="0" anchor="t">
            <a:normAutofit/>
          </a:bodyPr>
          <a:lstStyle/>
          <a:p>
            <a:pPr algn="r" indent="0" marL="0">
              <a:lnSpc>
                <a:spcPts val="2520"/>
              </a:lnSpc>
              <a:buNone/>
            </a:pPr>
            <a:r>
              <a:rPr lang="en-US" sz="1800" dirty="0">
                <a:solidFill>
                  <a:srgbClr val="63E14F"/>
                </a:solidFill>
                <a:latin typeface="DM Mono" pitchFamily="49" charset="0"/>
                <a:ea typeface="DM Mono" pitchFamily="49" charset="-122"/>
                <a:cs typeface="DM Mono" pitchFamily="49" charset="-120"/>
              </a:rPr>
              <a:t>[ 23 ]</a:t>
            </a:r>
            <a:endParaRPr lang="en-US" sz="1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60607"/>
        </a:solidFill>
      </p:bgPr>
    </p:bg>
    <p:spTree>
      <p:nvGrpSpPr>
        <p:cNvPr id="1" name=""/>
        <p:cNvGrpSpPr/>
        <p:nvPr/>
      </p:nvGrpSpPr>
      <p:grpSpPr>
        <a:xfrm>
          <a:off x="0" y="0"/>
          <a:ext cx="0" cy="0"/>
          <a:chOff x="0" y="0"/>
          <a:chExt cx="0" cy="0"/>
        </a:xfrm>
      </p:grpSpPr>
      <p:sp>
        <p:nvSpPr>
          <p:cNvPr id="2" name="Shape 0"/>
          <p:cNvSpPr/>
          <p:nvPr/>
        </p:nvSpPr>
        <p:spPr>
          <a:xfrm>
            <a:off x="254000" y="0"/>
            <a:ext cx="25400" cy="6858000"/>
          </a:xfrm>
          <a:prstGeom prst="rect">
            <a:avLst/>
          </a:prstGeom>
          <a:gradFill rotWithShape="1">
            <a:gsLst>
              <a:gs pos="0">
                <a:srgbClr val="FF832A"/>
              </a:gs>
              <a:gs pos="35000">
                <a:srgbClr val="FF832A"/>
              </a:gs>
              <a:gs pos="75000">
                <a:srgbClr val="63E14F"/>
              </a:gs>
              <a:gs pos="100000">
                <a:srgbClr val="63E14F"/>
              </a:gs>
            </a:gsLst>
            <a:lin ang="5400000" scaled="0"/>
          </a:gradFill>
          <a:ln/>
        </p:spPr>
      </p:sp>
      <p:pic>
        <p:nvPicPr>
          <p:cNvPr id="3" name="Image 0" descr="Mashgin">    </p:cNvPr>
          <p:cNvPicPr>
            <a:picLocks noChangeAspect="1"/>
          </p:cNvPicPr>
          <p:nvPr/>
        </p:nvPicPr>
        <p:blipFill>
          <a:blip r:embed="rId1"/>
          <a:srcRect l="-284" r="-284" t="0" b="0"/>
          <a:stretch/>
        </p:blipFill>
        <p:spPr>
          <a:xfrm>
            <a:off x="10121900" y="406400"/>
            <a:ext cx="1460500" cy="298450"/>
          </a:xfrm>
          <a:prstGeom prst="rect">
            <a:avLst/>
          </a:prstGeom>
        </p:spPr>
      </p:pic>
      <p:sp>
        <p:nvSpPr>
          <p:cNvPr id="4" name="Text 1"/>
          <p:cNvSpPr/>
          <p:nvPr/>
        </p:nvSpPr>
        <p:spPr>
          <a:xfrm>
            <a:off x="812800" y="62382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097"/>
                </a:solidFill>
                <a:latin typeface="DM Mono" pitchFamily="49" charset="0"/>
                <a:ea typeface="DM Mono" pitchFamily="49" charset="-122"/>
                <a:cs typeface="DM Mono" pitchFamily="49" charset="-120"/>
              </a:rPr>
              <a:t>Copyright Dobromir Montauk, 2026</a:t>
            </a:r>
            <a:endParaRPr lang="en-US" sz="1200" dirty="0"/>
          </a:p>
        </p:txBody>
      </p:sp>
      <p:sp>
        <p:nvSpPr>
          <p:cNvPr id="5" name="Text 2"/>
          <p:cNvSpPr/>
          <p:nvPr/>
        </p:nvSpPr>
        <p:spPr>
          <a:xfrm>
            <a:off x="10261600" y="6169670"/>
            <a:ext cx="1320800" cy="345430"/>
          </a:xfrm>
          <a:prstGeom prst="rect">
            <a:avLst/>
          </a:prstGeom>
          <a:noFill/>
          <a:ln/>
        </p:spPr>
        <p:txBody>
          <a:bodyPr wrap="square" lIns="0" tIns="0" rIns="0" bIns="0" rtlCol="0" anchor="t">
            <a:normAutofit/>
          </a:bodyPr>
          <a:lstStyle/>
          <a:p>
            <a:pPr algn="r" indent="0" marL="0">
              <a:lnSpc>
                <a:spcPts val="2520"/>
              </a:lnSpc>
              <a:buNone/>
            </a:pPr>
            <a:r>
              <a:rPr lang="en-US" sz="1800" dirty="0">
                <a:solidFill>
                  <a:srgbClr val="63E14F"/>
                </a:solidFill>
                <a:latin typeface="DM Mono" pitchFamily="49" charset="0"/>
                <a:ea typeface="DM Mono" pitchFamily="49" charset="-122"/>
                <a:cs typeface="DM Mono" pitchFamily="49" charset="-120"/>
              </a:rPr>
              <a:t>[ 24 ]</a:t>
            </a:r>
            <a:endParaRPr lang="en-US" sz="1800" dirty="0"/>
          </a:p>
        </p:txBody>
      </p:sp>
      <p:sp>
        <p:nvSpPr>
          <p:cNvPr id="6" name="Text 3"/>
          <p:cNvSpPr/>
          <p:nvPr/>
        </p:nvSpPr>
        <p:spPr>
          <a:xfrm>
            <a:off x="812800" y="7112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spc="100" kern="0" dirty="0">
                <a:solidFill>
                  <a:srgbClr val="63E14F"/>
                </a:solidFill>
                <a:latin typeface="DM Mono" pitchFamily="49" charset="0"/>
                <a:ea typeface="DM Mono" pitchFamily="49" charset="-122"/>
                <a:cs typeface="DM Mono" pitchFamily="49" charset="-120"/>
              </a:rPr>
              <a:t>[ THE PROCESS IS OUR CULTURE · 1 ]</a:t>
            </a:r>
            <a:endParaRPr lang="en-US" sz="1400" dirty="0"/>
          </a:p>
        </p:txBody>
      </p:sp>
      <p:sp>
        <p:nvSpPr>
          <p:cNvPr id="7" name="Text 4"/>
          <p:cNvSpPr/>
          <p:nvPr>
            <p:ph type="title"/>
          </p:nvPr>
        </p:nvSpPr>
        <p:spPr>
          <a:xfrm>
            <a:off x="812800" y="121285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4F5F7"/>
                </a:solidFill>
                <a:latin typeface="Host Grotesk" pitchFamily="34" charset="0"/>
                <a:ea typeface="Host Grotesk" pitchFamily="34" charset="-122"/>
                <a:cs typeface="Host Grotesk" pitchFamily="34" charset="-120"/>
              </a:rPr>
              <a:t>Startup </a:t>
            </a:r>
            <a:r>
              <a:rPr lang="en-US" sz="3600" b="1" i="0" dirty="0">
                <a:solidFill>
                  <a:srgbClr val="63E14F"/>
                </a:solidFill>
                <a:latin typeface="Host Grotesk" pitchFamily="34" charset="0"/>
                <a:ea typeface="Host Grotesk" pitchFamily="34" charset="-122"/>
                <a:cs typeface="Host Grotesk" pitchFamily="34" charset="-120"/>
              </a:rPr>
              <a:t>vibes.</a:t>
            </a:r>
            <a:endParaRPr lang="en-US" sz="3600" dirty="0"/>
          </a:p>
        </p:txBody>
      </p:sp>
      <p:sp>
        <p:nvSpPr>
          <p:cNvPr id="8" name="Shape 5"/>
          <p:cNvSpPr/>
          <p:nvPr/>
        </p:nvSpPr>
        <p:spPr>
          <a:xfrm>
            <a:off x="819150" y="2165350"/>
            <a:ext cx="3373934" cy="3416300"/>
          </a:xfrm>
          <a:prstGeom prst="roundRect">
            <a:avLst>
              <a:gd name="adj" fmla="val 2823"/>
            </a:avLst>
          </a:prstGeom>
          <a:solidFill>
            <a:srgbClr val="1A1A1A"/>
          </a:solidFill>
          <a:ln w="12700">
            <a:solidFill>
              <a:srgbClr val="2B2B2B"/>
            </a:solidFill>
            <a:prstDash val="solid"/>
          </a:ln>
        </p:spPr>
      </p:sp>
      <p:sp>
        <p:nvSpPr>
          <p:cNvPr id="9" name="Text 6"/>
          <p:cNvSpPr/>
          <p:nvPr/>
        </p:nvSpPr>
        <p:spPr>
          <a:xfrm>
            <a:off x="1256437" y="2527300"/>
            <a:ext cx="2499360" cy="238720"/>
          </a:xfrm>
          <a:prstGeom prst="rect">
            <a:avLst/>
          </a:prstGeom>
          <a:noFill/>
          <a:ln/>
        </p:spPr>
        <p:txBody>
          <a:bodyPr wrap="square" lIns="0" tIns="0" rIns="0" bIns="0" rtlCol="0" anchor="t">
            <a:normAutofit/>
          </a:bodyPr>
          <a:lstStyle/>
          <a:p>
            <a:pPr algn="ctr" indent="0" marL="0">
              <a:lnSpc>
                <a:spcPts val="1680"/>
              </a:lnSpc>
              <a:buNone/>
            </a:pPr>
            <a:r>
              <a:rPr lang="en-US" sz="1200" spc="100" kern="0" dirty="0">
                <a:solidFill>
                  <a:srgbClr val="63E14F"/>
                </a:solidFill>
                <a:latin typeface="DM Mono" pitchFamily="49" charset="0"/>
                <a:ea typeface="DM Mono" pitchFamily="49" charset="-122"/>
                <a:cs typeface="DM Mono" pitchFamily="49" charset="-120"/>
              </a:rPr>
              <a:t>MOVE SLOW, THEN FAST</a:t>
            </a:r>
            <a:endParaRPr lang="en-US" sz="1200" dirty="0"/>
          </a:p>
        </p:txBody>
      </p:sp>
      <p:pic>
        <p:nvPicPr>
          <p:cNvPr id="10" name="Image 1" descr="A snail with a rocket strapped to its shell">    </p:cNvPr>
          <p:cNvPicPr>
            <a:picLocks noChangeAspect="1"/>
          </p:cNvPicPr>
          <p:nvPr/>
        </p:nvPicPr>
        <p:blipFill>
          <a:blip r:embed="rId2"/>
          <a:srcRect l="0" r="0" t="0" b="0"/>
          <a:stretch/>
        </p:blipFill>
        <p:spPr>
          <a:xfrm>
            <a:off x="1744117" y="2918420"/>
            <a:ext cx="1524000" cy="1079500"/>
          </a:xfrm>
          <a:prstGeom prst="rect">
            <a:avLst/>
          </a:prstGeom>
        </p:spPr>
      </p:pic>
      <p:sp>
        <p:nvSpPr>
          <p:cNvPr id="11" name="Text 7"/>
          <p:cNvSpPr/>
          <p:nvPr/>
        </p:nvSpPr>
        <p:spPr>
          <a:xfrm>
            <a:off x="1036701" y="4175720"/>
            <a:ext cx="2938831" cy="573980"/>
          </a:xfrm>
          <a:prstGeom prst="rect">
            <a:avLst/>
          </a:prstGeom>
          <a:noFill/>
          <a:ln/>
        </p:spPr>
        <p:txBody>
          <a:bodyPr wrap="square" lIns="0" tIns="0" rIns="0" bIns="0" rtlCol="0" anchor="t">
            <a:normAutofit/>
          </a:bodyPr>
          <a:lstStyle/>
          <a:p>
            <a:pPr algn="ctr" indent="0" marL="0">
              <a:lnSpc>
                <a:spcPts val="2160"/>
              </a:lnSpc>
              <a:buNone/>
            </a:pPr>
            <a:r>
              <a:rPr lang="en-US" sz="1600" dirty="0">
                <a:solidFill>
                  <a:srgbClr val="63E14F"/>
                </a:solidFill>
                <a:latin typeface="Raleway" pitchFamily="34" charset="0"/>
                <a:ea typeface="Raleway" pitchFamily="34" charset="-122"/>
                <a:cs typeface="Raleway" pitchFamily="34" charset="-120"/>
              </a:rPr>
              <a:t>“Where are you in </a:t>
            </a:r>
            <a:r>
              <a:rPr lang="en-US" sz="1600" b="1" dirty="0">
                <a:solidFill>
                  <a:srgbClr val="63E14F"/>
                </a:solidFill>
                <a:latin typeface="Raleway" pitchFamily="34" charset="0"/>
                <a:ea typeface="Raleway" pitchFamily="34" charset="-122"/>
                <a:cs typeface="Raleway" pitchFamily="34" charset="-120"/>
              </a:rPr>
              <a:t>YOUR</a:t>
            </a:r>
            <a:r>
              <a:rPr lang="en-US" sz="1600" dirty="0">
                <a:solidFill>
                  <a:srgbClr val="63E14F"/>
                </a:solidFill>
                <a:latin typeface="Raleway" pitchFamily="34" charset="0"/>
                <a:ea typeface="Raleway" pitchFamily="34" charset="-122"/>
                <a:cs typeface="Raleway" pitchFamily="34" charset="-120"/>
              </a:rPr>
              <a:t> process?”</a:t>
            </a:r>
            <a:endParaRPr lang="en-US" sz="1600" dirty="0"/>
          </a:p>
        </p:txBody>
      </p:sp>
      <p:sp>
        <p:nvSpPr>
          <p:cNvPr id="12" name="Shape 8"/>
          <p:cNvSpPr/>
          <p:nvPr/>
        </p:nvSpPr>
        <p:spPr>
          <a:xfrm>
            <a:off x="4408984" y="2165350"/>
            <a:ext cx="3373983" cy="3416300"/>
          </a:xfrm>
          <a:prstGeom prst="roundRect">
            <a:avLst>
              <a:gd name="adj" fmla="val 2823"/>
            </a:avLst>
          </a:prstGeom>
          <a:solidFill>
            <a:srgbClr val="1A1A1A"/>
          </a:solidFill>
          <a:ln w="12700">
            <a:solidFill>
              <a:srgbClr val="2B2B2B"/>
            </a:solidFill>
            <a:prstDash val="solid"/>
          </a:ln>
        </p:spPr>
      </p:sp>
      <p:sp>
        <p:nvSpPr>
          <p:cNvPr id="13" name="Text 9"/>
          <p:cNvSpPr/>
          <p:nvPr/>
        </p:nvSpPr>
        <p:spPr>
          <a:xfrm>
            <a:off x="5158690" y="2527300"/>
            <a:ext cx="1874520" cy="238720"/>
          </a:xfrm>
          <a:prstGeom prst="rect">
            <a:avLst/>
          </a:prstGeom>
          <a:noFill/>
          <a:ln/>
        </p:spPr>
        <p:txBody>
          <a:bodyPr wrap="square" lIns="0" tIns="0" rIns="0" bIns="0" rtlCol="0" anchor="t">
            <a:normAutofit/>
          </a:bodyPr>
          <a:lstStyle/>
          <a:p>
            <a:pPr algn="ctr" indent="0" marL="0">
              <a:lnSpc>
                <a:spcPts val="1680"/>
              </a:lnSpc>
              <a:buNone/>
            </a:pPr>
            <a:r>
              <a:rPr lang="en-US" sz="1200" spc="100" kern="0" dirty="0">
                <a:solidFill>
                  <a:srgbClr val="63E14F"/>
                </a:solidFill>
                <a:latin typeface="DM Mono" pitchFamily="49" charset="0"/>
                <a:ea typeface="DM Mono" pitchFamily="49" charset="-122"/>
                <a:cs typeface="DM Mono" pitchFamily="49" charset="-120"/>
              </a:rPr>
              <a:t>MISSIONARY ZEEL</a:t>
            </a:r>
            <a:endParaRPr lang="en-US" sz="1200" dirty="0"/>
          </a:p>
        </p:txBody>
      </p:sp>
      <p:pic>
        <p:nvPicPr>
          <p:cNvPr id="14" name="Image 2" descr="A blazing torch">    </p:cNvPr>
          <p:cNvPicPr>
            <a:picLocks noChangeAspect="1"/>
          </p:cNvPicPr>
          <p:nvPr/>
        </p:nvPicPr>
        <p:blipFill>
          <a:blip r:embed="rId3"/>
          <a:srcRect l="0" r="0" t="0" b="0"/>
          <a:stretch/>
        </p:blipFill>
        <p:spPr>
          <a:xfrm>
            <a:off x="5333950" y="2918420"/>
            <a:ext cx="1524000" cy="1079500"/>
          </a:xfrm>
          <a:prstGeom prst="rect">
            <a:avLst/>
          </a:prstGeom>
        </p:spPr>
      </p:pic>
      <p:sp>
        <p:nvSpPr>
          <p:cNvPr id="15" name="Text 10"/>
          <p:cNvSpPr/>
          <p:nvPr/>
        </p:nvSpPr>
        <p:spPr>
          <a:xfrm>
            <a:off x="4626534" y="4175720"/>
            <a:ext cx="2938882" cy="573980"/>
          </a:xfrm>
          <a:prstGeom prst="rect">
            <a:avLst/>
          </a:prstGeom>
          <a:noFill/>
          <a:ln/>
        </p:spPr>
        <p:txBody>
          <a:bodyPr wrap="square" lIns="0" tIns="0" rIns="0" bIns="0" rtlCol="0" anchor="t">
            <a:normAutofit/>
          </a:bodyPr>
          <a:lstStyle/>
          <a:p>
            <a:pPr algn="ctr" indent="0" marL="0">
              <a:lnSpc>
                <a:spcPts val="2160"/>
              </a:lnSpc>
              <a:buNone/>
            </a:pPr>
            <a:r>
              <a:rPr lang="en-US" sz="1600" dirty="0">
                <a:solidFill>
                  <a:srgbClr val="63E14F"/>
                </a:solidFill>
                <a:latin typeface="Raleway" pitchFamily="34" charset="0"/>
                <a:ea typeface="Raleway" pitchFamily="34" charset="-122"/>
                <a:cs typeface="Raleway" pitchFamily="34" charset="-120"/>
              </a:rPr>
              <a:t>“What do you need to commit?”</a:t>
            </a:r>
            <a:endParaRPr lang="en-US" sz="1600" dirty="0"/>
          </a:p>
        </p:txBody>
      </p:sp>
      <p:sp>
        <p:nvSpPr>
          <p:cNvPr id="16" name="Shape 11"/>
          <p:cNvSpPr/>
          <p:nvPr/>
        </p:nvSpPr>
        <p:spPr>
          <a:xfrm>
            <a:off x="7998867" y="2165350"/>
            <a:ext cx="3373983" cy="3416300"/>
          </a:xfrm>
          <a:prstGeom prst="roundRect">
            <a:avLst>
              <a:gd name="adj" fmla="val 2823"/>
            </a:avLst>
          </a:prstGeom>
          <a:solidFill>
            <a:srgbClr val="1A1A1A"/>
          </a:solidFill>
          <a:ln w="12700">
            <a:solidFill>
              <a:srgbClr val="2B2B2B"/>
            </a:solidFill>
            <a:prstDash val="solid"/>
          </a:ln>
        </p:spPr>
      </p:sp>
      <p:sp>
        <p:nvSpPr>
          <p:cNvPr id="17" name="Text 12"/>
          <p:cNvSpPr/>
          <p:nvPr/>
        </p:nvSpPr>
        <p:spPr>
          <a:xfrm>
            <a:off x="8498656" y="2527300"/>
            <a:ext cx="2374404" cy="238720"/>
          </a:xfrm>
          <a:prstGeom prst="rect">
            <a:avLst/>
          </a:prstGeom>
          <a:noFill/>
          <a:ln/>
        </p:spPr>
        <p:txBody>
          <a:bodyPr wrap="square" lIns="0" tIns="0" rIns="0" bIns="0" rtlCol="0" anchor="t">
            <a:normAutofit/>
          </a:bodyPr>
          <a:lstStyle/>
          <a:p>
            <a:pPr algn="ctr" indent="0" marL="0">
              <a:lnSpc>
                <a:spcPts val="1680"/>
              </a:lnSpc>
              <a:buNone/>
            </a:pPr>
            <a:r>
              <a:rPr lang="en-US" sz="1200" spc="100" kern="0" dirty="0">
                <a:solidFill>
                  <a:srgbClr val="63E14F"/>
                </a:solidFill>
                <a:latin typeface="DM Mono" pitchFamily="49" charset="0"/>
                <a:ea typeface="DM Mono" pitchFamily="49" charset="-122"/>
                <a:cs typeface="DM Mono" pitchFamily="49" charset="-120"/>
              </a:rPr>
              <a:t>NO PRESSURE SELLING</a:t>
            </a:r>
            <a:endParaRPr lang="en-US" sz="1200" dirty="0"/>
          </a:p>
        </p:txBody>
      </p:sp>
      <p:pic>
        <p:nvPicPr>
          <p:cNvPr id="18" name="Image 3" descr="A figure relaxing in a hammock under the sun">    </p:cNvPr>
          <p:cNvPicPr>
            <a:picLocks noChangeAspect="1"/>
          </p:cNvPicPr>
          <p:nvPr/>
        </p:nvPicPr>
        <p:blipFill>
          <a:blip r:embed="rId4"/>
          <a:srcRect l="0" r="0" t="0" b="0"/>
          <a:stretch/>
        </p:blipFill>
        <p:spPr>
          <a:xfrm>
            <a:off x="8923834" y="2918420"/>
            <a:ext cx="1524000" cy="1079500"/>
          </a:xfrm>
          <a:prstGeom prst="rect">
            <a:avLst/>
          </a:prstGeom>
        </p:spPr>
      </p:pic>
      <p:sp>
        <p:nvSpPr>
          <p:cNvPr id="19" name="Text 13"/>
          <p:cNvSpPr/>
          <p:nvPr/>
        </p:nvSpPr>
        <p:spPr>
          <a:xfrm>
            <a:off x="8216418" y="4175720"/>
            <a:ext cx="2938882" cy="1122561"/>
          </a:xfrm>
          <a:prstGeom prst="rect">
            <a:avLst/>
          </a:prstGeom>
          <a:noFill/>
          <a:ln/>
        </p:spPr>
        <p:txBody>
          <a:bodyPr wrap="square" lIns="0" tIns="0" rIns="0" bIns="0" rtlCol="0" anchor="t">
            <a:normAutofit/>
          </a:bodyPr>
          <a:lstStyle/>
          <a:p>
            <a:pPr algn="ctr" indent="0" marL="0">
              <a:lnSpc>
                <a:spcPts val="2160"/>
              </a:lnSpc>
              <a:buNone/>
            </a:pPr>
            <a:r>
              <a:rPr lang="en-US" sz="1600" dirty="0">
                <a:solidFill>
                  <a:srgbClr val="63E14F"/>
                </a:solidFill>
                <a:latin typeface="Raleway" pitchFamily="34" charset="0"/>
                <a:ea typeface="Raleway" pitchFamily="34" charset="-122"/>
                <a:cs typeface="Raleway" pitchFamily="34" charset="-120"/>
              </a:rPr>
              <a:t>“This is an important decision for you — and us. Take the weekend and let us know Monday.”</a:t>
            </a:r>
            <a:endParaRPr lang="en-US" sz="16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60607"/>
        </a:solidFill>
      </p:bgPr>
    </p:bg>
    <p:spTree>
      <p:nvGrpSpPr>
        <p:cNvPr id="1" name=""/>
        <p:cNvGrpSpPr/>
        <p:nvPr/>
      </p:nvGrpSpPr>
      <p:grpSpPr>
        <a:xfrm>
          <a:off x="0" y="0"/>
          <a:ext cx="0" cy="0"/>
          <a:chOff x="0" y="0"/>
          <a:chExt cx="0" cy="0"/>
        </a:xfrm>
      </p:grpSpPr>
      <p:sp>
        <p:nvSpPr>
          <p:cNvPr id="2" name="Shape 0"/>
          <p:cNvSpPr/>
          <p:nvPr/>
        </p:nvSpPr>
        <p:spPr>
          <a:xfrm>
            <a:off x="254000" y="0"/>
            <a:ext cx="25400" cy="6858000"/>
          </a:xfrm>
          <a:prstGeom prst="rect">
            <a:avLst/>
          </a:prstGeom>
          <a:gradFill rotWithShape="1">
            <a:gsLst>
              <a:gs pos="0">
                <a:srgbClr val="FF832A"/>
              </a:gs>
              <a:gs pos="35000">
                <a:srgbClr val="FF832A"/>
              </a:gs>
              <a:gs pos="75000">
                <a:srgbClr val="63E14F"/>
              </a:gs>
              <a:gs pos="100000">
                <a:srgbClr val="63E14F"/>
              </a:gs>
            </a:gsLst>
            <a:lin ang="5400000" scaled="0"/>
          </a:gradFill>
          <a:ln/>
        </p:spPr>
      </p:sp>
      <p:sp>
        <p:nvSpPr>
          <p:cNvPr id="3" name="Text 1"/>
          <p:cNvSpPr/>
          <p:nvPr/>
        </p:nvSpPr>
        <p:spPr>
          <a:xfrm>
            <a:off x="812800" y="7112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spc="100" kern="0" dirty="0">
                <a:solidFill>
                  <a:srgbClr val="63E14F"/>
                </a:solidFill>
                <a:latin typeface="DM Mono" pitchFamily="49" charset="0"/>
                <a:ea typeface="DM Mono" pitchFamily="49" charset="-122"/>
                <a:cs typeface="DM Mono" pitchFamily="49" charset="-120"/>
              </a:rPr>
              <a:t>[ THE PROCESS IS OUR CULTURE · 2 ]</a:t>
            </a:r>
            <a:endParaRPr lang="en-US" sz="1400" dirty="0"/>
          </a:p>
        </p:txBody>
      </p:sp>
      <p:sp>
        <p:nvSpPr>
          <p:cNvPr id="4" name="Text 2"/>
          <p:cNvSpPr/>
          <p:nvPr>
            <p:ph type="title"/>
          </p:nvPr>
        </p:nvSpPr>
        <p:spPr>
          <a:xfrm>
            <a:off x="812800" y="1214090"/>
            <a:ext cx="10883392" cy="103118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4F5F7"/>
                </a:solidFill>
                <a:latin typeface="Host Grotesk" pitchFamily="34" charset="0"/>
                <a:ea typeface="Host Grotesk" pitchFamily="34" charset="-122"/>
                <a:cs typeface="Host Grotesk" pitchFamily="34" charset="-120"/>
              </a:rPr>
              <a:t>Two people.</a:t>
            </a:r>
            <a:endParaRPr lang="en-US" sz="3600" dirty="0"/>
          </a:p>
          <a:p>
            <a:pPr algn="l" indent="0" marL="0">
              <a:lnSpc>
                <a:spcPts val="3960"/>
              </a:lnSpc>
              <a:buNone/>
            </a:pPr>
            <a:r>
              <a:rPr lang="en-US" sz="3600" b="1" i="0" dirty="0">
                <a:solidFill>
                  <a:srgbClr val="63E14F"/>
                </a:solidFill>
                <a:latin typeface="Host Grotesk" pitchFamily="34" charset="0"/>
                <a:ea typeface="Host Grotesk" pitchFamily="34" charset="-122"/>
                <a:cs typeface="Host Grotesk" pitchFamily="34" charset="-120"/>
              </a:rPr>
              <a:t>A conversation, not a grilling.</a:t>
            </a:r>
            <a:endParaRPr lang="en-US" sz="3600" dirty="0"/>
          </a:p>
        </p:txBody>
      </p:sp>
      <p:sp>
        <p:nvSpPr>
          <p:cNvPr id="5" name="Shape 3"/>
          <p:cNvSpPr/>
          <p:nvPr/>
        </p:nvSpPr>
        <p:spPr>
          <a:xfrm>
            <a:off x="819150" y="2480221"/>
            <a:ext cx="5143500" cy="3320405"/>
          </a:xfrm>
          <a:prstGeom prst="roundRect">
            <a:avLst>
              <a:gd name="adj" fmla="val 2869"/>
            </a:avLst>
          </a:prstGeom>
          <a:solidFill>
            <a:srgbClr val="1A1A1A"/>
          </a:solidFill>
          <a:ln w="12700">
            <a:solidFill>
              <a:srgbClr val="2B2B2B"/>
            </a:solidFill>
            <a:prstDash val="solid"/>
          </a:ln>
        </p:spPr>
      </p:sp>
      <p:sp>
        <p:nvSpPr>
          <p:cNvPr id="6" name="Text 4"/>
          <p:cNvSpPr/>
          <p:nvPr/>
        </p:nvSpPr>
        <p:spPr>
          <a:xfrm>
            <a:off x="1010158" y="2740571"/>
            <a:ext cx="4761484" cy="256530"/>
          </a:xfrm>
          <a:prstGeom prst="rect">
            <a:avLst/>
          </a:prstGeom>
          <a:noFill/>
          <a:ln/>
        </p:spPr>
        <p:txBody>
          <a:bodyPr wrap="square" lIns="0" tIns="0" rIns="0" bIns="0" rtlCol="0" anchor="t">
            <a:normAutofit/>
          </a:bodyPr>
          <a:lstStyle/>
          <a:p>
            <a:pPr algn="ctr" indent="0" marL="0">
              <a:lnSpc>
                <a:spcPts val="1820"/>
              </a:lnSpc>
              <a:buNone/>
            </a:pPr>
            <a:r>
              <a:rPr lang="en-US" sz="1300" spc="100" kern="0" dirty="0">
                <a:solidFill>
                  <a:srgbClr val="FF832A"/>
                </a:solidFill>
                <a:latin typeface="DM Mono" pitchFamily="49" charset="0"/>
                <a:ea typeface="DM Mono" pitchFamily="49" charset="-122"/>
                <a:cs typeface="DM Mono" pitchFamily="49" charset="-120"/>
              </a:rPr>
              <a:t>GRILLING</a:t>
            </a:r>
            <a:endParaRPr lang="en-US" sz="1300" dirty="0"/>
          </a:p>
        </p:txBody>
      </p:sp>
      <p:pic>
        <p:nvPicPr>
          <p:cNvPr id="7" name="Image 0" descr="Two interviewers firing questions at one candidate">    </p:cNvPr>
          <p:cNvPicPr>
            <a:picLocks noChangeAspect="1"/>
          </p:cNvPicPr>
          <p:nvPr/>
        </p:nvPicPr>
        <p:blipFill>
          <a:blip r:embed="rId1"/>
          <a:srcRect l="0" r="0" t="0" b="0"/>
          <a:stretch/>
        </p:blipFill>
        <p:spPr>
          <a:xfrm>
            <a:off x="1739900" y="3047901"/>
            <a:ext cx="3302000" cy="2159000"/>
          </a:xfrm>
          <a:prstGeom prst="rect">
            <a:avLst/>
          </a:prstGeom>
        </p:spPr>
      </p:pic>
      <p:sp>
        <p:nvSpPr>
          <p:cNvPr id="8" name="Text 5"/>
          <p:cNvSpPr/>
          <p:nvPr/>
        </p:nvSpPr>
        <p:spPr>
          <a:xfrm>
            <a:off x="1010158" y="5283101"/>
            <a:ext cx="4761484" cy="282575"/>
          </a:xfrm>
          <a:prstGeom prst="rect">
            <a:avLst/>
          </a:prstGeom>
          <a:noFill/>
          <a:ln/>
        </p:spPr>
        <p:txBody>
          <a:bodyPr wrap="square" lIns="0" tIns="0" rIns="0" bIns="0" rtlCol="0" anchor="t">
            <a:normAutofit/>
          </a:bodyPr>
          <a:lstStyle/>
          <a:p>
            <a:pPr algn="ctr" indent="0" marL="0">
              <a:lnSpc>
                <a:spcPts val="2025"/>
              </a:lnSpc>
              <a:buNone/>
            </a:pPr>
            <a:r>
              <a:rPr lang="en-US" sz="1500" dirty="0">
                <a:solidFill>
                  <a:srgbClr val="A3A8B0"/>
                </a:solidFill>
                <a:latin typeface="Raleway" pitchFamily="34" charset="0"/>
                <a:ea typeface="Raleway" pitchFamily="34" charset="-122"/>
                <a:cs typeface="Raleway" pitchFamily="34" charset="-120"/>
              </a:rPr>
              <a:t>Questions fired one way.</a:t>
            </a:r>
            <a:endParaRPr lang="en-US" sz="1500" dirty="0"/>
          </a:p>
        </p:txBody>
      </p:sp>
      <p:sp>
        <p:nvSpPr>
          <p:cNvPr id="9" name="Shape 6"/>
          <p:cNvSpPr/>
          <p:nvPr/>
        </p:nvSpPr>
        <p:spPr>
          <a:xfrm>
            <a:off x="6229350" y="2480221"/>
            <a:ext cx="5143500" cy="3320405"/>
          </a:xfrm>
          <a:prstGeom prst="roundRect">
            <a:avLst>
              <a:gd name="adj" fmla="val 2869"/>
            </a:avLst>
          </a:prstGeom>
          <a:solidFill>
            <a:srgbClr val="1A1A1A"/>
          </a:solidFill>
          <a:ln w="12700">
            <a:solidFill>
              <a:srgbClr val="63E14F"/>
            </a:solidFill>
            <a:prstDash val="solid"/>
          </a:ln>
        </p:spPr>
      </p:sp>
      <p:sp>
        <p:nvSpPr>
          <p:cNvPr id="10" name="Text 7"/>
          <p:cNvSpPr/>
          <p:nvPr/>
        </p:nvSpPr>
        <p:spPr>
          <a:xfrm>
            <a:off x="6420358" y="2740571"/>
            <a:ext cx="4761484" cy="256530"/>
          </a:xfrm>
          <a:prstGeom prst="rect">
            <a:avLst/>
          </a:prstGeom>
          <a:noFill/>
          <a:ln/>
        </p:spPr>
        <p:txBody>
          <a:bodyPr wrap="square" lIns="0" tIns="0" rIns="0" bIns="0" rtlCol="0" anchor="t">
            <a:normAutofit/>
          </a:bodyPr>
          <a:lstStyle/>
          <a:p>
            <a:pPr algn="ctr" indent="0" marL="0">
              <a:lnSpc>
                <a:spcPts val="1820"/>
              </a:lnSpc>
              <a:buNone/>
            </a:pPr>
            <a:r>
              <a:rPr lang="en-US" sz="1300" spc="100" kern="0" dirty="0">
                <a:solidFill>
                  <a:srgbClr val="63E14F"/>
                </a:solidFill>
                <a:latin typeface="DM Mono" pitchFamily="49" charset="0"/>
                <a:ea typeface="DM Mono" pitchFamily="49" charset="-122"/>
                <a:cs typeface="DM Mono" pitchFamily="49" charset="-120"/>
              </a:rPr>
              <a:t>CONVERSATION</a:t>
            </a:r>
            <a:endParaRPr lang="en-US" sz="1300" dirty="0"/>
          </a:p>
        </p:txBody>
      </p:sp>
      <p:pic>
        <p:nvPicPr>
          <p:cNvPr id="11" name="Image 1" descr="Candidate and two interviewers talking in a triangle">    </p:cNvPr>
          <p:cNvPicPr>
            <a:picLocks noChangeAspect="1"/>
          </p:cNvPicPr>
          <p:nvPr/>
        </p:nvPicPr>
        <p:blipFill>
          <a:blip r:embed="rId2"/>
          <a:srcRect l="0" r="0" t="0" b="0"/>
          <a:stretch/>
        </p:blipFill>
        <p:spPr>
          <a:xfrm>
            <a:off x="7150100" y="3047901"/>
            <a:ext cx="3302000" cy="2159000"/>
          </a:xfrm>
          <a:prstGeom prst="rect">
            <a:avLst/>
          </a:prstGeom>
        </p:spPr>
      </p:pic>
      <p:sp>
        <p:nvSpPr>
          <p:cNvPr id="12" name="Text 8"/>
          <p:cNvSpPr/>
          <p:nvPr/>
        </p:nvSpPr>
        <p:spPr>
          <a:xfrm>
            <a:off x="6420358" y="5283101"/>
            <a:ext cx="4761484" cy="282575"/>
          </a:xfrm>
          <a:prstGeom prst="rect">
            <a:avLst/>
          </a:prstGeom>
          <a:noFill/>
          <a:ln/>
        </p:spPr>
        <p:txBody>
          <a:bodyPr wrap="square" lIns="0" tIns="0" rIns="0" bIns="0" rtlCol="0" anchor="t">
            <a:normAutofit/>
          </a:bodyPr>
          <a:lstStyle/>
          <a:p>
            <a:pPr algn="ctr" indent="0" marL="0">
              <a:lnSpc>
                <a:spcPts val="2025"/>
              </a:lnSpc>
              <a:buNone/>
            </a:pPr>
            <a:r>
              <a:rPr lang="en-US" sz="1500" dirty="0">
                <a:solidFill>
                  <a:srgbClr val="A3A8B0"/>
                </a:solidFill>
                <a:latin typeface="Raleway" pitchFamily="34" charset="0"/>
                <a:ea typeface="Raleway" pitchFamily="34" charset="-122"/>
                <a:cs typeface="Raleway" pitchFamily="34" charset="-120"/>
              </a:rPr>
              <a:t>Ideas flow every direction.</a:t>
            </a:r>
            <a:endParaRPr lang="en-US" sz="1500" dirty="0"/>
          </a:p>
        </p:txBody>
      </p:sp>
      <p:pic>
        <p:nvPicPr>
          <p:cNvPr id="13" name="Image 2" descr="Mashgin">    </p:cNvPr>
          <p:cNvPicPr>
            <a:picLocks noChangeAspect="1"/>
          </p:cNvPicPr>
          <p:nvPr/>
        </p:nvPicPr>
        <p:blipFill>
          <a:blip r:embed="rId3"/>
          <a:srcRect l="-284" r="-284" t="0" b="0"/>
          <a:stretch/>
        </p:blipFill>
        <p:spPr>
          <a:xfrm>
            <a:off x="10121900" y="406400"/>
            <a:ext cx="1460500" cy="298450"/>
          </a:xfrm>
          <a:prstGeom prst="rect">
            <a:avLst/>
          </a:prstGeom>
        </p:spPr>
      </p:pic>
      <p:sp>
        <p:nvSpPr>
          <p:cNvPr id="14" name="Text 9"/>
          <p:cNvSpPr/>
          <p:nvPr/>
        </p:nvSpPr>
        <p:spPr>
          <a:xfrm>
            <a:off x="812800" y="62382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097"/>
                </a:solidFill>
                <a:latin typeface="DM Mono" pitchFamily="49" charset="0"/>
                <a:ea typeface="DM Mono" pitchFamily="49" charset="-122"/>
                <a:cs typeface="DM Mono" pitchFamily="49" charset="-120"/>
              </a:rPr>
              <a:t>Copyright Dobromir Montauk, 2026</a:t>
            </a:r>
            <a:endParaRPr lang="en-US" sz="1200" dirty="0"/>
          </a:p>
        </p:txBody>
      </p:sp>
      <p:sp>
        <p:nvSpPr>
          <p:cNvPr id="15" name="Text 10"/>
          <p:cNvSpPr/>
          <p:nvPr/>
        </p:nvSpPr>
        <p:spPr>
          <a:xfrm>
            <a:off x="10261600" y="6169670"/>
            <a:ext cx="1320800" cy="345430"/>
          </a:xfrm>
          <a:prstGeom prst="rect">
            <a:avLst/>
          </a:prstGeom>
          <a:noFill/>
          <a:ln/>
        </p:spPr>
        <p:txBody>
          <a:bodyPr wrap="square" lIns="0" tIns="0" rIns="0" bIns="0" rtlCol="0" anchor="t">
            <a:normAutofit/>
          </a:bodyPr>
          <a:lstStyle/>
          <a:p>
            <a:pPr algn="r" indent="0" marL="0">
              <a:lnSpc>
                <a:spcPts val="2520"/>
              </a:lnSpc>
              <a:buNone/>
            </a:pPr>
            <a:r>
              <a:rPr lang="en-US" sz="1800" dirty="0">
                <a:solidFill>
                  <a:srgbClr val="63E14F"/>
                </a:solidFill>
                <a:latin typeface="DM Mono" pitchFamily="49" charset="0"/>
                <a:ea typeface="DM Mono" pitchFamily="49" charset="-122"/>
                <a:cs typeface="DM Mono" pitchFamily="49" charset="-120"/>
              </a:rPr>
              <a:t>[ 25 ]</a:t>
            </a:r>
            <a:endParaRPr lang="en-US" sz="1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60607"/>
        </a:solidFill>
      </p:bgPr>
    </p:bg>
    <p:spTree>
      <p:nvGrpSpPr>
        <p:cNvPr id="1" name=""/>
        <p:cNvGrpSpPr/>
        <p:nvPr/>
      </p:nvGrpSpPr>
      <p:grpSpPr>
        <a:xfrm>
          <a:off x="0" y="0"/>
          <a:ext cx="0" cy="0"/>
          <a:chOff x="0" y="0"/>
          <a:chExt cx="0" cy="0"/>
        </a:xfrm>
      </p:grpSpPr>
      <p:sp>
        <p:nvSpPr>
          <p:cNvPr id="2" name="Shape 0"/>
          <p:cNvSpPr/>
          <p:nvPr/>
        </p:nvSpPr>
        <p:spPr>
          <a:xfrm>
            <a:off x="254000" y="0"/>
            <a:ext cx="25400" cy="6858000"/>
          </a:xfrm>
          <a:prstGeom prst="rect">
            <a:avLst/>
          </a:prstGeom>
          <a:gradFill rotWithShape="1">
            <a:gsLst>
              <a:gs pos="0">
                <a:srgbClr val="FF832A"/>
              </a:gs>
              <a:gs pos="35000">
                <a:srgbClr val="FF832A"/>
              </a:gs>
              <a:gs pos="75000">
                <a:srgbClr val="63E14F"/>
              </a:gs>
              <a:gs pos="100000">
                <a:srgbClr val="63E14F"/>
              </a:gs>
            </a:gsLst>
            <a:lin ang="5400000" scaled="0"/>
          </a:gradFill>
          <a:ln/>
        </p:spPr>
      </p:sp>
      <p:sp>
        <p:nvSpPr>
          <p:cNvPr id="3" name="Text 1"/>
          <p:cNvSpPr/>
          <p:nvPr/>
        </p:nvSpPr>
        <p:spPr>
          <a:xfrm>
            <a:off x="812800" y="711200"/>
            <a:ext cx="10883392" cy="266700"/>
          </a:xfrm>
          <a:prstGeom prst="rect">
            <a:avLst/>
          </a:prstGeom>
          <a:noFill/>
          <a:ln/>
        </p:spPr>
        <p:txBody>
          <a:bodyPr wrap="square" lIns="0" tIns="0" rIns="0" bIns="0" rtlCol="0" anchor="t">
            <a:normAutofit/>
          </a:bodyPr>
          <a:lstStyle/>
          <a:p>
            <a:pPr algn="l" indent="0" marL="0">
              <a:lnSpc>
                <a:spcPts val="1923"/>
              </a:lnSpc>
              <a:buNone/>
            </a:pPr>
            <a:r>
              <a:rPr lang="en-US" sz="1374" spc="100" kern="0" dirty="0">
                <a:solidFill>
                  <a:srgbClr val="63E14F"/>
                </a:solidFill>
                <a:latin typeface="DM Mono" pitchFamily="49" charset="0"/>
                <a:ea typeface="DM Mono" pitchFamily="49" charset="-122"/>
                <a:cs typeface="DM Mono" pitchFamily="49" charset="-120"/>
              </a:rPr>
              <a:t>[ THE PROCESS IS OUR CULTURE · 3 ]</a:t>
            </a:r>
            <a:endParaRPr lang="en-US" sz="1374" dirty="0"/>
          </a:p>
        </p:txBody>
      </p:sp>
      <p:sp>
        <p:nvSpPr>
          <p:cNvPr id="4" name="Text 2"/>
          <p:cNvSpPr/>
          <p:nvPr>
            <p:ph type="title"/>
          </p:nvPr>
        </p:nvSpPr>
        <p:spPr>
          <a:xfrm>
            <a:off x="812800" y="1206500"/>
            <a:ext cx="10883392" cy="512961"/>
          </a:xfrm>
          <a:prstGeom prst="rect">
            <a:avLst/>
          </a:prstGeom>
          <a:noFill/>
          <a:ln/>
        </p:spPr>
        <p:txBody>
          <a:bodyPr wrap="square" lIns="0" tIns="0" rIns="0" bIns="0" rtlCol="0" anchor="t">
            <a:normAutofit/>
          </a:bodyPr>
          <a:lstStyle/>
          <a:p>
            <a:pPr algn="l" indent="0" marL="0">
              <a:lnSpc>
                <a:spcPts val="3873"/>
              </a:lnSpc>
              <a:buNone/>
            </a:pPr>
            <a:r>
              <a:rPr lang="en-US" sz="3521" b="1" i="0" dirty="0">
                <a:solidFill>
                  <a:srgbClr val="F4F5F7"/>
                </a:solidFill>
                <a:latin typeface="Host Grotesk" pitchFamily="34" charset="0"/>
                <a:ea typeface="Host Grotesk" pitchFamily="34" charset="-122"/>
                <a:cs typeface="Host Grotesk" pitchFamily="34" charset="-120"/>
              </a:rPr>
              <a:t>A growth factory, </a:t>
            </a:r>
            <a:r>
              <a:rPr lang="en-US" sz="3521" b="1" i="0" dirty="0">
                <a:solidFill>
                  <a:srgbClr val="63E14F"/>
                </a:solidFill>
                <a:latin typeface="Host Grotesk" pitchFamily="34" charset="0"/>
                <a:ea typeface="Host Grotesk" pitchFamily="34" charset="-122"/>
                <a:cs typeface="Host Grotesk" pitchFamily="34" charset="-120"/>
              </a:rPr>
              <a:t>from the first call.</a:t>
            </a:r>
            <a:endParaRPr lang="en-US" sz="3521" dirty="0"/>
          </a:p>
        </p:txBody>
      </p:sp>
      <p:sp>
        <p:nvSpPr>
          <p:cNvPr id="5" name="Shape 3"/>
          <p:cNvSpPr/>
          <p:nvPr/>
        </p:nvSpPr>
        <p:spPr>
          <a:xfrm>
            <a:off x="819150" y="1954411"/>
            <a:ext cx="10553700" cy="728464"/>
          </a:xfrm>
          <a:prstGeom prst="roundRect">
            <a:avLst>
              <a:gd name="adj" fmla="val 13075"/>
            </a:avLst>
          </a:prstGeom>
          <a:solidFill>
            <a:srgbClr val="1A1A1A"/>
          </a:solidFill>
          <a:ln w="12700">
            <a:solidFill>
              <a:srgbClr val="2B2B2B"/>
            </a:solidFill>
            <a:prstDash val="solid"/>
          </a:ln>
        </p:spPr>
      </p:sp>
      <p:sp>
        <p:nvSpPr>
          <p:cNvPr id="6" name="Text 4"/>
          <p:cNvSpPr/>
          <p:nvPr/>
        </p:nvSpPr>
        <p:spPr>
          <a:xfrm>
            <a:off x="1130300" y="2203053"/>
            <a:ext cx="1962150" cy="256530"/>
          </a:xfrm>
          <a:prstGeom prst="rect">
            <a:avLst/>
          </a:prstGeom>
          <a:noFill/>
          <a:ln/>
        </p:spPr>
        <p:txBody>
          <a:bodyPr wrap="none" lIns="0" tIns="0" rIns="0" bIns="0" rtlCol="0" anchor="t">
            <a:normAutofit/>
          </a:bodyPr>
          <a:lstStyle/>
          <a:p>
            <a:pPr algn="l" indent="0" marL="0">
              <a:lnSpc>
                <a:spcPts val="1820"/>
              </a:lnSpc>
              <a:buNone/>
            </a:pPr>
            <a:r>
              <a:rPr lang="en-US" sz="1300" spc="100" kern="0" dirty="0">
                <a:solidFill>
                  <a:srgbClr val="63E14F"/>
                </a:solidFill>
                <a:latin typeface="DM Mono" pitchFamily="49" charset="0"/>
                <a:ea typeface="DM Mono" pitchFamily="49" charset="-122"/>
                <a:cs typeface="DM Mono" pitchFamily="49" charset="-120"/>
              </a:rPr>
              <a:t>01 · FIRST CALL</a:t>
            </a:r>
            <a:endParaRPr lang="en-US" sz="1300" dirty="0"/>
          </a:p>
        </p:txBody>
      </p:sp>
      <p:sp>
        <p:nvSpPr>
          <p:cNvPr id="7" name="Text 5"/>
          <p:cNvSpPr/>
          <p:nvPr/>
        </p:nvSpPr>
        <p:spPr>
          <a:xfrm>
            <a:off x="3187700" y="2087513"/>
            <a:ext cx="2092960" cy="487660"/>
          </a:xfrm>
          <a:prstGeom prst="rect">
            <a:avLst/>
          </a:prstGeom>
          <a:noFill/>
          <a:ln/>
        </p:spPr>
        <p:txBody>
          <a:bodyPr wrap="square" lIns="0" tIns="0" rIns="0" bIns="0" rtlCol="0" anchor="t">
            <a:normAutofit/>
          </a:bodyPr>
          <a:lstStyle/>
          <a:p>
            <a:pPr algn="l" indent="0" marL="0">
              <a:lnSpc>
                <a:spcPts val="3640"/>
              </a:lnSpc>
              <a:buNone/>
            </a:pPr>
            <a:r>
              <a:rPr lang="en-US" sz="2600" b="1" dirty="0">
                <a:solidFill>
                  <a:srgbClr val="E9ECEF"/>
                </a:solidFill>
                <a:latin typeface="Host Grotesk" pitchFamily="34" charset="0"/>
                <a:ea typeface="Host Grotesk" pitchFamily="34" charset="-122"/>
                <a:cs typeface="Host Grotesk" pitchFamily="34" charset="-120"/>
              </a:rPr>
              <a:t>Recruiter</a:t>
            </a:r>
            <a:endParaRPr lang="en-US" sz="2600" dirty="0"/>
          </a:p>
        </p:txBody>
      </p:sp>
      <p:sp>
        <p:nvSpPr>
          <p:cNvPr id="8" name="Text 6"/>
          <p:cNvSpPr/>
          <p:nvPr/>
        </p:nvSpPr>
        <p:spPr>
          <a:xfrm>
            <a:off x="5372100" y="2164358"/>
            <a:ext cx="5860288" cy="333970"/>
          </a:xfrm>
          <a:prstGeom prst="rect">
            <a:avLst/>
          </a:prstGeom>
          <a:noFill/>
          <a:ln/>
        </p:spPr>
        <p:txBody>
          <a:bodyPr wrap="none" lIns="0" tIns="0" rIns="0" bIns="0" rtlCol="0" anchor="t">
            <a:normAutofit/>
          </a:bodyPr>
          <a:lstStyle/>
          <a:p>
            <a:pPr algn="l" indent="0" marL="0">
              <a:lnSpc>
                <a:spcPts val="2430"/>
              </a:lnSpc>
              <a:buNone/>
            </a:pPr>
            <a:r>
              <a:rPr lang="en-US" sz="1800" dirty="0">
                <a:solidFill>
                  <a:srgbClr val="E9ECEF"/>
                </a:solidFill>
                <a:latin typeface="Raleway" pitchFamily="34" charset="0"/>
                <a:ea typeface="Raleway" pitchFamily="34" charset="-122"/>
                <a:cs typeface="Raleway" pitchFamily="34" charset="-120"/>
              </a:rPr>
              <a:t>“Where do you want to grow?”</a:t>
            </a:r>
            <a:endParaRPr lang="en-US" sz="1800" dirty="0"/>
          </a:p>
        </p:txBody>
      </p:sp>
      <p:sp>
        <p:nvSpPr>
          <p:cNvPr id="9" name="Shape 7"/>
          <p:cNvSpPr/>
          <p:nvPr/>
        </p:nvSpPr>
        <p:spPr>
          <a:xfrm>
            <a:off x="819150" y="2809875"/>
            <a:ext cx="10553700" cy="728414"/>
          </a:xfrm>
          <a:prstGeom prst="roundRect">
            <a:avLst>
              <a:gd name="adj" fmla="val 13076"/>
            </a:avLst>
          </a:prstGeom>
          <a:solidFill>
            <a:srgbClr val="1A1A1A"/>
          </a:solidFill>
          <a:ln w="12700">
            <a:solidFill>
              <a:srgbClr val="2B2B2B"/>
            </a:solidFill>
            <a:prstDash val="solid"/>
          </a:ln>
        </p:spPr>
      </p:sp>
      <p:sp>
        <p:nvSpPr>
          <p:cNvPr id="10" name="Text 8"/>
          <p:cNvSpPr/>
          <p:nvPr/>
        </p:nvSpPr>
        <p:spPr>
          <a:xfrm>
            <a:off x="1130300" y="3058517"/>
            <a:ext cx="1962150" cy="256530"/>
          </a:xfrm>
          <a:prstGeom prst="rect">
            <a:avLst/>
          </a:prstGeom>
          <a:noFill/>
          <a:ln/>
        </p:spPr>
        <p:txBody>
          <a:bodyPr wrap="none" lIns="0" tIns="0" rIns="0" bIns="0" rtlCol="0" anchor="t">
            <a:normAutofit/>
          </a:bodyPr>
          <a:lstStyle/>
          <a:p>
            <a:pPr algn="l" indent="0" marL="0">
              <a:lnSpc>
                <a:spcPts val="1820"/>
              </a:lnSpc>
              <a:buNone/>
            </a:pPr>
            <a:r>
              <a:rPr lang="en-US" sz="1300" spc="100" kern="0" dirty="0">
                <a:solidFill>
                  <a:srgbClr val="63E14F"/>
                </a:solidFill>
                <a:latin typeface="DM Mono" pitchFamily="49" charset="0"/>
                <a:ea typeface="DM Mono" pitchFamily="49" charset="-122"/>
                <a:cs typeface="DM Mono" pitchFamily="49" charset="-120"/>
              </a:rPr>
              <a:t>02 · SCREEN</a:t>
            </a:r>
            <a:endParaRPr lang="en-US" sz="1300" dirty="0"/>
          </a:p>
        </p:txBody>
      </p:sp>
      <p:sp>
        <p:nvSpPr>
          <p:cNvPr id="11" name="Text 9"/>
          <p:cNvSpPr/>
          <p:nvPr/>
        </p:nvSpPr>
        <p:spPr>
          <a:xfrm>
            <a:off x="3187700" y="2942977"/>
            <a:ext cx="2092960" cy="487660"/>
          </a:xfrm>
          <a:prstGeom prst="rect">
            <a:avLst/>
          </a:prstGeom>
          <a:noFill/>
          <a:ln/>
        </p:spPr>
        <p:txBody>
          <a:bodyPr wrap="square" lIns="0" tIns="0" rIns="0" bIns="0" rtlCol="0" anchor="t">
            <a:normAutofit/>
          </a:bodyPr>
          <a:lstStyle/>
          <a:p>
            <a:pPr algn="l" indent="0" marL="0">
              <a:lnSpc>
                <a:spcPts val="3640"/>
              </a:lnSpc>
              <a:buNone/>
            </a:pPr>
            <a:r>
              <a:rPr lang="en-US" sz="2600" b="1" dirty="0">
                <a:solidFill>
                  <a:srgbClr val="E9ECEF"/>
                </a:solidFill>
                <a:latin typeface="Host Grotesk" pitchFamily="34" charset="0"/>
                <a:ea typeface="Host Grotesk" pitchFamily="34" charset="-122"/>
                <a:cs typeface="Host Grotesk" pitchFamily="34" charset="-120"/>
              </a:rPr>
              <a:t>EM</a:t>
            </a:r>
            <a:endParaRPr lang="en-US" sz="2600" dirty="0"/>
          </a:p>
        </p:txBody>
      </p:sp>
      <p:sp>
        <p:nvSpPr>
          <p:cNvPr id="12" name="Text 10"/>
          <p:cNvSpPr/>
          <p:nvPr/>
        </p:nvSpPr>
        <p:spPr>
          <a:xfrm>
            <a:off x="5372100" y="3019772"/>
            <a:ext cx="5860288" cy="333970"/>
          </a:xfrm>
          <a:prstGeom prst="rect">
            <a:avLst/>
          </a:prstGeom>
          <a:noFill/>
          <a:ln/>
        </p:spPr>
        <p:txBody>
          <a:bodyPr wrap="none" lIns="0" tIns="0" rIns="0" bIns="0" rtlCol="0" anchor="t">
            <a:normAutofit/>
          </a:bodyPr>
          <a:lstStyle/>
          <a:p>
            <a:pPr algn="l" indent="0" marL="0">
              <a:lnSpc>
                <a:spcPts val="2430"/>
              </a:lnSpc>
              <a:buNone/>
            </a:pPr>
            <a:r>
              <a:rPr lang="en-US" sz="1800" dirty="0">
                <a:solidFill>
                  <a:srgbClr val="E9ECEF"/>
                </a:solidFill>
                <a:latin typeface="Raleway" pitchFamily="34" charset="0"/>
                <a:ea typeface="Raleway" pitchFamily="34" charset="-122"/>
                <a:cs typeface="Raleway" pitchFamily="34" charset="-120"/>
              </a:rPr>
              <a:t>“What's your next step?”</a:t>
            </a:r>
            <a:endParaRPr lang="en-US" sz="1800" dirty="0"/>
          </a:p>
        </p:txBody>
      </p:sp>
      <p:sp>
        <p:nvSpPr>
          <p:cNvPr id="13" name="Shape 11"/>
          <p:cNvSpPr/>
          <p:nvPr/>
        </p:nvSpPr>
        <p:spPr>
          <a:xfrm>
            <a:off x="819150" y="3665289"/>
            <a:ext cx="10553700" cy="728464"/>
          </a:xfrm>
          <a:prstGeom prst="roundRect">
            <a:avLst>
              <a:gd name="adj" fmla="val 13075"/>
            </a:avLst>
          </a:prstGeom>
          <a:solidFill>
            <a:srgbClr val="1A1A1A"/>
          </a:solidFill>
          <a:ln w="12700">
            <a:solidFill>
              <a:srgbClr val="2B2B2B"/>
            </a:solidFill>
            <a:prstDash val="solid"/>
          </a:ln>
        </p:spPr>
      </p:sp>
      <p:sp>
        <p:nvSpPr>
          <p:cNvPr id="14" name="Text 12"/>
          <p:cNvSpPr/>
          <p:nvPr/>
        </p:nvSpPr>
        <p:spPr>
          <a:xfrm>
            <a:off x="1130300" y="3913932"/>
            <a:ext cx="1962150" cy="256530"/>
          </a:xfrm>
          <a:prstGeom prst="rect">
            <a:avLst/>
          </a:prstGeom>
          <a:noFill/>
          <a:ln/>
        </p:spPr>
        <p:txBody>
          <a:bodyPr wrap="none" lIns="0" tIns="0" rIns="0" bIns="0" rtlCol="0" anchor="t">
            <a:normAutofit/>
          </a:bodyPr>
          <a:lstStyle/>
          <a:p>
            <a:pPr algn="l" indent="0" marL="0">
              <a:lnSpc>
                <a:spcPts val="1820"/>
              </a:lnSpc>
              <a:buNone/>
            </a:pPr>
            <a:r>
              <a:rPr lang="en-US" sz="1300" spc="100" kern="0" dirty="0">
                <a:solidFill>
                  <a:srgbClr val="63E14F"/>
                </a:solidFill>
                <a:latin typeface="DM Mono" pitchFamily="49" charset="0"/>
                <a:ea typeface="DM Mono" pitchFamily="49" charset="-122"/>
                <a:cs typeface="DM Mono" pitchFamily="49" charset="-120"/>
              </a:rPr>
              <a:t>03 · ONSITE</a:t>
            </a:r>
            <a:endParaRPr lang="en-US" sz="1300" dirty="0"/>
          </a:p>
        </p:txBody>
      </p:sp>
      <p:sp>
        <p:nvSpPr>
          <p:cNvPr id="15" name="Text 13"/>
          <p:cNvSpPr/>
          <p:nvPr/>
        </p:nvSpPr>
        <p:spPr>
          <a:xfrm>
            <a:off x="3187700" y="3798391"/>
            <a:ext cx="2092960" cy="487660"/>
          </a:xfrm>
          <a:prstGeom prst="rect">
            <a:avLst/>
          </a:prstGeom>
          <a:noFill/>
          <a:ln/>
        </p:spPr>
        <p:txBody>
          <a:bodyPr wrap="square" lIns="0" tIns="0" rIns="0" bIns="0" rtlCol="0" anchor="t">
            <a:normAutofit/>
          </a:bodyPr>
          <a:lstStyle/>
          <a:p>
            <a:pPr algn="l" indent="0" marL="0">
              <a:lnSpc>
                <a:spcPts val="3640"/>
              </a:lnSpc>
              <a:buNone/>
            </a:pPr>
            <a:r>
              <a:rPr lang="en-US" sz="2600" b="1" dirty="0">
                <a:solidFill>
                  <a:srgbClr val="E9ECEF"/>
                </a:solidFill>
                <a:latin typeface="Host Grotesk" pitchFamily="34" charset="0"/>
                <a:ea typeface="Host Grotesk" pitchFamily="34" charset="-122"/>
                <a:cs typeface="Host Grotesk" pitchFamily="34" charset="-120"/>
              </a:rPr>
              <a:t>Engineers</a:t>
            </a:r>
            <a:endParaRPr lang="en-US" sz="2600" dirty="0"/>
          </a:p>
        </p:txBody>
      </p:sp>
      <p:sp>
        <p:nvSpPr>
          <p:cNvPr id="16" name="Text 14"/>
          <p:cNvSpPr/>
          <p:nvPr/>
        </p:nvSpPr>
        <p:spPr>
          <a:xfrm>
            <a:off x="5372100" y="3875236"/>
            <a:ext cx="5860288" cy="333970"/>
          </a:xfrm>
          <a:prstGeom prst="rect">
            <a:avLst/>
          </a:prstGeom>
          <a:noFill/>
          <a:ln/>
        </p:spPr>
        <p:txBody>
          <a:bodyPr wrap="none" lIns="0" tIns="0" rIns="0" bIns="0" rtlCol="0" anchor="t">
            <a:normAutofit/>
          </a:bodyPr>
          <a:lstStyle/>
          <a:p>
            <a:pPr algn="l" indent="0" marL="0">
              <a:lnSpc>
                <a:spcPts val="2430"/>
              </a:lnSpc>
              <a:buNone/>
            </a:pPr>
            <a:r>
              <a:rPr lang="en-US" sz="1800" dirty="0">
                <a:solidFill>
                  <a:srgbClr val="E9ECEF"/>
                </a:solidFill>
                <a:latin typeface="Raleway" pitchFamily="34" charset="0"/>
                <a:ea typeface="Raleway" pitchFamily="34" charset="-122"/>
                <a:cs typeface="Raleway" pitchFamily="34" charset="-120"/>
              </a:rPr>
              <a:t>“Here's how you'd grow here.”</a:t>
            </a:r>
            <a:endParaRPr lang="en-US" sz="1800" dirty="0"/>
          </a:p>
        </p:txBody>
      </p:sp>
      <p:sp>
        <p:nvSpPr>
          <p:cNvPr id="17" name="Shape 15"/>
          <p:cNvSpPr/>
          <p:nvPr/>
        </p:nvSpPr>
        <p:spPr>
          <a:xfrm>
            <a:off x="819150" y="4520754"/>
            <a:ext cx="10553700" cy="728414"/>
          </a:xfrm>
          <a:prstGeom prst="roundRect">
            <a:avLst>
              <a:gd name="adj" fmla="val 13076"/>
            </a:avLst>
          </a:prstGeom>
          <a:solidFill>
            <a:srgbClr val="1A1A1A"/>
          </a:solidFill>
          <a:ln w="12700">
            <a:solidFill>
              <a:srgbClr val="63E14F"/>
            </a:solidFill>
            <a:prstDash val="solid"/>
          </a:ln>
        </p:spPr>
      </p:sp>
      <p:sp>
        <p:nvSpPr>
          <p:cNvPr id="18" name="Text 16"/>
          <p:cNvSpPr/>
          <p:nvPr/>
        </p:nvSpPr>
        <p:spPr>
          <a:xfrm>
            <a:off x="1130300" y="4769396"/>
            <a:ext cx="1962150" cy="256530"/>
          </a:xfrm>
          <a:prstGeom prst="rect">
            <a:avLst/>
          </a:prstGeom>
          <a:noFill/>
          <a:ln/>
        </p:spPr>
        <p:txBody>
          <a:bodyPr wrap="none" lIns="0" tIns="0" rIns="0" bIns="0" rtlCol="0" anchor="t">
            <a:normAutofit/>
          </a:bodyPr>
          <a:lstStyle/>
          <a:p>
            <a:pPr algn="l" indent="0" marL="0">
              <a:lnSpc>
                <a:spcPts val="1820"/>
              </a:lnSpc>
              <a:buNone/>
            </a:pPr>
            <a:r>
              <a:rPr lang="en-US" sz="1300" spc="100" kern="0" dirty="0">
                <a:solidFill>
                  <a:srgbClr val="63E14F"/>
                </a:solidFill>
                <a:latin typeface="DM Mono" pitchFamily="49" charset="0"/>
                <a:ea typeface="DM Mono" pitchFamily="49" charset="-122"/>
                <a:cs typeface="DM Mono" pitchFamily="49" charset="-120"/>
              </a:rPr>
              <a:t>04 · TOPGRADING</a:t>
            </a:r>
            <a:endParaRPr lang="en-US" sz="1300" dirty="0"/>
          </a:p>
        </p:txBody>
      </p:sp>
      <p:sp>
        <p:nvSpPr>
          <p:cNvPr id="19" name="Text 17"/>
          <p:cNvSpPr/>
          <p:nvPr/>
        </p:nvSpPr>
        <p:spPr>
          <a:xfrm>
            <a:off x="3187700" y="4653855"/>
            <a:ext cx="2092960" cy="487660"/>
          </a:xfrm>
          <a:prstGeom prst="rect">
            <a:avLst/>
          </a:prstGeom>
          <a:noFill/>
          <a:ln/>
        </p:spPr>
        <p:txBody>
          <a:bodyPr wrap="square" lIns="0" tIns="0" rIns="0" bIns="0" rtlCol="0" anchor="t">
            <a:normAutofit/>
          </a:bodyPr>
          <a:lstStyle/>
          <a:p>
            <a:pPr algn="l" indent="0" marL="0">
              <a:lnSpc>
                <a:spcPts val="3640"/>
              </a:lnSpc>
              <a:buNone/>
            </a:pPr>
            <a:r>
              <a:rPr lang="en-US" sz="2600" b="1" dirty="0">
                <a:solidFill>
                  <a:srgbClr val="E9ECEF"/>
                </a:solidFill>
                <a:latin typeface="Host Grotesk" pitchFamily="34" charset="0"/>
                <a:ea typeface="Host Grotesk" pitchFamily="34" charset="-122"/>
                <a:cs typeface="Host Grotesk" pitchFamily="34" charset="-120"/>
              </a:rPr>
              <a:t>EM</a:t>
            </a:r>
            <a:endParaRPr lang="en-US" sz="2600" dirty="0"/>
          </a:p>
        </p:txBody>
      </p:sp>
      <p:sp>
        <p:nvSpPr>
          <p:cNvPr id="20" name="Text 18"/>
          <p:cNvSpPr/>
          <p:nvPr/>
        </p:nvSpPr>
        <p:spPr>
          <a:xfrm>
            <a:off x="5372100" y="4730651"/>
            <a:ext cx="5860288" cy="333970"/>
          </a:xfrm>
          <a:prstGeom prst="rect">
            <a:avLst/>
          </a:prstGeom>
          <a:noFill/>
          <a:ln/>
        </p:spPr>
        <p:txBody>
          <a:bodyPr wrap="none" lIns="0" tIns="0" rIns="0" bIns="0" rtlCol="0" anchor="t">
            <a:normAutofit/>
          </a:bodyPr>
          <a:lstStyle/>
          <a:p>
            <a:pPr algn="l" indent="0" marL="0">
              <a:lnSpc>
                <a:spcPts val="2430"/>
              </a:lnSpc>
              <a:buNone/>
            </a:pPr>
            <a:r>
              <a:rPr lang="en-US" sz="1800" dirty="0">
                <a:solidFill>
                  <a:srgbClr val="E9ECEF"/>
                </a:solidFill>
                <a:latin typeface="Raleway" pitchFamily="34" charset="0"/>
                <a:ea typeface="Raleway" pitchFamily="34" charset="-122"/>
                <a:cs typeface="Raleway" pitchFamily="34" charset="-120"/>
              </a:rPr>
              <a:t>“Here is feedback on your performance.”</a:t>
            </a:r>
            <a:endParaRPr lang="en-US" sz="1800" dirty="0"/>
          </a:p>
        </p:txBody>
      </p:sp>
      <p:sp>
        <p:nvSpPr>
          <p:cNvPr id="21" name="Text 19"/>
          <p:cNvSpPr/>
          <p:nvPr/>
        </p:nvSpPr>
        <p:spPr>
          <a:xfrm>
            <a:off x="812800" y="5509518"/>
            <a:ext cx="10883392" cy="357882"/>
          </a:xfrm>
          <a:prstGeom prst="rect">
            <a:avLst/>
          </a:prstGeom>
          <a:noFill/>
          <a:ln/>
        </p:spPr>
        <p:txBody>
          <a:bodyPr wrap="square" lIns="0" tIns="0" rIns="0" bIns="0" rtlCol="0" anchor="t">
            <a:normAutofit/>
          </a:bodyPr>
          <a:lstStyle/>
          <a:p>
            <a:pPr algn="l" indent="0" marL="0">
              <a:lnSpc>
                <a:spcPts val="2624"/>
              </a:lnSpc>
              <a:buNone/>
            </a:pPr>
            <a:r>
              <a:rPr lang="en-US" sz="1944" dirty="0">
                <a:solidFill>
                  <a:srgbClr val="E9ECEF"/>
                </a:solidFill>
                <a:latin typeface="Raleway" pitchFamily="34" charset="0"/>
                <a:ea typeface="Raleway" pitchFamily="34" charset="-122"/>
                <a:cs typeface="Raleway" pitchFamily="34" charset="-120"/>
              </a:rPr>
              <a:t>Every person they meet shows interest in their growth.</a:t>
            </a:r>
            <a:endParaRPr lang="en-US" sz="1944" dirty="0"/>
          </a:p>
        </p:txBody>
      </p:sp>
      <p:pic>
        <p:nvPicPr>
          <p:cNvPr id="22" name="Image 0" descr="Mashgin">    </p:cNvPr>
          <p:cNvPicPr>
            <a:picLocks noChangeAspect="1"/>
          </p:cNvPicPr>
          <p:nvPr/>
        </p:nvPicPr>
        <p:blipFill>
          <a:blip r:embed="rId1"/>
          <a:srcRect l="-284" r="-284" t="0" b="0"/>
          <a:stretch/>
        </p:blipFill>
        <p:spPr>
          <a:xfrm>
            <a:off x="10121900" y="406400"/>
            <a:ext cx="1460500" cy="298450"/>
          </a:xfrm>
          <a:prstGeom prst="rect">
            <a:avLst/>
          </a:prstGeom>
        </p:spPr>
      </p:pic>
      <p:sp>
        <p:nvSpPr>
          <p:cNvPr id="23" name="Text 20"/>
          <p:cNvSpPr/>
          <p:nvPr/>
        </p:nvSpPr>
        <p:spPr>
          <a:xfrm>
            <a:off x="812800" y="62382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097"/>
                </a:solidFill>
                <a:latin typeface="DM Mono" pitchFamily="49" charset="0"/>
                <a:ea typeface="DM Mono" pitchFamily="49" charset="-122"/>
                <a:cs typeface="DM Mono" pitchFamily="49" charset="-120"/>
              </a:rPr>
              <a:t>Copyright Dobromir Montauk, 2026</a:t>
            </a:r>
            <a:endParaRPr lang="en-US" sz="1200" dirty="0"/>
          </a:p>
        </p:txBody>
      </p:sp>
      <p:sp>
        <p:nvSpPr>
          <p:cNvPr id="24" name="Text 21"/>
          <p:cNvSpPr/>
          <p:nvPr/>
        </p:nvSpPr>
        <p:spPr>
          <a:xfrm>
            <a:off x="10261600" y="6169670"/>
            <a:ext cx="1320800" cy="345430"/>
          </a:xfrm>
          <a:prstGeom prst="rect">
            <a:avLst/>
          </a:prstGeom>
          <a:noFill/>
          <a:ln/>
        </p:spPr>
        <p:txBody>
          <a:bodyPr wrap="square" lIns="0" tIns="0" rIns="0" bIns="0" rtlCol="0" anchor="t">
            <a:normAutofit/>
          </a:bodyPr>
          <a:lstStyle/>
          <a:p>
            <a:pPr algn="r" indent="0" marL="0">
              <a:lnSpc>
                <a:spcPts val="2520"/>
              </a:lnSpc>
              <a:buNone/>
            </a:pPr>
            <a:r>
              <a:rPr lang="en-US" sz="1800" dirty="0">
                <a:solidFill>
                  <a:srgbClr val="63E14F"/>
                </a:solidFill>
                <a:latin typeface="DM Mono" pitchFamily="49" charset="0"/>
                <a:ea typeface="DM Mono" pitchFamily="49" charset="-122"/>
                <a:cs typeface="DM Mono" pitchFamily="49" charset="-120"/>
              </a:rPr>
              <a:t>[ 26 ]</a:t>
            </a:r>
            <a:endParaRPr lang="en-US" sz="18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60607"/>
        </a:solidFill>
      </p:bgPr>
    </p:bg>
    <p:spTree>
      <p:nvGrpSpPr>
        <p:cNvPr id="1" name=""/>
        <p:cNvGrpSpPr/>
        <p:nvPr/>
      </p:nvGrpSpPr>
      <p:grpSpPr>
        <a:xfrm>
          <a:off x="0" y="0"/>
          <a:ext cx="0" cy="0"/>
          <a:chOff x="0" y="0"/>
          <a:chExt cx="0" cy="0"/>
        </a:xfrm>
      </p:grpSpPr>
      <p:sp>
        <p:nvSpPr>
          <p:cNvPr id="2" name="Shape 0"/>
          <p:cNvSpPr/>
          <p:nvPr/>
        </p:nvSpPr>
        <p:spPr>
          <a:xfrm>
            <a:off x="254000" y="0"/>
            <a:ext cx="25400" cy="6858000"/>
          </a:xfrm>
          <a:prstGeom prst="rect">
            <a:avLst/>
          </a:prstGeom>
          <a:gradFill rotWithShape="1">
            <a:gsLst>
              <a:gs pos="0">
                <a:srgbClr val="FF832A"/>
              </a:gs>
              <a:gs pos="35000">
                <a:srgbClr val="FF832A"/>
              </a:gs>
              <a:gs pos="75000">
                <a:srgbClr val="63E14F"/>
              </a:gs>
              <a:gs pos="100000">
                <a:srgbClr val="63E14F"/>
              </a:gs>
            </a:gsLst>
            <a:lin ang="5400000" scaled="0"/>
          </a:gradFill>
          <a:ln/>
        </p:spPr>
      </p:sp>
      <p:pic>
        <p:nvPicPr>
          <p:cNvPr id="3" name="Image 0" descr="Storybook illustration: a grey wizard scratches a glowing rune on a round green hillside door while a startled hobbit peers out, and a line of hooded dwarves with lanterns walks up the road at dusk">    </p:cNvPr>
          <p:cNvPicPr>
            <a:picLocks noChangeAspect="1"/>
          </p:cNvPicPr>
          <p:nvPr/>
        </p:nvPicPr>
        <p:blipFill>
          <a:blip r:embed="rId1"/>
          <a:srcRect l="407" r="407" t="0" b="0"/>
          <a:stretch/>
        </p:blipFill>
        <p:spPr>
          <a:xfrm>
            <a:off x="0" y="0"/>
            <a:ext cx="12192000" cy="6858000"/>
          </a:xfrm>
          <a:prstGeom prst="rect">
            <a:avLst/>
          </a:prstGeom>
        </p:spPr>
      </p:pic>
      <p:sp>
        <p:nvSpPr>
          <p:cNvPr id="4" name="Shape 1"/>
          <p:cNvSpPr/>
          <p:nvPr/>
        </p:nvSpPr>
        <p:spPr>
          <a:xfrm>
            <a:off x="0" y="0"/>
            <a:ext cx="12192000" cy="6858000"/>
          </a:xfrm>
          <a:prstGeom prst="rect">
            <a:avLst/>
          </a:prstGeom>
          <a:gradFill rotWithShape="1">
            <a:gsLst>
              <a:gs pos="52000">
                <a:srgbClr val="060607">
                  <a:alpha val="0"/>
                </a:srgbClr>
              </a:gs>
              <a:gs pos="72000">
                <a:srgbClr val="060607">
                  <a:alpha val="55000"/>
                </a:srgbClr>
              </a:gs>
              <a:gs pos="100000">
                <a:srgbClr val="060607">
                  <a:alpha val="85000"/>
                </a:srgbClr>
              </a:gs>
            </a:gsLst>
            <a:lin ang="0" scaled="0"/>
          </a:gradFill>
          <a:ln/>
        </p:spPr>
      </p:sp>
      <p:sp>
        <p:nvSpPr>
          <p:cNvPr id="5" name="Shape 2"/>
          <p:cNvSpPr/>
          <p:nvPr/>
        </p:nvSpPr>
        <p:spPr>
          <a:xfrm>
            <a:off x="0" y="5334000"/>
            <a:ext cx="12192000" cy="1524000"/>
          </a:xfrm>
          <a:prstGeom prst="rect">
            <a:avLst/>
          </a:prstGeom>
          <a:gradFill rotWithShape="1">
            <a:gsLst>
              <a:gs pos="0">
                <a:srgbClr val="060607">
                  <a:alpha val="0"/>
                </a:srgbClr>
              </a:gs>
              <a:gs pos="100000">
                <a:srgbClr val="060607">
                  <a:alpha val="85000"/>
                </a:srgbClr>
              </a:gs>
            </a:gsLst>
            <a:lin ang="5400000" scaled="0"/>
          </a:gradFill>
          <a:ln/>
        </p:spPr>
      </p:sp>
      <p:sp>
        <p:nvSpPr>
          <p:cNvPr id="6" name="Text 3"/>
          <p:cNvSpPr/>
          <p:nvPr/>
        </p:nvSpPr>
        <p:spPr>
          <a:xfrm>
            <a:off x="7315200" y="825500"/>
            <a:ext cx="4185920" cy="274290"/>
          </a:xfrm>
          <a:prstGeom prst="rect">
            <a:avLst/>
          </a:prstGeom>
          <a:noFill/>
          <a:ln/>
        </p:spPr>
        <p:txBody>
          <a:bodyPr wrap="square" lIns="0" tIns="0" rIns="0" bIns="0" rtlCol="0" anchor="t">
            <a:normAutofit/>
          </a:bodyPr>
          <a:lstStyle/>
          <a:p>
            <a:pPr algn="l" indent="0" marL="0">
              <a:lnSpc>
                <a:spcPts val="1960"/>
              </a:lnSpc>
              <a:buNone/>
            </a:pPr>
            <a:r>
              <a:rPr lang="en-US" sz="1400" spc="100" kern="0" dirty="0">
                <a:solidFill>
                  <a:srgbClr val="63E14F"/>
                </a:solidFill>
                <a:latin typeface="DM Mono" pitchFamily="49" charset="0"/>
                <a:ea typeface="DM Mono" pitchFamily="49" charset="-122"/>
                <a:cs typeface="DM Mono" pitchFamily="49" charset="-120"/>
              </a:rPr>
              <a:t>[ ONE LAST THING ]</a:t>
            </a:r>
            <a:endParaRPr lang="en-US" sz="1400" dirty="0"/>
          </a:p>
        </p:txBody>
      </p:sp>
      <p:sp>
        <p:nvSpPr>
          <p:cNvPr id="7" name="Text 4"/>
          <p:cNvSpPr/>
          <p:nvPr>
            <p:ph type="title"/>
          </p:nvPr>
        </p:nvSpPr>
        <p:spPr>
          <a:xfrm>
            <a:off x="7315200" y="1143000"/>
            <a:ext cx="4185920" cy="787400"/>
          </a:xfrm>
          <a:prstGeom prst="rect">
            <a:avLst/>
          </a:prstGeom>
          <a:noFill/>
          <a:ln/>
        </p:spPr>
        <p:txBody>
          <a:bodyPr wrap="square" lIns="0" tIns="0" rIns="0" bIns="0" rtlCol="0" anchor="t">
            <a:normAutofit/>
          </a:bodyPr>
          <a:lstStyle/>
          <a:p>
            <a:pPr algn="l" indent="0" marL="0">
              <a:lnSpc>
                <a:spcPts val="6000"/>
              </a:lnSpc>
              <a:buNone/>
            </a:pPr>
            <a:r>
              <a:rPr lang="en-US" sz="6000" b="1" i="0" dirty="0">
                <a:solidFill>
                  <a:srgbClr val="F4F5F7"/>
                </a:solidFill>
                <a:latin typeface="Host Grotesk" pitchFamily="34" charset="0"/>
                <a:ea typeface="Host Grotesk" pitchFamily="34" charset="-122"/>
                <a:cs typeface="Host Grotesk" pitchFamily="34" charset="-120"/>
              </a:rPr>
              <a:t>Be </a:t>
            </a:r>
            <a:r>
              <a:rPr lang="en-US" sz="6000" b="1" i="0" dirty="0">
                <a:solidFill>
                  <a:srgbClr val="63E14F"/>
                </a:solidFill>
                <a:latin typeface="Host Grotesk" pitchFamily="34" charset="0"/>
                <a:ea typeface="Host Grotesk" pitchFamily="34" charset="-122"/>
                <a:cs typeface="Host Grotesk" pitchFamily="34" charset="-120"/>
              </a:rPr>
              <a:t>Gandalf</a:t>
            </a:r>
            <a:endParaRPr lang="en-US" sz="6000" dirty="0"/>
          </a:p>
        </p:txBody>
      </p:sp>
      <p:sp>
        <p:nvSpPr>
          <p:cNvPr id="8" name="Shape 5"/>
          <p:cNvSpPr/>
          <p:nvPr/>
        </p:nvSpPr>
        <p:spPr>
          <a:xfrm>
            <a:off x="7321550" y="2165350"/>
            <a:ext cx="4051300" cy="3983434"/>
          </a:xfrm>
          <a:prstGeom prst="roundRect">
            <a:avLst>
              <a:gd name="adj" fmla="val 3029"/>
            </a:avLst>
          </a:prstGeom>
          <a:solidFill>
            <a:srgbClr val="0A0A0C">
              <a:alpha val="74000"/>
            </a:srgbClr>
          </a:solidFill>
          <a:ln w="12700">
            <a:solidFill>
              <a:srgbClr val="2B2B2B"/>
            </a:solidFill>
            <a:prstDash val="solid"/>
          </a:ln>
        </p:spPr>
      </p:sp>
      <p:sp>
        <p:nvSpPr>
          <p:cNvPr id="9" name="Text 6"/>
          <p:cNvSpPr/>
          <p:nvPr/>
        </p:nvSpPr>
        <p:spPr>
          <a:xfrm>
            <a:off x="7518400" y="2362200"/>
            <a:ext cx="3767328"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F832A"/>
                </a:solidFill>
                <a:latin typeface="DM Mono" pitchFamily="49" charset="0"/>
                <a:ea typeface="DM Mono" pitchFamily="49" charset="-122"/>
                <a:cs typeface="DM Mono" pitchFamily="49" charset="-120"/>
              </a:rPr>
              <a:t>BILBO</a:t>
            </a:r>
            <a:endParaRPr lang="en-US" sz="1200" dirty="0"/>
          </a:p>
        </p:txBody>
      </p:sp>
      <p:sp>
        <p:nvSpPr>
          <p:cNvPr id="10" name="Text 7"/>
          <p:cNvSpPr/>
          <p:nvPr/>
        </p:nvSpPr>
        <p:spPr>
          <a:xfrm>
            <a:off x="7518400" y="2600920"/>
            <a:ext cx="3767328"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E9ECEF"/>
                </a:solidFill>
                <a:latin typeface="Raleway" pitchFamily="34" charset="0"/>
                <a:ea typeface="Raleway" pitchFamily="34" charset="-122"/>
                <a:cs typeface="Raleway" pitchFamily="34" charset="-120"/>
              </a:rPr>
              <a:t>Wanted his armchair. Gandalf saw the Took in him: a buried hunger for adventure.</a:t>
            </a:r>
            <a:endParaRPr lang="en-US" sz="1300" dirty="0"/>
          </a:p>
        </p:txBody>
      </p:sp>
      <p:sp>
        <p:nvSpPr>
          <p:cNvPr id="11" name="Text 8"/>
          <p:cNvSpPr/>
          <p:nvPr/>
        </p:nvSpPr>
        <p:spPr>
          <a:xfrm>
            <a:off x="7518400" y="3148211"/>
            <a:ext cx="3767328"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F832A"/>
                </a:solidFill>
                <a:latin typeface="DM Mono" pitchFamily="49" charset="0"/>
                <a:ea typeface="DM Mono" pitchFamily="49" charset="-122"/>
                <a:cs typeface="DM Mono" pitchFamily="49" charset="-120"/>
              </a:rPr>
              <a:t>THORIN &amp; CO.</a:t>
            </a:r>
            <a:endParaRPr lang="en-US" sz="1200" dirty="0"/>
          </a:p>
        </p:txBody>
      </p:sp>
      <p:sp>
        <p:nvSpPr>
          <p:cNvPr id="12" name="Text 9"/>
          <p:cNvSpPr/>
          <p:nvPr/>
        </p:nvSpPr>
        <p:spPr>
          <a:xfrm>
            <a:off x="7518400" y="3386931"/>
            <a:ext cx="3767328"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E9ECEF"/>
                </a:solidFill>
                <a:latin typeface="Raleway" pitchFamily="34" charset="0"/>
                <a:ea typeface="Raleway" pitchFamily="34" charset="-122"/>
                <a:cs typeface="Raleway" pitchFamily="34" charset="-120"/>
              </a:rPr>
              <a:t>Wanted their mountain back. Gandalf gave the quest a plan, and a burglar.</a:t>
            </a:r>
            <a:endParaRPr lang="en-US" sz="1300" dirty="0"/>
          </a:p>
        </p:txBody>
      </p:sp>
      <p:sp>
        <p:nvSpPr>
          <p:cNvPr id="13" name="Text 10"/>
          <p:cNvSpPr/>
          <p:nvPr/>
        </p:nvSpPr>
        <p:spPr>
          <a:xfrm>
            <a:off x="7518400" y="3934222"/>
            <a:ext cx="3767328"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F832A"/>
                </a:solidFill>
                <a:latin typeface="DM Mono" pitchFamily="49" charset="0"/>
                <a:ea typeface="DM Mono" pitchFamily="49" charset="-122"/>
                <a:cs typeface="DM Mono" pitchFamily="49" charset="-120"/>
              </a:rPr>
              <a:t>ARAGORN</a:t>
            </a:r>
            <a:endParaRPr lang="en-US" sz="1200" dirty="0"/>
          </a:p>
        </p:txBody>
      </p:sp>
      <p:sp>
        <p:nvSpPr>
          <p:cNvPr id="14" name="Text 11"/>
          <p:cNvSpPr/>
          <p:nvPr/>
        </p:nvSpPr>
        <p:spPr>
          <a:xfrm>
            <a:off x="7518400" y="4172942"/>
            <a:ext cx="3767328"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E9ECEF"/>
                </a:solidFill>
                <a:latin typeface="Raleway" pitchFamily="34" charset="0"/>
                <a:ea typeface="Raleway" pitchFamily="34" charset="-122"/>
                <a:cs typeface="Raleway" pitchFamily="34" charset="-120"/>
              </a:rPr>
              <a:t>Wanted the crown, and Arwen. Gandalf stood by who he really was.</a:t>
            </a:r>
            <a:endParaRPr lang="en-US" sz="1300" dirty="0"/>
          </a:p>
        </p:txBody>
      </p:sp>
      <p:sp>
        <p:nvSpPr>
          <p:cNvPr id="15" name="Text 12"/>
          <p:cNvSpPr/>
          <p:nvPr/>
        </p:nvSpPr>
        <p:spPr>
          <a:xfrm>
            <a:off x="7518400" y="4720233"/>
            <a:ext cx="3767328"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F832A"/>
                </a:solidFill>
                <a:latin typeface="DM Mono" pitchFamily="49" charset="0"/>
                <a:ea typeface="DM Mono" pitchFamily="49" charset="-122"/>
                <a:cs typeface="DM Mono" pitchFamily="49" charset="-120"/>
              </a:rPr>
              <a:t>FRODO</a:t>
            </a:r>
            <a:endParaRPr lang="en-US" sz="1200" dirty="0"/>
          </a:p>
        </p:txBody>
      </p:sp>
      <p:sp>
        <p:nvSpPr>
          <p:cNvPr id="16" name="Text 13"/>
          <p:cNvSpPr/>
          <p:nvPr/>
        </p:nvSpPr>
        <p:spPr>
          <a:xfrm>
            <a:off x="7518400" y="4958953"/>
            <a:ext cx="3767328"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E9ECEF"/>
                </a:solidFill>
                <a:latin typeface="Raleway" pitchFamily="34" charset="0"/>
                <a:ea typeface="Raleway" pitchFamily="34" charset="-122"/>
                <a:cs typeface="Raleway" pitchFamily="34" charset="-120"/>
              </a:rPr>
              <a:t>Wanted to save the Shire. Gandalf showed him why it had to be him.</a:t>
            </a:r>
            <a:endParaRPr lang="en-US" sz="1300" dirty="0"/>
          </a:p>
        </p:txBody>
      </p:sp>
      <p:sp>
        <p:nvSpPr>
          <p:cNvPr id="17" name="Text 14"/>
          <p:cNvSpPr/>
          <p:nvPr/>
        </p:nvSpPr>
        <p:spPr>
          <a:xfrm>
            <a:off x="7518400" y="5506244"/>
            <a:ext cx="3767328"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E9ECEF"/>
                </a:solidFill>
                <a:latin typeface="Raleway" pitchFamily="34" charset="0"/>
                <a:ea typeface="Raleway" pitchFamily="34" charset="-122"/>
                <a:cs typeface="Raleway" pitchFamily="34" charset="-120"/>
              </a:rPr>
              <a:t>Meet each recruit’s real motive — </a:t>
            </a:r>
            <a:r>
              <a:rPr lang="en-US" sz="1300" dirty="0">
                <a:solidFill>
                  <a:srgbClr val="63E14F"/>
                </a:solidFill>
                <a:latin typeface="Raleway" pitchFamily="34" charset="0"/>
                <a:ea typeface="Raleway" pitchFamily="34" charset="-122"/>
                <a:cs typeface="Raleway" pitchFamily="34" charset="-120"/>
              </a:rPr>
              <a:t>and know them better than they know themselves.</a:t>
            </a:r>
            <a:endParaRPr lang="en-US" sz="1300" dirty="0"/>
          </a:p>
        </p:txBody>
      </p:sp>
      <p:pic>
        <p:nvPicPr>
          <p:cNvPr id="18" name="Image 1" descr="Mashgin">    </p:cNvPr>
          <p:cNvPicPr>
            <a:picLocks noChangeAspect="1"/>
          </p:cNvPicPr>
          <p:nvPr/>
        </p:nvPicPr>
        <p:blipFill>
          <a:blip r:embed="rId2"/>
          <a:srcRect l="-284" r="-284" t="0" b="0"/>
          <a:stretch/>
        </p:blipFill>
        <p:spPr>
          <a:xfrm>
            <a:off x="10121900" y="406400"/>
            <a:ext cx="1460500" cy="298450"/>
          </a:xfrm>
          <a:prstGeom prst="rect">
            <a:avLst/>
          </a:prstGeom>
        </p:spPr>
      </p:pic>
      <p:sp>
        <p:nvSpPr>
          <p:cNvPr id="19" name="Text 15"/>
          <p:cNvSpPr/>
          <p:nvPr/>
        </p:nvSpPr>
        <p:spPr>
          <a:xfrm>
            <a:off x="812800" y="62382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097"/>
                </a:solidFill>
                <a:latin typeface="DM Mono" pitchFamily="49" charset="0"/>
                <a:ea typeface="DM Mono" pitchFamily="49" charset="-122"/>
                <a:cs typeface="DM Mono" pitchFamily="49" charset="-120"/>
              </a:rPr>
              <a:t>Copyright Dobromir Montauk, 2026</a:t>
            </a:r>
            <a:endParaRPr lang="en-US" sz="1200" dirty="0"/>
          </a:p>
        </p:txBody>
      </p:sp>
      <p:sp>
        <p:nvSpPr>
          <p:cNvPr id="20" name="Text 16"/>
          <p:cNvSpPr/>
          <p:nvPr/>
        </p:nvSpPr>
        <p:spPr>
          <a:xfrm>
            <a:off x="10261600" y="6169670"/>
            <a:ext cx="1320800" cy="345430"/>
          </a:xfrm>
          <a:prstGeom prst="rect">
            <a:avLst/>
          </a:prstGeom>
          <a:noFill/>
          <a:ln/>
        </p:spPr>
        <p:txBody>
          <a:bodyPr wrap="square" lIns="0" tIns="0" rIns="0" bIns="0" rtlCol="0" anchor="t">
            <a:normAutofit/>
          </a:bodyPr>
          <a:lstStyle/>
          <a:p>
            <a:pPr algn="r" indent="0" marL="0">
              <a:lnSpc>
                <a:spcPts val="2520"/>
              </a:lnSpc>
              <a:buNone/>
            </a:pPr>
            <a:r>
              <a:rPr lang="en-US" sz="1800" dirty="0">
                <a:solidFill>
                  <a:srgbClr val="63E14F"/>
                </a:solidFill>
                <a:latin typeface="DM Mono" pitchFamily="49" charset="0"/>
                <a:ea typeface="DM Mono" pitchFamily="49" charset="-122"/>
                <a:cs typeface="DM Mono" pitchFamily="49" charset="-120"/>
              </a:rPr>
              <a:t>[ 34 ]</a:t>
            </a:r>
            <a:endParaRPr lang="en-US" sz="1800" dirty="0"/>
          </a:p>
        </p:txBody>
      </p:sp>
    </p:spTree>
  </p:cSld>
  <p:clrMapOvr>
    <a:masterClrMapping/>
  </p:clrMapOvr>
</p:sld>
</file>

<file path=ppt/theme/theme1.xml><?xml version="1.0" encoding="utf-8"?>
<a:theme xmlns:a="http://schemas.openxmlformats.org/drawingml/2006/main" name="The Art of Hiring — Arc 1">
  <a:themeElements>
    <a:clrScheme name="The Art of Hiring — Arc 1">
      <a:dk1>
        <a:srgbClr val="060607"/>
      </a:dk1>
      <a:lt1>
        <a:srgbClr val="F4F5F7"/>
      </a:lt1>
      <a:dk2>
        <a:srgbClr val="1E1E1F"/>
      </a:dk2>
      <a:lt2>
        <a:srgbClr val="B9B9BB"/>
      </a:lt2>
      <a:accent1>
        <a:srgbClr val="63E14F"/>
      </a:accent1>
      <a:accent2>
        <a:srgbClr val="FF832A"/>
      </a:accent2>
      <a:accent3>
        <a:srgbClr val="45C7AB"/>
      </a:accent3>
      <a:accent4>
        <a:srgbClr val="8B9097"/>
      </a:accent4>
      <a:accent5>
        <a:srgbClr val="1C2619"/>
      </a:accent5>
      <a:accent6>
        <a:srgbClr val="A3A8B0"/>
      </a:accent6>
      <a:hlink>
        <a:srgbClr val="0563C1"/>
      </a:hlink>
      <a:folHlink>
        <a:srgbClr val="954F72"/>
      </a:folHlink>
    </a:clrScheme>
    <a:fontScheme name="The Art of Hiring — Arc 1">
      <a:majorFont>
        <a:latin typeface="Host Grotes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Raleway"/>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Art of Hiring — Arc 1</dc:title>
  <dc:subject/>
  <dc:creator/>
  <cp:lastModifiedBy/>
  <cp:revision>1</cp:revision>
  <dcterms:created xsi:type="dcterms:W3CDTF">2026-10-15T23:21:02Z</dcterms:created>
  <dcterms:modified xsi:type="dcterms:W3CDTF">2026-10-15T23:21:02Z</dcterms:modified>
</cp:coreProperties>
</file>